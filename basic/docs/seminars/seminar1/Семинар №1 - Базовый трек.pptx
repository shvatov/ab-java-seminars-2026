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Inter"/>
      <p:bold r:id="rId23"/>
      <p:boldItalic r:id="rId24"/>
    </p:embeddedFont>
    <p:embeddedFont>
      <p:font typeface="Inter ExtraBold"/>
      <p:bold r:id="rId25"/>
      <p:boldItalic r:id="rId26"/>
    </p:embeddedFont>
    <p:embeddedFont>
      <p:font typeface="Courier Prime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Inter-bold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ExtraBold-boldItalic.fntdata"/><Relationship Id="rId25" Type="http://schemas.openxmlformats.org/officeDocument/2006/relationships/font" Target="fonts/InterExtraBold-bold.fntdata"/><Relationship Id="rId28" Type="http://schemas.openxmlformats.org/officeDocument/2006/relationships/font" Target="fonts/CourierPrime-boldItalic.fntdata"/><Relationship Id="rId27" Type="http://schemas.openxmlformats.org/officeDocument/2006/relationships/font" Target="fonts/CourierPrim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89b2d147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89b2d147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89b2d147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89b2d147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89b2d1475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89b2d1475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9b2d1475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9b2d1475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89b2d1475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89b2d1475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89b2d1475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89b2d1475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89b2d1475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89b2d1475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89b2d1475_0_1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89b2d1475_0_1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89b2d1475_0_1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89b2d1475_0_1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89b2d1475_0_1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89b2d1475_0_1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89b2d1475_0_1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89b2d1475_0_1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89b2d1475_0_2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89b2d1475_0_2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89b2d1475_0_2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89b2d1475_0_2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89b2d1475_0_2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f89b2d1475_0_2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89b2d1475_0_2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f89b2d1475_0_2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89b2d1475_0_3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f89b2d1475_0_3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9b2d1475_34_0)">
  <p:cSld name="Generated (g3f89b2d1475_34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Академия Бэкенда</a:t>
            </a:r>
            <a:endParaRPr b="1"/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Давайте познакомимся!</a:t>
            </a:r>
            <a:endParaRPr/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Тут вставить слайд с краткой информацией о семинаристе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/>
        </p:nvSpPr>
        <p:spPr>
          <a:xfrm>
            <a:off x="476250" y="4762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Что нас с вами ждет?</a:t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16"/>
          <p:cNvGrpSpPr/>
          <p:nvPr/>
        </p:nvGrpSpPr>
        <p:grpSpPr>
          <a:xfrm>
            <a:off x="476250" y="1428750"/>
            <a:ext cx="2571900" cy="3048000"/>
            <a:chOff x="476250" y="1428750"/>
            <a:chExt cx="2571900" cy="3048000"/>
          </a:xfrm>
        </p:grpSpPr>
        <p:sp>
          <p:nvSpPr>
            <p:cNvPr id="69" name="Google Shape;69;p16"/>
            <p:cNvSpPr/>
            <p:nvPr/>
          </p:nvSpPr>
          <p:spPr>
            <a:xfrm>
              <a:off x="476250" y="1428750"/>
              <a:ext cx="2571900" cy="3048000"/>
            </a:xfrm>
            <a:prstGeom prst="roundRect">
              <a:avLst>
                <a:gd fmla="val 2962" name="adj"/>
              </a:avLst>
            </a:prstGeom>
            <a:solidFill>
              <a:srgbClr val="F9FAFB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6"/>
            <p:cNvSpPr txBox="1"/>
            <p:nvPr/>
          </p:nvSpPr>
          <p:spPr>
            <a:xfrm>
              <a:off x="666750" y="161925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calendar_today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Формат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Каждую </a:t>
              </a:r>
              <a:r>
                <a:rPr b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среду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в </a:t>
              </a:r>
              <a:r>
                <a:rPr b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19:00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Онлайн-встречи в </a:t>
              </a:r>
              <a:r>
                <a:rPr b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Толке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lang="ru" sz="1200">
                  <a:solidFill>
                    <a:srgbClr val="374151"/>
                  </a:solidFill>
                </a:rPr>
                <a:t>Будет как </a:t>
              </a:r>
              <a:r>
                <a:rPr b="1" lang="ru" sz="1200">
                  <a:solidFill>
                    <a:srgbClr val="374151"/>
                  </a:solidFill>
                </a:rPr>
                <a:t>теория</a:t>
              </a:r>
              <a:r>
                <a:rPr lang="ru" sz="1200">
                  <a:solidFill>
                    <a:srgbClr val="374151"/>
                  </a:solidFill>
                </a:rPr>
                <a:t>, так и </a:t>
              </a:r>
              <a:r>
                <a:rPr b="1" lang="ru" sz="1200">
                  <a:solidFill>
                    <a:srgbClr val="374151"/>
                  </a:solidFill>
                </a:rPr>
                <a:t>практика</a:t>
              </a:r>
              <a:r>
                <a:rPr lang="ru" sz="1200">
                  <a:solidFill>
                    <a:srgbClr val="374151"/>
                  </a:solidFill>
                </a:rPr>
                <a:t>, </a:t>
              </a:r>
              <a:r>
                <a:rPr lang="ru" sz="1200">
                  <a:solidFill>
                    <a:srgbClr val="374151"/>
                  </a:solidFill>
                </a:rPr>
                <a:t>поэтому </a:t>
              </a:r>
              <a:r>
                <a:rPr i="1" lang="ru" sz="1200">
                  <a:solidFill>
                    <a:srgbClr val="374151"/>
                  </a:solidFill>
                </a:rPr>
                <a:t>хорошо бы</a:t>
              </a:r>
              <a:r>
                <a:rPr lang="ru" sz="1200">
                  <a:solidFill>
                    <a:srgbClr val="374151"/>
                  </a:solidFill>
                </a:rPr>
                <a:t> иметь ПК под рукой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16"/>
          <p:cNvGrpSpPr/>
          <p:nvPr/>
        </p:nvGrpSpPr>
        <p:grpSpPr>
          <a:xfrm>
            <a:off x="3286125" y="1428750"/>
            <a:ext cx="2571900" cy="3048000"/>
            <a:chOff x="3286125" y="1428750"/>
            <a:chExt cx="2571900" cy="3048000"/>
          </a:xfrm>
        </p:grpSpPr>
        <p:sp>
          <p:nvSpPr>
            <p:cNvPr id="72" name="Google Shape;72;p16"/>
            <p:cNvSpPr/>
            <p:nvPr/>
          </p:nvSpPr>
          <p:spPr>
            <a:xfrm>
              <a:off x="3286125" y="1428750"/>
              <a:ext cx="2571900" cy="3048000"/>
            </a:xfrm>
            <a:prstGeom prst="roundRect">
              <a:avLst>
                <a:gd fmla="val 2962" name="adj"/>
              </a:avLst>
            </a:prstGeom>
            <a:solidFill>
              <a:srgbClr val="F9FAFB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6"/>
            <p:cNvSpPr txBox="1"/>
            <p:nvPr/>
          </p:nvSpPr>
          <p:spPr>
            <a:xfrm>
              <a:off x="3476625" y="161925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Программа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В этом семестре — только </a:t>
              </a:r>
              <a:r>
                <a:rPr b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ванильная Java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От базы </a:t>
              </a:r>
              <a:r>
                <a:rPr lang="ru" sz="1200">
                  <a:solidFill>
                    <a:srgbClr val="374151"/>
                  </a:solidFill>
                </a:rPr>
                <a:t>вроде </a:t>
              </a:r>
              <a:r>
                <a:rPr i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ООП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и </a:t>
              </a:r>
              <a:r>
                <a:rPr i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ФП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до </a:t>
              </a:r>
              <a:r>
                <a:rPr b="1" lang="ru" sz="1200">
                  <a:solidFill>
                    <a:srgbClr val="374151"/>
                  </a:solidFill>
                </a:rPr>
                <a:t>многопоточности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и </a:t>
              </a:r>
              <a:r>
                <a:rPr b="1" lang="ru" sz="1200">
                  <a:solidFill>
                    <a:srgbClr val="374151"/>
                  </a:solidFill>
                </a:rPr>
                <a:t>сет</a:t>
              </a:r>
              <a:r>
                <a:rPr b="1" lang="ru" sz="1200">
                  <a:solidFill>
                    <a:srgbClr val="374151"/>
                  </a:solidFill>
                </a:rPr>
                <a:t>евого взаимодействия</a:t>
              </a:r>
              <a:endParaRPr b="1" sz="1200">
                <a:solidFill>
                  <a:srgbClr val="374151"/>
                </a:solidFill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</a:rPr>
                <a:t>Всего будет </a:t>
              </a:r>
              <a:r>
                <a:rPr b="1" lang="ru" sz="1200">
                  <a:solidFill>
                    <a:srgbClr val="374151"/>
                  </a:solidFill>
                </a:rPr>
                <a:t>15 семинаров</a:t>
              </a:r>
              <a:endParaRPr b="1" sz="1200">
                <a:solidFill>
                  <a:srgbClr val="374151"/>
                </a:solidFill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Всеми </a:t>
              </a:r>
              <a:r>
                <a:rPr lang="ru" sz="1200">
                  <a:solidFill>
                    <a:srgbClr val="374151"/>
                  </a:solidFill>
                </a:rPr>
                <a:t>л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юбимый </a:t>
              </a:r>
              <a:r>
                <a:rPr b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Spring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начнется во 2-м семестре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16"/>
          <p:cNvGrpSpPr/>
          <p:nvPr/>
        </p:nvGrpSpPr>
        <p:grpSpPr>
          <a:xfrm>
            <a:off x="6096000" y="1428750"/>
            <a:ext cx="2571900" cy="3048000"/>
            <a:chOff x="6096000" y="1428750"/>
            <a:chExt cx="2571900" cy="3048000"/>
          </a:xfrm>
        </p:grpSpPr>
        <p:sp>
          <p:nvSpPr>
            <p:cNvPr id="75" name="Google Shape;75;p16"/>
            <p:cNvSpPr/>
            <p:nvPr/>
          </p:nvSpPr>
          <p:spPr>
            <a:xfrm>
              <a:off x="6096000" y="1428750"/>
              <a:ext cx="2571900" cy="3048000"/>
            </a:xfrm>
            <a:prstGeom prst="roundRect">
              <a:avLst>
                <a:gd fmla="val 2962" name="adj"/>
              </a:avLst>
            </a:prstGeom>
            <a:solidFill>
              <a:srgbClr val="F9FAFB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 txBox="1"/>
            <p:nvPr/>
          </p:nvSpPr>
          <p:spPr>
            <a:xfrm>
              <a:off x="6286500" y="161925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Проект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750"/>
                </a:spcAft>
                <a:buNone/>
              </a:pP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• Совместная разработка реального </a:t>
              </a:r>
              <a:r>
                <a:rPr lang="ru" sz="1200">
                  <a:solidFill>
                    <a:srgbClr val="374151"/>
                  </a:solidFill>
                </a:rPr>
                <a:t>проекте - </a:t>
              </a:r>
              <a:r>
                <a:rPr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CLI-утилиты </a:t>
              </a:r>
              <a:r>
                <a:rPr b="1" lang="ru" sz="120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Market Pulse</a:t>
              </a:r>
              <a:endParaRPr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фон должен быть чисто белым, не серым"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8300" y="0"/>
            <a:ext cx="1195700" cy="11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476250" y="428625"/>
            <a:ext cx="8191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Как мы </a:t>
            </a:r>
            <a:r>
              <a:rPr b="1" lang="ru" sz="2800">
                <a:latin typeface="Arial"/>
                <a:ea typeface="Arial"/>
                <a:cs typeface="Arial"/>
                <a:sym typeface="Arial"/>
              </a:rPr>
              <a:t>будем </a:t>
            </a:r>
            <a:r>
              <a:rPr b="1" lang="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обща</a:t>
            </a:r>
            <a:r>
              <a:rPr b="1" lang="ru" sz="2800">
                <a:latin typeface="Arial"/>
                <a:ea typeface="Arial"/>
                <a:cs typeface="Arial"/>
                <a:sym typeface="Arial"/>
              </a:rPr>
              <a:t>ться</a:t>
            </a:r>
            <a:r>
              <a:rPr b="1" lang="ru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17"/>
          <p:cNvGrpSpPr/>
          <p:nvPr/>
        </p:nvGrpSpPr>
        <p:grpSpPr>
          <a:xfrm>
            <a:off x="476250" y="1238250"/>
            <a:ext cx="2667000" cy="3048000"/>
            <a:chOff x="476250" y="1238250"/>
            <a:chExt cx="2667000" cy="3048000"/>
          </a:xfrm>
        </p:grpSpPr>
        <p:sp>
          <p:nvSpPr>
            <p:cNvPr id="84" name="Google Shape;84;p17"/>
            <p:cNvSpPr/>
            <p:nvPr/>
          </p:nvSpPr>
          <p:spPr>
            <a:xfrm>
              <a:off x="476250" y="12382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7"/>
            <p:cNvSpPr txBox="1"/>
            <p:nvPr/>
          </p:nvSpPr>
          <p:spPr>
            <a:xfrm>
              <a:off x="666750" y="1469644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endParaRPr sz="2800">
                <a:solidFill>
                  <a:srgbClr val="0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6" name="Google Shape;86;p17"/>
            <p:cNvSpPr txBox="1"/>
            <p:nvPr/>
          </p:nvSpPr>
          <p:spPr>
            <a:xfrm>
              <a:off x="666750" y="1857375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На семинаре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7"/>
            <p:cNvSpPr txBox="1"/>
            <p:nvPr/>
          </p:nvSpPr>
          <p:spPr>
            <a:xfrm>
              <a:off x="666750" y="2286000"/>
              <a:ext cx="2286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16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Вопросы всегда можно писать в </a:t>
              </a:r>
              <a:r>
                <a:rPr b="1" lang="ru" sz="1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чат </a:t>
              </a:r>
              <a:r>
                <a:rPr b="1" lang="ru" sz="1150">
                  <a:latin typeface="Arial"/>
                  <a:ea typeface="Arial"/>
                  <a:cs typeface="Arial"/>
                  <a:sym typeface="Arial"/>
                </a:rPr>
                <a:t>в Толке</a:t>
              </a:r>
              <a:endParaRPr b="0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Хотите </a:t>
              </a: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сказать</a:t>
              </a: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голосом? </a:t>
              </a:r>
              <a:r>
                <a:rPr b="1" lang="ru" sz="1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Поднимите руку</a:t>
              </a: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в Толке</a:t>
              </a:r>
              <a:endParaRPr b="0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Задавайте вопрос после того, как вам </a:t>
              </a:r>
              <a:r>
                <a:rPr b="1" lang="ru" sz="1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дадут слово</a:t>
              </a:r>
              <a:endParaRPr b="0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p17"/>
          <p:cNvGrpSpPr/>
          <p:nvPr/>
        </p:nvGrpSpPr>
        <p:grpSpPr>
          <a:xfrm>
            <a:off x="3333750" y="1238250"/>
            <a:ext cx="2667000" cy="3048000"/>
            <a:chOff x="3333750" y="1238250"/>
            <a:chExt cx="2667000" cy="3048000"/>
          </a:xfrm>
        </p:grpSpPr>
        <p:sp>
          <p:nvSpPr>
            <p:cNvPr id="89" name="Google Shape;89;p17"/>
            <p:cNvSpPr/>
            <p:nvPr/>
          </p:nvSpPr>
          <p:spPr>
            <a:xfrm>
              <a:off x="3333750" y="123825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7"/>
            <p:cNvSpPr txBox="1"/>
            <p:nvPr/>
          </p:nvSpPr>
          <p:spPr>
            <a:xfrm>
              <a:off x="3524250" y="1469644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send</a:t>
              </a:r>
              <a:endParaRPr sz="2800">
                <a:solidFill>
                  <a:srgbClr val="0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1" name="Google Shape;91;p17"/>
            <p:cNvSpPr txBox="1"/>
            <p:nvPr/>
          </p:nvSpPr>
          <p:spPr>
            <a:xfrm>
              <a:off x="3524250" y="1857375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Вне занятий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7"/>
            <p:cNvSpPr txBox="1"/>
            <p:nvPr/>
          </p:nvSpPr>
          <p:spPr>
            <a:xfrm>
              <a:off x="3524250" y="2286000"/>
              <a:ext cx="2286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16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b="1" lang="ru" sz="1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Группа в Telegram</a:t>
              </a: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— анонсы, вопросы и полезные ссылки</a:t>
              </a:r>
              <a:endParaRPr b="0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3333"/>
                </a:buClr>
                <a:buSzPts val="1150"/>
                <a:buFont typeface="Arial"/>
                <a:buChar char="●"/>
              </a:pPr>
              <a:r>
                <a:rPr b="0" lang="ru" sz="11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Личные вопросы можно писать мне в ТГ: </a:t>
              </a:r>
              <a:r>
                <a:rPr b="1" lang="ru" sz="11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&lt;никнейм&gt;</a:t>
              </a:r>
              <a:endParaRPr b="0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17"/>
          <p:cNvGrpSpPr/>
          <p:nvPr/>
        </p:nvGrpSpPr>
        <p:grpSpPr>
          <a:xfrm>
            <a:off x="6286500" y="1238250"/>
            <a:ext cx="2381400" cy="3048000"/>
            <a:chOff x="0" y="0"/>
            <a:chExt cx="2381400" cy="3048000"/>
          </a:xfrm>
        </p:grpSpPr>
        <p:sp>
          <p:nvSpPr>
            <p:cNvPr id="94" name="Google Shape;94;p17"/>
            <p:cNvSpPr/>
            <p:nvPr/>
          </p:nvSpPr>
          <p:spPr>
            <a:xfrm>
              <a:off x="0" y="0"/>
              <a:ext cx="2381400" cy="3048000"/>
            </a:xfrm>
            <a:prstGeom prst="roundRect">
              <a:avLst>
                <a:gd fmla="val 4800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tylized dark minimalistic abstract graphic with soft neon or modern shapes, symbolizing feedback, rating, review or communication, professional tech aesthetic." id="95" name="Google Shape;95;p17"/>
            <p:cNvPicPr preferRelativeResize="0"/>
            <p:nvPr/>
          </p:nvPicPr>
          <p:blipFill rotWithShape="1">
            <a:blip r:embed="rId3">
              <a:alphaModFix/>
            </a:blip>
            <a:srcRect b="2006" l="0" r="0" t="1997"/>
            <a:stretch/>
          </p:blipFill>
          <p:spPr>
            <a:xfrm>
              <a:off x="0" y="0"/>
              <a:ext cx="2381400" cy="3048000"/>
            </a:xfrm>
            <a:prstGeom prst="roundRect">
              <a:avLst>
                <a:gd fmla="val 4800" name="adj"/>
              </a:avLst>
            </a:prstGeom>
            <a:noFill/>
            <a:ln>
              <a:noFill/>
            </a:ln>
          </p:spPr>
        </p:pic>
        <p:sp>
          <p:nvSpPr>
            <p:cNvPr id="96" name="Google Shape;96;p17"/>
            <p:cNvSpPr/>
            <p:nvPr/>
          </p:nvSpPr>
          <p:spPr>
            <a:xfrm>
              <a:off x="0" y="0"/>
              <a:ext cx="2381400" cy="3048000"/>
            </a:xfrm>
            <a:prstGeom prst="roundRect">
              <a:avLst>
                <a:gd fmla="val 4800" name="adj"/>
              </a:avLst>
            </a:pr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7"/>
            <p:cNvSpPr txBox="1"/>
            <p:nvPr/>
          </p:nvSpPr>
          <p:spPr>
            <a:xfrm>
              <a:off x="190500" y="279019"/>
              <a:ext cx="2000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rate_review</a:t>
              </a:r>
              <a:endParaRPr sz="2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8" name="Google Shape;98;p17"/>
            <p:cNvSpPr txBox="1"/>
            <p:nvPr/>
          </p:nvSpPr>
          <p:spPr>
            <a:xfrm>
              <a:off x="190500" y="66675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Обратная связь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7"/>
            <p:cNvSpPr txBox="1"/>
            <p:nvPr/>
          </p:nvSpPr>
          <p:spPr>
            <a:xfrm>
              <a:off x="190500" y="1095375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В конце каждого семинара будет </a:t>
              </a:r>
              <a:r>
                <a:rPr b="1" lang="ru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сбор ОС</a:t>
              </a:r>
              <a:r>
                <a:rPr b="0" lang="ru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 Она действительно очень важна для курса.</a:t>
              </a:r>
              <a:endParaRPr b="0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ru" sz="115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Сделаем семинары снова великими!</a:t>
              </a:r>
              <a:endParaRPr b="0" i="1" sz="11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476250" y="428625"/>
            <a:ext cx="8191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latin typeface="Arial"/>
                <a:ea typeface="Arial"/>
                <a:cs typeface="Arial"/>
                <a:sym typeface="Arial"/>
              </a:rPr>
              <a:t>CLI-утилита </a:t>
            </a:r>
            <a:r>
              <a:rPr b="1" lang="ru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 Pulse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p18"/>
          <p:cNvGrpSpPr/>
          <p:nvPr/>
        </p:nvGrpSpPr>
        <p:grpSpPr>
          <a:xfrm>
            <a:off x="476250" y="1238250"/>
            <a:ext cx="2571900" cy="3048000"/>
            <a:chOff x="476250" y="1238250"/>
            <a:chExt cx="2571900" cy="3048000"/>
          </a:xfrm>
        </p:grpSpPr>
        <p:sp>
          <p:nvSpPr>
            <p:cNvPr id="107" name="Google Shape;107;p18"/>
            <p:cNvSpPr/>
            <p:nvPr/>
          </p:nvSpPr>
          <p:spPr>
            <a:xfrm>
              <a:off x="476250" y="1238250"/>
              <a:ext cx="2571900" cy="3048000"/>
            </a:xfrm>
            <a:prstGeom prst="roundRect">
              <a:avLst>
                <a:gd fmla="val 4444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8"/>
            <p:cNvSpPr txBox="1"/>
            <p:nvPr/>
          </p:nvSpPr>
          <p:spPr>
            <a:xfrm>
              <a:off x="666750" y="1501902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1111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</a:t>
              </a:r>
              <a:endParaRPr sz="2400">
                <a:solidFill>
                  <a:srgbClr val="11111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9" name="Google Shape;109;p18"/>
            <p:cNvSpPr txBox="1"/>
            <p:nvPr/>
          </p:nvSpPr>
          <p:spPr>
            <a:xfrm>
              <a:off x="666750" y="1857375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Предыстория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8"/>
            <p:cNvSpPr txBox="1"/>
            <p:nvPr/>
          </p:nvSpPr>
          <p:spPr>
            <a:xfrm>
              <a:off x="666750" y="2286000"/>
              <a:ext cx="2190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Мечты об инвестициях</a:t>
              </a:r>
              <a:endParaRPr b="1" sz="10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Программист Сережа живет в общаге и хочет подняться на акциях Илона Макса, чтобы купить квартиру.</a:t>
              </a:r>
              <a:endParaRPr b="0" sz="106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ru" sz="1064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Купил Т-Технологий «на дне» и теперь ждет, когда же это дно закончится.</a:t>
              </a:r>
              <a:endParaRPr b="0" i="1" sz="1064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18"/>
          <p:cNvGrpSpPr/>
          <p:nvPr/>
        </p:nvGrpSpPr>
        <p:grpSpPr>
          <a:xfrm>
            <a:off x="3286125" y="1238250"/>
            <a:ext cx="2571900" cy="3048000"/>
            <a:chOff x="3286125" y="1238250"/>
            <a:chExt cx="2571900" cy="3048000"/>
          </a:xfrm>
        </p:grpSpPr>
        <p:sp>
          <p:nvSpPr>
            <p:cNvPr id="112" name="Google Shape;112;p18"/>
            <p:cNvSpPr/>
            <p:nvPr/>
          </p:nvSpPr>
          <p:spPr>
            <a:xfrm>
              <a:off x="3286125" y="1238250"/>
              <a:ext cx="2571900" cy="3048000"/>
            </a:xfrm>
            <a:prstGeom prst="roundRect">
              <a:avLst>
                <a:gd fmla="val 4444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8"/>
            <p:cNvSpPr txBox="1"/>
            <p:nvPr/>
          </p:nvSpPr>
          <p:spPr>
            <a:xfrm>
              <a:off x="3476625" y="1501902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1111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2400">
                <a:solidFill>
                  <a:srgbClr val="11111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4" name="Google Shape;114;p18"/>
            <p:cNvSpPr txBox="1"/>
            <p:nvPr/>
          </p:nvSpPr>
          <p:spPr>
            <a:xfrm>
              <a:off x="3476625" y="1857375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Проблема</a:t>
              </a:r>
              <a:endParaRPr b="1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8"/>
            <p:cNvSpPr txBox="1"/>
            <p:nvPr/>
          </p:nvSpPr>
          <p:spPr>
            <a:xfrm>
              <a:off x="3476625" y="2286000"/>
              <a:ext cx="2190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Информационный хаос</a:t>
              </a:r>
              <a:endParaRPr b="1" sz="10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Сережа устал постоянно переключаться между вкладками, сложными графиками и сомнительными сигналами анонимов в Telegram.</a:t>
              </a:r>
              <a:endParaRPr b="0" sz="106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ru" sz="1064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Решение очевидно: нужен лаконичный и быстрый терминал прямо в консоли.</a:t>
              </a:r>
              <a:endParaRPr b="0" i="1" sz="1064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18"/>
          <p:cNvGrpSpPr/>
          <p:nvPr/>
        </p:nvGrpSpPr>
        <p:grpSpPr>
          <a:xfrm>
            <a:off x="6096000" y="1238250"/>
            <a:ext cx="2571900" cy="3048000"/>
            <a:chOff x="6096000" y="1238250"/>
            <a:chExt cx="2571900" cy="3048000"/>
          </a:xfrm>
        </p:grpSpPr>
        <p:sp>
          <p:nvSpPr>
            <p:cNvPr id="117" name="Google Shape;117;p18"/>
            <p:cNvSpPr/>
            <p:nvPr/>
          </p:nvSpPr>
          <p:spPr>
            <a:xfrm>
              <a:off x="6096000" y="1238250"/>
              <a:ext cx="2571900" cy="3048000"/>
            </a:xfrm>
            <a:prstGeom prst="roundRect">
              <a:avLst>
                <a:gd fmla="val 4444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high-quality dark futuristic minimal terminal interface with financial charts and neon glowing accents, programming and stock trading concept, professional tech aesthetic" id="118" name="Google Shape;118;p18"/>
            <p:cNvPicPr preferRelativeResize="0"/>
            <p:nvPr/>
          </p:nvPicPr>
          <p:blipFill rotWithShape="1">
            <a:blip r:embed="rId3">
              <a:alphaModFix/>
            </a:blip>
            <a:srcRect b="0" l="7813" r="14062" t="0"/>
            <a:stretch/>
          </p:blipFill>
          <p:spPr>
            <a:xfrm>
              <a:off x="6096000" y="1238250"/>
              <a:ext cx="2381400" cy="3048000"/>
            </a:xfrm>
            <a:prstGeom prst="roundRect">
              <a:avLst>
                <a:gd fmla="val 4800" name="adj"/>
              </a:avLst>
            </a:prstGeom>
            <a:noFill/>
            <a:ln>
              <a:noFill/>
            </a:ln>
          </p:spPr>
        </p:pic>
        <p:sp>
          <p:nvSpPr>
            <p:cNvPr id="119" name="Google Shape;119;p18"/>
            <p:cNvSpPr/>
            <p:nvPr/>
          </p:nvSpPr>
          <p:spPr>
            <a:xfrm>
              <a:off x="6096000" y="1238250"/>
              <a:ext cx="2571900" cy="3048000"/>
            </a:xfrm>
            <a:prstGeom prst="roundRect">
              <a:avLst>
                <a:gd fmla="val 4444" name="adj"/>
              </a:avLst>
            </a:pr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 txBox="1"/>
            <p:nvPr/>
          </p:nvSpPr>
          <p:spPr>
            <a:xfrm>
              <a:off x="6286500" y="1501902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1" name="Google Shape;121;p18"/>
            <p:cNvSpPr txBox="1"/>
            <p:nvPr/>
          </p:nvSpPr>
          <p:spPr>
            <a:xfrm>
              <a:off x="6286500" y="1857375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Наша цель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8"/>
            <p:cNvSpPr txBox="1"/>
            <p:nvPr/>
          </p:nvSpPr>
          <p:spPr>
            <a:xfrm>
              <a:off x="6286500" y="2286000"/>
              <a:ext cx="2190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6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Помочь Сереже</a:t>
              </a:r>
              <a:endParaRPr b="1" sz="10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ru" sz="106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Написать удобную консольную утилиту, которая будет в реальном времени следить за рынком вместо него.</a:t>
              </a:r>
              <a:endParaRPr b="0" sz="10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ru" sz="1064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Создадим идеальный CLI-инструмент аналитика!</a:t>
              </a:r>
              <a:endParaRPr b="0" i="1" sz="1064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476250" y="428625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Функциональные возможности утилиты</a:t>
            </a:r>
            <a:endParaRPr b="1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19"/>
          <p:cNvGrpSpPr/>
          <p:nvPr/>
        </p:nvGrpSpPr>
        <p:grpSpPr>
          <a:xfrm>
            <a:off x="476250" y="1095375"/>
            <a:ext cx="5238900" cy="1428900"/>
            <a:chOff x="476250" y="1095375"/>
            <a:chExt cx="5238900" cy="1428900"/>
          </a:xfrm>
        </p:grpSpPr>
        <p:sp>
          <p:nvSpPr>
            <p:cNvPr id="129" name="Google Shape;129;p19"/>
            <p:cNvSpPr/>
            <p:nvPr/>
          </p:nvSpPr>
          <p:spPr>
            <a:xfrm>
              <a:off x="476250" y="1095375"/>
              <a:ext cx="5238900" cy="1428900"/>
            </a:xfrm>
            <a:prstGeom prst="roundRect">
              <a:avLst>
                <a:gd fmla="val 8000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 txBox="1"/>
            <p:nvPr/>
          </p:nvSpPr>
          <p:spPr>
            <a:xfrm>
              <a:off x="714375" y="1285875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Консольное приложение на Java</a:t>
              </a:r>
              <a:endParaRPr b="1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Работает с реальными биржевыми данными через </a:t>
              </a:r>
              <a:r>
                <a:rPr b="1" lang="ru" sz="1100">
                  <a:solidFill>
                    <a:srgbClr val="071699"/>
                  </a:solidFill>
                  <a:latin typeface="Arial"/>
                  <a:ea typeface="Arial"/>
                  <a:cs typeface="Arial"/>
                  <a:sym typeface="Arial"/>
                </a:rPr>
                <a:t>T-Invest API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. К концу семестра у каждого студента будет готовый рабочий инструмент, который можно смело положить в портфолио.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19"/>
          <p:cNvSpPr txBox="1"/>
          <p:nvPr/>
        </p:nvSpPr>
        <p:spPr>
          <a:xfrm>
            <a:off x="476250" y="2714625"/>
            <a:ext cx="819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Функциональные возможности</a:t>
            </a:r>
            <a:endParaRPr b="1" sz="1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9"/>
          <p:cNvGrpSpPr/>
          <p:nvPr/>
        </p:nvGrpSpPr>
        <p:grpSpPr>
          <a:xfrm>
            <a:off x="476250" y="3095625"/>
            <a:ext cx="2571900" cy="809700"/>
            <a:chOff x="476250" y="3095625"/>
            <a:chExt cx="2571900" cy="809700"/>
          </a:xfrm>
        </p:grpSpPr>
        <p:sp>
          <p:nvSpPr>
            <p:cNvPr id="133" name="Google Shape;133;p19"/>
            <p:cNvSpPr/>
            <p:nvPr/>
          </p:nvSpPr>
          <p:spPr>
            <a:xfrm>
              <a:off x="476250" y="3095625"/>
              <a:ext cx="2571900" cy="809700"/>
            </a:xfrm>
            <a:prstGeom prst="roundRect">
              <a:avLst>
                <a:gd fmla="val 11764" name="adj"/>
              </a:avLst>
            </a:prstGeom>
            <a:solidFill>
              <a:srgbClr val="FAF9F6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 txBox="1"/>
            <p:nvPr/>
          </p:nvSpPr>
          <p:spPr>
            <a:xfrm>
              <a:off x="619125" y="320992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🔍 Поиск инструментов</a:t>
              </a:r>
              <a:endParaRPr b="1" sz="11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79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Поиск по тикеру или названию. Вывод полной информации, биржи и валюты торгов.</a:t>
              </a:r>
              <a:endParaRPr b="0" sz="879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9"/>
          <p:cNvGrpSpPr/>
          <p:nvPr/>
        </p:nvGrpSpPr>
        <p:grpSpPr>
          <a:xfrm>
            <a:off x="3286125" y="3095625"/>
            <a:ext cx="2571900" cy="809700"/>
            <a:chOff x="3286125" y="3095625"/>
            <a:chExt cx="2571900" cy="809700"/>
          </a:xfrm>
        </p:grpSpPr>
        <p:sp>
          <p:nvSpPr>
            <p:cNvPr id="136" name="Google Shape;136;p19"/>
            <p:cNvSpPr/>
            <p:nvPr/>
          </p:nvSpPr>
          <p:spPr>
            <a:xfrm>
              <a:off x="3286125" y="3095625"/>
              <a:ext cx="2571900" cy="809700"/>
            </a:xfrm>
            <a:prstGeom prst="roundRect">
              <a:avLst>
                <a:gd fmla="val 11764" name="adj"/>
              </a:avLst>
            </a:prstGeom>
            <a:solidFill>
              <a:srgbClr val="FAF9F6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 txBox="1"/>
            <p:nvPr/>
          </p:nvSpPr>
          <p:spPr>
            <a:xfrm>
              <a:off x="3429000" y="320992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💵 Текущие котировки</a:t>
              </a:r>
              <a:endParaRPr b="1" sz="11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79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Актуальные цены, изменения за день в %, цены покупки/продажи и статус торгов.</a:t>
              </a:r>
              <a:endParaRPr b="0" sz="879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19"/>
          <p:cNvGrpSpPr/>
          <p:nvPr/>
        </p:nvGrpSpPr>
        <p:grpSpPr>
          <a:xfrm>
            <a:off x="6096000" y="3095625"/>
            <a:ext cx="2571900" cy="809700"/>
            <a:chOff x="6096000" y="3095625"/>
            <a:chExt cx="2571900" cy="809700"/>
          </a:xfrm>
        </p:grpSpPr>
        <p:sp>
          <p:nvSpPr>
            <p:cNvPr id="139" name="Google Shape;139;p19"/>
            <p:cNvSpPr/>
            <p:nvPr/>
          </p:nvSpPr>
          <p:spPr>
            <a:xfrm>
              <a:off x="6096000" y="3095625"/>
              <a:ext cx="2571900" cy="809700"/>
            </a:xfrm>
            <a:prstGeom prst="roundRect">
              <a:avLst>
                <a:gd fmla="val 11764" name="adj"/>
              </a:avLst>
            </a:prstGeom>
            <a:solidFill>
              <a:srgbClr val="FAF9F6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9"/>
            <p:cNvSpPr txBox="1"/>
            <p:nvPr/>
          </p:nvSpPr>
          <p:spPr>
            <a:xfrm>
              <a:off x="6238875" y="320992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📊 История и графики</a:t>
              </a:r>
              <a:endParaRPr b="1" sz="11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79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Загрузка исторических данных и отрисовка графика с осями прямо в консоли.</a:t>
              </a:r>
              <a:endParaRPr b="0" sz="879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9"/>
          <p:cNvGrpSpPr/>
          <p:nvPr/>
        </p:nvGrpSpPr>
        <p:grpSpPr>
          <a:xfrm>
            <a:off x="476250" y="4048125"/>
            <a:ext cx="2571900" cy="809700"/>
            <a:chOff x="476250" y="4048125"/>
            <a:chExt cx="2571900" cy="809700"/>
          </a:xfrm>
        </p:grpSpPr>
        <p:sp>
          <p:nvSpPr>
            <p:cNvPr id="142" name="Google Shape;142;p19"/>
            <p:cNvSpPr/>
            <p:nvPr/>
          </p:nvSpPr>
          <p:spPr>
            <a:xfrm>
              <a:off x="476250" y="4048125"/>
              <a:ext cx="2571900" cy="809700"/>
            </a:xfrm>
            <a:prstGeom prst="roundRect">
              <a:avLst>
                <a:gd fmla="val 11764" name="adj"/>
              </a:avLst>
            </a:prstGeom>
            <a:solidFill>
              <a:srgbClr val="FAF9F6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 txBox="1"/>
            <p:nvPr/>
          </p:nvSpPr>
          <p:spPr>
            <a:xfrm>
              <a:off x="619125" y="416242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⚖️ Сравнение активов</a:t>
              </a:r>
              <a:endParaRPr b="1" sz="11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79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Расчет доходности за период по списку тикеров и вывод в виде таблицы.</a:t>
              </a:r>
              <a:endParaRPr b="0" sz="879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19"/>
          <p:cNvGrpSpPr/>
          <p:nvPr/>
        </p:nvGrpSpPr>
        <p:grpSpPr>
          <a:xfrm>
            <a:off x="3286125" y="4048125"/>
            <a:ext cx="2571900" cy="809700"/>
            <a:chOff x="3286125" y="4048125"/>
            <a:chExt cx="2571900" cy="809700"/>
          </a:xfrm>
        </p:grpSpPr>
        <p:sp>
          <p:nvSpPr>
            <p:cNvPr id="145" name="Google Shape;145;p19"/>
            <p:cNvSpPr/>
            <p:nvPr/>
          </p:nvSpPr>
          <p:spPr>
            <a:xfrm>
              <a:off x="3286125" y="4048125"/>
              <a:ext cx="2571900" cy="809700"/>
            </a:xfrm>
            <a:prstGeom prst="roundRect">
              <a:avLst>
                <a:gd fmla="val 11764" name="adj"/>
              </a:avLst>
            </a:prstGeom>
            <a:solidFill>
              <a:srgbClr val="FAF9F6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9"/>
            <p:cNvSpPr txBox="1"/>
            <p:nvPr/>
          </p:nvSpPr>
          <p:spPr>
            <a:xfrm>
              <a:off x="3429000" y="416242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⭐ Список избранного</a:t>
              </a:r>
              <a:endParaRPr b="1" sz="11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79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Сохранение списка между запусками, быстрый вывод сводки текущих котировок.</a:t>
              </a:r>
              <a:endParaRPr b="0" sz="879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" name="Google Shape;147;p19"/>
          <p:cNvGrpSpPr/>
          <p:nvPr/>
        </p:nvGrpSpPr>
        <p:grpSpPr>
          <a:xfrm>
            <a:off x="6096000" y="4048125"/>
            <a:ext cx="2571900" cy="809700"/>
            <a:chOff x="6096000" y="4048125"/>
            <a:chExt cx="2571900" cy="809700"/>
          </a:xfrm>
        </p:grpSpPr>
        <p:sp>
          <p:nvSpPr>
            <p:cNvPr id="148" name="Google Shape;148;p19"/>
            <p:cNvSpPr/>
            <p:nvPr/>
          </p:nvSpPr>
          <p:spPr>
            <a:xfrm>
              <a:off x="6096000" y="4048125"/>
              <a:ext cx="2571900" cy="809700"/>
            </a:xfrm>
            <a:prstGeom prst="roundRect">
              <a:avLst>
                <a:gd fmla="val 11764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 txBox="1"/>
            <p:nvPr/>
          </p:nvSpPr>
          <p:spPr>
            <a:xfrm>
              <a:off x="6238875" y="416242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1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⚡ Real-Time</a:t>
              </a:r>
              <a:endParaRPr b="1" sz="111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79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Автообновление котировок без блокировки командной строк</a:t>
              </a:r>
              <a:r>
                <a:rPr lang="ru" sz="879">
                  <a:solidFill>
                    <a:srgbClr val="CCCCCC"/>
                  </a:solidFill>
                </a:rPr>
                <a:t>и в режиме реального времени.</a:t>
              </a:r>
              <a:endParaRPr b="0" sz="879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Консольное приложение с графиками акций в формате ASCII"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7800" y="895675"/>
            <a:ext cx="1828300" cy="182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ООП в Java</a:t>
            </a:r>
            <a:endParaRPr b="1"/>
          </a:p>
        </p:txBody>
      </p:sp>
      <p:sp>
        <p:nvSpPr>
          <p:cNvPr id="156" name="Google Shape;156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476250" y="428625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ru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Что такое ООП?</a:t>
            </a:r>
            <a:endParaRPr b="1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21"/>
          <p:cNvGrpSpPr/>
          <p:nvPr/>
        </p:nvGrpSpPr>
        <p:grpSpPr>
          <a:xfrm>
            <a:off x="476250" y="1095375"/>
            <a:ext cx="5238900" cy="1047900"/>
            <a:chOff x="476250" y="1095375"/>
            <a:chExt cx="5238900" cy="1047900"/>
          </a:xfrm>
        </p:grpSpPr>
        <p:sp>
          <p:nvSpPr>
            <p:cNvPr id="164" name="Google Shape;164;p21"/>
            <p:cNvSpPr/>
            <p:nvPr/>
          </p:nvSpPr>
          <p:spPr>
            <a:xfrm>
              <a:off x="476250" y="1095375"/>
              <a:ext cx="5238900" cy="1047900"/>
            </a:xfrm>
            <a:prstGeom prst="roundRect">
              <a:avLst>
                <a:gd fmla="val 10909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1"/>
            <p:cNvSpPr txBox="1"/>
            <p:nvPr/>
          </p:nvSpPr>
          <p:spPr>
            <a:xfrm>
              <a:off x="714375" y="1238250"/>
              <a:ext cx="4762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95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Парадигма программирования</a:t>
              </a:r>
              <a:endParaRPr b="1" sz="129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1" lang="ru" sz="10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ООП</a:t>
              </a: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— парадигма проектирования, в центре которой стоят </a:t>
              </a:r>
              <a:r>
                <a:rPr b="1" lang="ru" sz="10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объекты</a:t>
              </a: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: сущности, объединяющие </a:t>
              </a:r>
              <a:r>
                <a:rPr b="1" lang="ru" sz="10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состояние</a:t>
              </a: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(данные) и </a:t>
              </a:r>
              <a:r>
                <a:rPr b="1" lang="ru" sz="106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поведение</a:t>
              </a: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(методы, работающие с этими данными).</a:t>
              </a:r>
              <a:endParaRPr b="0" sz="106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21"/>
          <p:cNvGrpSpPr/>
          <p:nvPr/>
        </p:nvGrpSpPr>
        <p:grpSpPr>
          <a:xfrm>
            <a:off x="476250" y="2333625"/>
            <a:ext cx="1619100" cy="2238300"/>
            <a:chOff x="476250" y="2333625"/>
            <a:chExt cx="1619100" cy="2238300"/>
          </a:xfrm>
        </p:grpSpPr>
        <p:sp>
          <p:nvSpPr>
            <p:cNvPr id="167" name="Google Shape;167;p21"/>
            <p:cNvSpPr/>
            <p:nvPr/>
          </p:nvSpPr>
          <p:spPr>
            <a:xfrm>
              <a:off x="476250" y="2333625"/>
              <a:ext cx="1619100" cy="2238300"/>
            </a:xfrm>
            <a:prstGeom prst="roundRect">
              <a:avLst>
                <a:gd fmla="val 7058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1"/>
            <p:cNvSpPr txBox="1"/>
            <p:nvPr/>
          </p:nvSpPr>
          <p:spPr>
            <a:xfrm>
              <a:off x="619125" y="2517394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ru" sz="2800">
                  <a:solidFill>
                    <a:srgbClr val="0716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 sz="2800">
                <a:solidFill>
                  <a:srgbClr val="0716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9" name="Google Shape;169;p21"/>
            <p:cNvSpPr txBox="1"/>
            <p:nvPr/>
          </p:nvSpPr>
          <p:spPr>
            <a:xfrm>
              <a:off x="619125" y="290512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ru" sz="136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Инкапсуляция</a:t>
              </a:r>
              <a:endParaRPr b="1" sz="13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1"/>
            <p:cNvSpPr txBox="1"/>
            <p:nvPr/>
          </p:nvSpPr>
          <p:spPr>
            <a:xfrm>
              <a:off x="619125" y="3238500"/>
              <a:ext cx="133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Сокрытие деталей реализации и данных от внешнего пользователя для безопасности и простоты.</a:t>
              </a:r>
              <a:endParaRPr b="0" sz="106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" name="Google Shape;171;p21"/>
          <p:cNvGrpSpPr/>
          <p:nvPr/>
        </p:nvGrpSpPr>
        <p:grpSpPr>
          <a:xfrm>
            <a:off x="2286000" y="2333625"/>
            <a:ext cx="1619100" cy="2238300"/>
            <a:chOff x="2286000" y="2333625"/>
            <a:chExt cx="1619100" cy="2238300"/>
          </a:xfrm>
        </p:grpSpPr>
        <p:sp>
          <p:nvSpPr>
            <p:cNvPr id="172" name="Google Shape;172;p21"/>
            <p:cNvSpPr/>
            <p:nvPr/>
          </p:nvSpPr>
          <p:spPr>
            <a:xfrm>
              <a:off x="2286000" y="2333625"/>
              <a:ext cx="1619100" cy="2238300"/>
            </a:xfrm>
            <a:prstGeom prst="roundRect">
              <a:avLst>
                <a:gd fmla="val 7058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1"/>
            <p:cNvSpPr txBox="1"/>
            <p:nvPr/>
          </p:nvSpPr>
          <p:spPr>
            <a:xfrm>
              <a:off x="2428875" y="2517394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ru" sz="2800">
                  <a:solidFill>
                    <a:srgbClr val="0716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2800">
                <a:solidFill>
                  <a:srgbClr val="0716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4" name="Google Shape;174;p21"/>
            <p:cNvSpPr txBox="1"/>
            <p:nvPr/>
          </p:nvSpPr>
          <p:spPr>
            <a:xfrm>
              <a:off x="2428875" y="290512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ru" sz="136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Наследование</a:t>
              </a:r>
              <a:endParaRPr b="1" sz="13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1"/>
            <p:cNvSpPr txBox="1"/>
            <p:nvPr/>
          </p:nvSpPr>
          <p:spPr>
            <a:xfrm>
              <a:off x="2428875" y="3238500"/>
              <a:ext cx="133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Переиспользование готового кода и построение иерархий от общего к частному.</a:t>
              </a:r>
              <a:endParaRPr b="0" sz="106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21"/>
          <p:cNvGrpSpPr/>
          <p:nvPr/>
        </p:nvGrpSpPr>
        <p:grpSpPr>
          <a:xfrm>
            <a:off x="4095750" y="2333625"/>
            <a:ext cx="1619100" cy="2238300"/>
            <a:chOff x="4095750" y="2333625"/>
            <a:chExt cx="1619100" cy="2238300"/>
          </a:xfrm>
        </p:grpSpPr>
        <p:sp>
          <p:nvSpPr>
            <p:cNvPr id="177" name="Google Shape;177;p21"/>
            <p:cNvSpPr/>
            <p:nvPr/>
          </p:nvSpPr>
          <p:spPr>
            <a:xfrm>
              <a:off x="4095750" y="2333625"/>
              <a:ext cx="1619100" cy="2238300"/>
            </a:xfrm>
            <a:prstGeom prst="roundRect">
              <a:avLst>
                <a:gd fmla="val 7058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1"/>
            <p:cNvSpPr txBox="1"/>
            <p:nvPr/>
          </p:nvSpPr>
          <p:spPr>
            <a:xfrm>
              <a:off x="4238625" y="2517394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ru" sz="2800">
                  <a:solidFill>
                    <a:srgbClr val="0716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800">
                <a:solidFill>
                  <a:srgbClr val="0716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9" name="Google Shape;179;p21"/>
            <p:cNvSpPr txBox="1"/>
            <p:nvPr/>
          </p:nvSpPr>
          <p:spPr>
            <a:xfrm>
              <a:off x="4238625" y="290512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ru" sz="136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Полиморфизм</a:t>
              </a:r>
              <a:endParaRPr b="1" sz="13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1"/>
            <p:cNvSpPr txBox="1"/>
            <p:nvPr/>
          </p:nvSpPr>
          <p:spPr>
            <a:xfrm>
              <a:off x="4238625" y="3238500"/>
              <a:ext cx="133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ru" sz="1064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Возможность работы с разными типами данных через единый общий интерфейс.</a:t>
              </a:r>
              <a:endParaRPr b="0" sz="1064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" name="Google Shape;181;p21"/>
          <p:cNvGrpSpPr/>
          <p:nvPr/>
        </p:nvGrpSpPr>
        <p:grpSpPr>
          <a:xfrm>
            <a:off x="6286500" y="1095375"/>
            <a:ext cx="2381400" cy="3476700"/>
            <a:chOff x="6286500" y="1095375"/>
            <a:chExt cx="2381400" cy="3476700"/>
          </a:xfrm>
        </p:grpSpPr>
        <p:sp>
          <p:nvSpPr>
            <p:cNvPr id="182" name="Google Shape;182;p21"/>
            <p:cNvSpPr/>
            <p:nvPr/>
          </p:nvSpPr>
          <p:spPr>
            <a:xfrm>
              <a:off x="6286500" y="1095375"/>
              <a:ext cx="2381400" cy="3476700"/>
            </a:xfrm>
            <a:prstGeom prst="roundRect">
              <a:avLst>
                <a:gd fmla="val 4800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minimal high-tech dark design concept with glowing clean geometric shapes and nodes representing programming structures, objects, and OOP paradigms, professional tech aesthetic." id="183" name="Google Shape;183;p21"/>
            <p:cNvPicPr preferRelativeResize="0"/>
            <p:nvPr/>
          </p:nvPicPr>
          <p:blipFill rotWithShape="1">
            <a:blip r:embed="rId3">
              <a:alphaModFix/>
            </a:blip>
            <a:srcRect b="12327" l="4338" r="4338" t="0"/>
            <a:stretch/>
          </p:blipFill>
          <p:spPr>
            <a:xfrm>
              <a:off x="6286500" y="1095375"/>
              <a:ext cx="2381400" cy="3048000"/>
            </a:xfrm>
            <a:prstGeom prst="roundRect">
              <a:avLst>
                <a:gd fmla="val 4800" name="adj"/>
              </a:avLst>
            </a:prstGeom>
            <a:noFill/>
            <a:ln>
              <a:noFill/>
            </a:ln>
          </p:spPr>
        </p:pic>
        <p:sp>
          <p:nvSpPr>
            <p:cNvPr id="184" name="Google Shape;184;p21"/>
            <p:cNvSpPr/>
            <p:nvPr/>
          </p:nvSpPr>
          <p:spPr>
            <a:xfrm>
              <a:off x="6286500" y="1095375"/>
              <a:ext cx="2381400" cy="3476700"/>
            </a:xfrm>
            <a:prstGeom prst="roundRect">
              <a:avLst>
                <a:gd fmla="val 4800" name="adj"/>
              </a:avLst>
            </a:prstGeom>
            <a:solidFill>
              <a:srgbClr val="000000">
                <a:alpha val="4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 txBox="1"/>
            <p:nvPr/>
          </p:nvSpPr>
          <p:spPr>
            <a:xfrm>
              <a:off x="6524625" y="1333500"/>
              <a:ext cx="1905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2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Три кита ООП</a:t>
              </a:r>
              <a:endParaRPr b="1" sz="13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b="0" lang="ru" sz="105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Именно на этих трех концепциях — инкапсуляции, наследовании и полиморфизме — сосредоточен весь дальнейший материал курса.</a:t>
              </a:r>
              <a:endParaRPr b="0" sz="10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476250" y="428625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ООП в концепции Алана Кея</a:t>
            </a:r>
            <a:endParaRPr b="1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22"/>
          <p:cNvGrpSpPr/>
          <p:nvPr/>
        </p:nvGrpSpPr>
        <p:grpSpPr>
          <a:xfrm>
            <a:off x="476250" y="1095375"/>
            <a:ext cx="5238900" cy="1047900"/>
            <a:chOff x="476250" y="1095375"/>
            <a:chExt cx="5238900" cy="1047900"/>
          </a:xfrm>
        </p:grpSpPr>
        <p:sp>
          <p:nvSpPr>
            <p:cNvPr id="193" name="Google Shape;193;p22"/>
            <p:cNvSpPr/>
            <p:nvPr/>
          </p:nvSpPr>
          <p:spPr>
            <a:xfrm>
              <a:off x="476250" y="1095375"/>
              <a:ext cx="5238900" cy="1047900"/>
            </a:xfrm>
            <a:prstGeom prst="roundRect">
              <a:avLst>
                <a:gd fmla="val 10909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714375" y="1238250"/>
              <a:ext cx="4762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95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Биологическая аналогия</a:t>
              </a:r>
              <a:endParaRPr b="1" sz="129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06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Алан Кей рассматривал объекты не как структуры данных, а как </a:t>
              </a:r>
              <a:r>
                <a:rPr b="1" lang="ru" sz="106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живые клетки</a:t>
              </a:r>
              <a:r>
                <a:rPr b="0" lang="ru" sz="106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, которые общаются между собой, передавая сообщения. Главная идея — </a:t>
              </a:r>
              <a:r>
                <a:rPr b="1" lang="ru" sz="1060">
                  <a:solidFill>
                    <a:srgbClr val="333333"/>
                  </a:solidFill>
                </a:rPr>
                <a:t>изоляция</a:t>
              </a:r>
              <a:r>
                <a:rPr b="0" lang="ru" sz="106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внутренней структуры для масштабируемости.</a:t>
              </a:r>
              <a:endParaRPr b="0" sz="106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22"/>
          <p:cNvGrpSpPr/>
          <p:nvPr/>
        </p:nvGrpSpPr>
        <p:grpSpPr>
          <a:xfrm>
            <a:off x="476250" y="2333625"/>
            <a:ext cx="1619100" cy="2238300"/>
            <a:chOff x="476250" y="2333625"/>
            <a:chExt cx="1619100" cy="2238300"/>
          </a:xfrm>
        </p:grpSpPr>
        <p:sp>
          <p:nvSpPr>
            <p:cNvPr id="196" name="Google Shape;196;p22"/>
            <p:cNvSpPr/>
            <p:nvPr/>
          </p:nvSpPr>
          <p:spPr>
            <a:xfrm>
              <a:off x="476250" y="2333625"/>
              <a:ext cx="1619100" cy="2238300"/>
            </a:xfrm>
            <a:prstGeom prst="roundRect">
              <a:avLst>
                <a:gd fmla="val 7058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 txBox="1"/>
            <p:nvPr/>
          </p:nvSpPr>
          <p:spPr>
            <a:xfrm>
              <a:off x="619125" y="2555494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716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2800">
                <a:solidFill>
                  <a:srgbClr val="0716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8" name="Google Shape;198;p22"/>
            <p:cNvSpPr txBox="1"/>
            <p:nvPr/>
          </p:nvSpPr>
          <p:spPr>
            <a:xfrm>
              <a:off x="619125" y="290512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Сообщения</a:t>
              </a:r>
              <a:endParaRPr b="1" sz="13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2"/>
            <p:cNvSpPr txBox="1"/>
            <p:nvPr/>
          </p:nvSpPr>
          <p:spPr>
            <a:xfrm>
              <a:off x="619125" y="3238500"/>
              <a:ext cx="133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6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Взаимодействие через передачу сообщений, а не прямой вызов методов или изменение свойств.</a:t>
              </a:r>
              <a:endParaRPr b="0" sz="106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22"/>
          <p:cNvGrpSpPr/>
          <p:nvPr/>
        </p:nvGrpSpPr>
        <p:grpSpPr>
          <a:xfrm>
            <a:off x="2286000" y="2333625"/>
            <a:ext cx="1619100" cy="2238300"/>
            <a:chOff x="2286000" y="2333625"/>
            <a:chExt cx="1619100" cy="2238300"/>
          </a:xfrm>
        </p:grpSpPr>
        <p:sp>
          <p:nvSpPr>
            <p:cNvPr id="201" name="Google Shape;201;p22"/>
            <p:cNvSpPr/>
            <p:nvPr/>
          </p:nvSpPr>
          <p:spPr>
            <a:xfrm>
              <a:off x="2286000" y="2333625"/>
              <a:ext cx="1619100" cy="2238300"/>
            </a:xfrm>
            <a:prstGeom prst="roundRect">
              <a:avLst>
                <a:gd fmla="val 7058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 txBox="1"/>
            <p:nvPr/>
          </p:nvSpPr>
          <p:spPr>
            <a:xfrm>
              <a:off x="2428875" y="2555494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716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sz="2800">
                <a:solidFill>
                  <a:srgbClr val="0716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3" name="Google Shape;203;p22"/>
            <p:cNvSpPr txBox="1"/>
            <p:nvPr/>
          </p:nvSpPr>
          <p:spPr>
            <a:xfrm>
              <a:off x="2428875" y="290512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Изоляция</a:t>
              </a:r>
              <a:endParaRPr b="1" sz="13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2"/>
            <p:cNvSpPr txBox="1"/>
            <p:nvPr/>
          </p:nvSpPr>
          <p:spPr>
            <a:xfrm>
              <a:off x="2428875" y="3238500"/>
              <a:ext cx="133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6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Полное скрытие внутреннего состояния. Объект сам решает, как реагировать на внешнее воздействие.</a:t>
              </a:r>
              <a:endParaRPr b="0" sz="106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22"/>
          <p:cNvGrpSpPr/>
          <p:nvPr/>
        </p:nvGrpSpPr>
        <p:grpSpPr>
          <a:xfrm>
            <a:off x="4095750" y="2333625"/>
            <a:ext cx="1619100" cy="2238300"/>
            <a:chOff x="4095750" y="2333625"/>
            <a:chExt cx="1619100" cy="2238300"/>
          </a:xfrm>
        </p:grpSpPr>
        <p:sp>
          <p:nvSpPr>
            <p:cNvPr id="206" name="Google Shape;206;p22"/>
            <p:cNvSpPr/>
            <p:nvPr/>
          </p:nvSpPr>
          <p:spPr>
            <a:xfrm>
              <a:off x="4095750" y="2333625"/>
              <a:ext cx="1619100" cy="2238300"/>
            </a:xfrm>
            <a:prstGeom prst="roundRect">
              <a:avLst>
                <a:gd fmla="val 7058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2"/>
            <p:cNvSpPr txBox="1"/>
            <p:nvPr/>
          </p:nvSpPr>
          <p:spPr>
            <a:xfrm>
              <a:off x="4238625" y="2555494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716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sz="2800">
                <a:solidFill>
                  <a:srgbClr val="0716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8" name="Google Shape;208;p22"/>
            <p:cNvSpPr txBox="1"/>
            <p:nvPr/>
          </p:nvSpPr>
          <p:spPr>
            <a:xfrm>
              <a:off x="4238625" y="2905125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Динамизм</a:t>
              </a:r>
              <a:endParaRPr b="1" sz="13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2"/>
            <p:cNvSpPr txBox="1"/>
            <p:nvPr/>
          </p:nvSpPr>
          <p:spPr>
            <a:xfrm>
              <a:off x="4238625" y="3238500"/>
              <a:ext cx="133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06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Позднее связывание и динамическая интерпретация сообщений прямо во время работы программы.</a:t>
              </a:r>
              <a:endParaRPr b="0" sz="106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22"/>
          <p:cNvGrpSpPr/>
          <p:nvPr/>
        </p:nvGrpSpPr>
        <p:grpSpPr>
          <a:xfrm>
            <a:off x="6286500" y="1095375"/>
            <a:ext cx="2381400" cy="3476700"/>
            <a:chOff x="6286500" y="1095375"/>
            <a:chExt cx="2381400" cy="3476700"/>
          </a:xfrm>
        </p:grpSpPr>
        <p:sp>
          <p:nvSpPr>
            <p:cNvPr id="211" name="Google Shape;211;p22"/>
            <p:cNvSpPr/>
            <p:nvPr/>
          </p:nvSpPr>
          <p:spPr>
            <a:xfrm>
              <a:off x="6286500" y="1095375"/>
              <a:ext cx="2381400" cy="3476700"/>
            </a:xfrm>
            <a:prstGeom prst="roundRect">
              <a:avLst>
                <a:gd fmla="val 4800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tylized dark minimalistic background with glowing cells, neurons and interconnected communication lines, representing organic object-oriented programming concept, tech aesthetic." id="212" name="Google Shape;212;p22"/>
            <p:cNvPicPr preferRelativeResize="0"/>
            <p:nvPr/>
          </p:nvPicPr>
          <p:blipFill rotWithShape="1">
            <a:blip r:embed="rId3">
              <a:alphaModFix/>
            </a:blip>
            <a:srcRect b="0" l="10938" r="10937" t="0"/>
            <a:stretch/>
          </p:blipFill>
          <p:spPr>
            <a:xfrm>
              <a:off x="6286500" y="1095375"/>
              <a:ext cx="2381400" cy="3048000"/>
            </a:xfrm>
            <a:prstGeom prst="roundRect">
              <a:avLst>
                <a:gd fmla="val 4800" name="adj"/>
              </a:avLst>
            </a:prstGeom>
            <a:noFill/>
            <a:ln>
              <a:noFill/>
            </a:ln>
          </p:spPr>
        </p:pic>
        <p:sp>
          <p:nvSpPr>
            <p:cNvPr id="213" name="Google Shape;213;p22"/>
            <p:cNvSpPr/>
            <p:nvPr/>
          </p:nvSpPr>
          <p:spPr>
            <a:xfrm>
              <a:off x="6286500" y="1095375"/>
              <a:ext cx="2381400" cy="3476700"/>
            </a:xfrm>
            <a:prstGeom prst="roundRect">
              <a:avLst>
                <a:gd fmla="val 4800" name="adj"/>
              </a:avLst>
            </a:prstGeom>
            <a:solidFill>
              <a:srgbClr val="000000">
                <a:alpha val="5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2"/>
            <p:cNvSpPr txBox="1"/>
            <p:nvPr/>
          </p:nvSpPr>
          <p:spPr>
            <a:xfrm>
              <a:off x="6524625" y="1333500"/>
              <a:ext cx="1905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2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b="0" sz="2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136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Суть концепции</a:t>
              </a:r>
              <a:endParaRPr b="1" sz="13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105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Для Алана Кея ООП заключалось не в классах и наследовании, а в передаче сообщений, локальном удержании состояния и полной защите от внешних изменений.</a:t>
              </a:r>
              <a:endParaRPr b="0" sz="10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" name="Google Shape;220;p23"/>
          <p:cNvGrpSpPr/>
          <p:nvPr/>
        </p:nvGrpSpPr>
        <p:grpSpPr>
          <a:xfrm>
            <a:off x="476250" y="381000"/>
            <a:ext cx="8191500" cy="666825"/>
            <a:chOff x="476250" y="381000"/>
            <a:chExt cx="8191500" cy="666825"/>
          </a:xfrm>
        </p:grpSpPr>
        <p:sp>
          <p:nvSpPr>
            <p:cNvPr id="221" name="Google Shape;221;p23"/>
            <p:cNvSpPr txBox="1"/>
            <p:nvPr/>
          </p:nvSpPr>
          <p:spPr>
            <a:xfrm>
              <a:off x="476250" y="381000"/>
              <a:ext cx="8191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Инкапсуляция</a:t>
              </a:r>
              <a:endPara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3"/>
            <p:cNvSpPr txBox="1"/>
            <p:nvPr/>
          </p:nvSpPr>
          <p:spPr>
            <a:xfrm>
              <a:off x="476250" y="809625"/>
              <a:ext cx="819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5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Главное заблуждение в ООП: сокрытие деталей реализации путают с банальным доступом к полям</a:t>
              </a:r>
              <a:endParaRPr b="1" sz="125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23"/>
          <p:cNvGrpSpPr/>
          <p:nvPr/>
        </p:nvGrpSpPr>
        <p:grpSpPr>
          <a:xfrm>
            <a:off x="476250" y="1190625"/>
            <a:ext cx="3952800" cy="1476300"/>
            <a:chOff x="476250" y="1190625"/>
            <a:chExt cx="3952800" cy="1476300"/>
          </a:xfrm>
        </p:grpSpPr>
        <p:sp>
          <p:nvSpPr>
            <p:cNvPr id="224" name="Google Shape;224;p23"/>
            <p:cNvSpPr/>
            <p:nvPr/>
          </p:nvSpPr>
          <p:spPr>
            <a:xfrm>
              <a:off x="476250" y="1190625"/>
              <a:ext cx="3952800" cy="1476300"/>
            </a:xfrm>
            <a:prstGeom prst="roundRect">
              <a:avLst>
                <a:gd fmla="val 7741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3"/>
            <p:cNvSpPr txBox="1"/>
            <p:nvPr/>
          </p:nvSpPr>
          <p:spPr>
            <a:xfrm>
              <a:off x="714375" y="1381125"/>
              <a:ext cx="34767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8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Суть инкапсуляции</a:t>
              </a:r>
              <a:endParaRPr b="1" sz="100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Это проектирование системы через </a:t>
              </a:r>
              <a:r>
                <a:rPr b="1" lang="ru" sz="81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контракты</a:t>
              </a:r>
              <a: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. Объект строго разделяет то, что он делает, от того, как именно он это делает внутри.</a:t>
              </a:r>
              <a:endParaRPr b="0" sz="814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Геттеры и сеттеры, открывающие прямой доступ к полям, часто нарушают этот принцип, обнажая структуру данных.</a:t>
              </a:r>
              <a:endParaRPr b="0" sz="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23"/>
          <p:cNvGrpSpPr/>
          <p:nvPr/>
        </p:nvGrpSpPr>
        <p:grpSpPr>
          <a:xfrm>
            <a:off x="476250" y="2809875"/>
            <a:ext cx="3952800" cy="1905000"/>
            <a:chOff x="476250" y="2809875"/>
            <a:chExt cx="3952800" cy="1905000"/>
          </a:xfrm>
        </p:grpSpPr>
        <p:sp>
          <p:nvSpPr>
            <p:cNvPr id="227" name="Google Shape;227;p23"/>
            <p:cNvSpPr/>
            <p:nvPr/>
          </p:nvSpPr>
          <p:spPr>
            <a:xfrm>
              <a:off x="476250" y="2809875"/>
              <a:ext cx="3952800" cy="1905000"/>
            </a:xfrm>
            <a:prstGeom prst="roundRect">
              <a:avLst>
                <a:gd fmla="val 6000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3"/>
            <p:cNvSpPr txBox="1"/>
            <p:nvPr/>
          </p:nvSpPr>
          <p:spPr>
            <a:xfrm>
              <a:off x="714375" y="3000375"/>
              <a:ext cx="34767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8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Контракт vs Реализация</a:t>
              </a:r>
              <a:endParaRPr b="1" sz="100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814">
                  <a:solidFill>
                    <a:srgbClr val="071699"/>
                  </a:solidFill>
                  <a:latin typeface="Arial"/>
                  <a:ea typeface="Arial"/>
                  <a:cs typeface="Arial"/>
                  <a:sym typeface="Arial"/>
                </a:rPr>
                <a:t>ЧТО делает (Контракт)</a:t>
              </a:r>
              <a:b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Публичный интерфейс объекта, сигнатуры методов и ожидаемое поведение.</a:t>
              </a:r>
              <a:endParaRPr b="0" sz="814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ru" sz="814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КАК делает (Внутреннее устройство)</a:t>
              </a:r>
              <a:b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Алгоритмы, переменные состояния и скрытые структуры данных, которые могут меняться без вреда для внешнего кода.</a:t>
              </a:r>
              <a:endParaRPr b="0" sz="814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23"/>
          <p:cNvGrpSpPr/>
          <p:nvPr/>
        </p:nvGrpSpPr>
        <p:grpSpPr>
          <a:xfrm>
            <a:off x="4714875" y="1190625"/>
            <a:ext cx="3952800" cy="3524400"/>
            <a:chOff x="4714875" y="1190625"/>
            <a:chExt cx="3952800" cy="3524400"/>
          </a:xfrm>
        </p:grpSpPr>
        <p:sp>
          <p:nvSpPr>
            <p:cNvPr id="230" name="Google Shape;230;p23"/>
            <p:cNvSpPr/>
            <p:nvPr/>
          </p:nvSpPr>
          <p:spPr>
            <a:xfrm>
              <a:off x="4714875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3"/>
            <p:cNvSpPr txBox="1"/>
            <p:nvPr/>
          </p:nvSpPr>
          <p:spPr>
            <a:xfrm>
              <a:off x="4953000" y="1381125"/>
              <a:ext cx="3476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08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Пример из языка Си (где нет классов)</a:t>
              </a:r>
              <a:endParaRPr b="1" sz="100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ru" sz="814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Инкапсуляция шире, чем ООП. Системные вызовы ОС скрывают реализацию за единым интерфейсом.</a:t>
              </a:r>
              <a:endParaRPr b="0" sz="814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3"/>
            <p:cNvSpPr/>
            <p:nvPr/>
          </p:nvSpPr>
          <p:spPr>
            <a:xfrm>
              <a:off x="4953000" y="1952625"/>
              <a:ext cx="3476700" cy="400200"/>
            </a:xfrm>
            <a:prstGeom prst="roundRect">
              <a:avLst>
                <a:gd fmla="val 14285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3"/>
            <p:cNvSpPr txBox="1"/>
            <p:nvPr/>
          </p:nvSpPr>
          <p:spPr>
            <a:xfrm>
              <a:off x="5095875" y="2028825"/>
              <a:ext cx="3190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open(const char *pathname, int flags);</a:t>
              </a:r>
              <a:endParaRPr b="1" sz="7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34" name="Google Shape;234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81788" y="2428875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43550" y="2581275"/>
              <a:ext cx="22956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38788" y="2714625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81788" y="2590800"/>
              <a:ext cx="19200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824788" y="2714625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514975" y="2819400"/>
              <a:ext cx="66600" cy="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657975" y="2819400"/>
              <a:ext cx="66600" cy="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800975" y="2819400"/>
              <a:ext cx="66600" cy="57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2" name="Google Shape;242;p23"/>
            <p:cNvGrpSpPr/>
            <p:nvPr/>
          </p:nvGrpSpPr>
          <p:grpSpPr>
            <a:xfrm>
              <a:off x="5000625" y="2905125"/>
              <a:ext cx="1095300" cy="809700"/>
              <a:chOff x="5000625" y="2905125"/>
              <a:chExt cx="1095300" cy="809700"/>
            </a:xfrm>
          </p:grpSpPr>
          <p:sp>
            <p:nvSpPr>
              <p:cNvPr id="243" name="Google Shape;243;p23"/>
              <p:cNvSpPr/>
              <p:nvPr/>
            </p:nvSpPr>
            <p:spPr>
              <a:xfrm>
                <a:off x="5000625" y="2905125"/>
                <a:ext cx="1095300" cy="809700"/>
              </a:xfrm>
              <a:prstGeom prst="roundRect">
                <a:avLst>
                  <a:gd fmla="val 705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9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3"/>
              <p:cNvSpPr txBox="1"/>
              <p:nvPr/>
            </p:nvSpPr>
            <p:spPr>
              <a:xfrm>
                <a:off x="5095875" y="3000375"/>
                <a:ext cx="904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65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Linux</a:t>
                </a:r>
                <a:endParaRPr b="1" sz="665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FS: ext4 / tmpfs</a:t>
                </a:r>
                <a:b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Реализация ядра Linux</a:t>
                </a:r>
                <a:endParaRPr b="0" sz="7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45" name="Google Shape;245;p23"/>
            <p:cNvGrpSpPr/>
            <p:nvPr/>
          </p:nvGrpSpPr>
          <p:grpSpPr>
            <a:xfrm>
              <a:off x="6143625" y="2905125"/>
              <a:ext cx="1095300" cy="809700"/>
              <a:chOff x="6143625" y="2905125"/>
              <a:chExt cx="1095300" cy="809700"/>
            </a:xfrm>
          </p:grpSpPr>
          <p:sp>
            <p:nvSpPr>
              <p:cNvPr id="246" name="Google Shape;246;p23"/>
              <p:cNvSpPr/>
              <p:nvPr/>
            </p:nvSpPr>
            <p:spPr>
              <a:xfrm>
                <a:off x="6143625" y="2905125"/>
                <a:ext cx="1095300" cy="809700"/>
              </a:xfrm>
              <a:prstGeom prst="roundRect">
                <a:avLst>
                  <a:gd fmla="val 705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9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3"/>
              <p:cNvSpPr txBox="1"/>
              <p:nvPr/>
            </p:nvSpPr>
            <p:spPr>
              <a:xfrm>
                <a:off x="6238875" y="3000375"/>
                <a:ext cx="904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65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macOS</a:t>
                </a:r>
                <a:endParaRPr b="1" sz="665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FS: APFS</a:t>
                </a:r>
                <a:b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Реализация ядра Darwin</a:t>
                </a:r>
                <a:endParaRPr b="0" sz="7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48" name="Google Shape;248;p23"/>
            <p:cNvGrpSpPr/>
            <p:nvPr/>
          </p:nvGrpSpPr>
          <p:grpSpPr>
            <a:xfrm>
              <a:off x="7286625" y="2905125"/>
              <a:ext cx="1095300" cy="809700"/>
              <a:chOff x="7286625" y="2905125"/>
              <a:chExt cx="1095300" cy="809700"/>
            </a:xfrm>
          </p:grpSpPr>
          <p:sp>
            <p:nvSpPr>
              <p:cNvPr id="249" name="Google Shape;249;p23"/>
              <p:cNvSpPr/>
              <p:nvPr/>
            </p:nvSpPr>
            <p:spPr>
              <a:xfrm>
                <a:off x="7286625" y="2905125"/>
                <a:ext cx="1095300" cy="809700"/>
              </a:xfrm>
              <a:prstGeom prst="roundRect">
                <a:avLst>
                  <a:gd fmla="val 705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AE9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3"/>
              <p:cNvSpPr txBox="1"/>
              <p:nvPr/>
            </p:nvSpPr>
            <p:spPr>
              <a:xfrm>
                <a:off x="7381875" y="3000375"/>
                <a:ext cx="904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665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Windows</a:t>
                </a:r>
                <a:endParaRPr b="1" sz="665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FS: NTFS</a:t>
                </a:r>
                <a:b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0" lang="ru" sz="700">
                    <a:solidFill>
                      <a:srgbClr val="666666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Слой трансляции POSIX</a:t>
                </a:r>
                <a:endParaRPr b="0" sz="7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pic>
          <p:nvPicPr>
            <p:cNvPr id="251" name="Google Shape;251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43475" y="3895725"/>
              <a:ext cx="3495600" cy="6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3"/>
            <p:cNvSpPr txBox="1"/>
            <p:nvPr/>
          </p:nvSpPr>
          <p:spPr>
            <a:xfrm>
              <a:off x="5095875" y="4000500"/>
              <a:ext cx="3190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Работает одинаково на любой системе:</a:t>
              </a:r>
              <a:endParaRPr b="1" sz="7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1111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 fd = open("file.txt", O_RDONLY);</a:t>
              </a:r>
              <a:endParaRPr b="1" sz="11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24"/>
          <p:cNvGrpSpPr/>
          <p:nvPr/>
        </p:nvGrpSpPr>
        <p:grpSpPr>
          <a:xfrm>
            <a:off x="476250" y="381000"/>
            <a:ext cx="8191500" cy="666825"/>
            <a:chOff x="476250" y="381000"/>
            <a:chExt cx="8191500" cy="666825"/>
          </a:xfrm>
        </p:grpSpPr>
        <p:sp>
          <p:nvSpPr>
            <p:cNvPr id="259" name="Google Shape;259;p24"/>
            <p:cNvSpPr txBox="1"/>
            <p:nvPr/>
          </p:nvSpPr>
          <p:spPr>
            <a:xfrm>
              <a:off x="476250" y="38100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Почему это важнее, чем кажется</a:t>
              </a:r>
              <a:endPara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4"/>
            <p:cNvSpPr txBox="1"/>
            <p:nvPr/>
          </p:nvSpPr>
          <p:spPr>
            <a:xfrm>
              <a:off x="476250" y="809625"/>
              <a:ext cx="819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5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Хорошая инкапсуляция означает, что объект сам отвечает за корректность своего состояния</a:t>
              </a:r>
              <a:endParaRPr b="1" sz="125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24"/>
          <p:cNvGrpSpPr/>
          <p:nvPr/>
        </p:nvGrpSpPr>
        <p:grpSpPr>
          <a:xfrm>
            <a:off x="476250" y="1190625"/>
            <a:ext cx="3952800" cy="3524400"/>
            <a:chOff x="476250" y="1190625"/>
            <a:chExt cx="3952800" cy="3524400"/>
          </a:xfrm>
        </p:grpSpPr>
        <p:sp>
          <p:nvSpPr>
            <p:cNvPr id="262" name="Google Shape;262;p24"/>
            <p:cNvSpPr/>
            <p:nvPr/>
          </p:nvSpPr>
          <p:spPr>
            <a:xfrm>
              <a:off x="476250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4"/>
            <p:cNvSpPr txBox="1"/>
            <p:nvPr/>
          </p:nvSpPr>
          <p:spPr>
            <a:xfrm>
              <a:off x="714375" y="1428750"/>
              <a:ext cx="34767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Защита инвариантов</a:t>
              </a:r>
              <a:endPara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Класс гарантирует, что </a:t>
              </a:r>
              <a:r>
                <a:rPr b="1" lang="ru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Stock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с пустым тикером просто не может существовать в системе.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Контроль 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конструирования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— первый барьер защиты. Валидация выполняется непосредственно при создании объекта.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Это и есть </a:t>
              </a:r>
              <a:r>
                <a:rPr b="1" lang="ru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настоящая защита инвариантов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— создание гарантированно валидных сущностей, а не формальное написание геттеров и сеттеров ко всем полям подряд.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24"/>
          <p:cNvGrpSpPr/>
          <p:nvPr/>
        </p:nvGrpSpPr>
        <p:grpSpPr>
          <a:xfrm>
            <a:off x="4714875" y="1190625"/>
            <a:ext cx="3952800" cy="3524400"/>
            <a:chOff x="4714875" y="1190625"/>
            <a:chExt cx="3952800" cy="3524400"/>
          </a:xfrm>
        </p:grpSpPr>
        <p:sp>
          <p:nvSpPr>
            <p:cNvPr id="265" name="Google Shape;265;p24"/>
            <p:cNvSpPr/>
            <p:nvPr/>
          </p:nvSpPr>
          <p:spPr>
            <a:xfrm>
              <a:off x="4714875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4953000" y="1476375"/>
              <a:ext cx="3476700" cy="2952900"/>
            </a:xfrm>
            <a:prstGeom prst="roundRect">
              <a:avLst>
                <a:gd fmla="val 1935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4"/>
            <p:cNvSpPr txBox="1"/>
            <p:nvPr/>
          </p:nvSpPr>
          <p:spPr>
            <a:xfrm>
              <a:off x="5095875" y="1619250"/>
              <a:ext cx="31908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85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Защита состояния в Java</a:t>
              </a:r>
              <a:endParaRPr sz="85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class Stock {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private final String ticker;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public Stock(String ticker) {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if (ticker == null || ticker.isBlank()) {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  throw new IllegalArgumentException(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    "Ticker required"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  );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}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this.ticker = ticker; // защищён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}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public String getTicker() {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return ticker; // только чтение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}</a:t>
              </a:r>
              <a:b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5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85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476250" y="3810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Наследование</a:t>
            </a:r>
            <a:endParaRPr b="1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476250" y="809625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Наследование устанавливает отношение «является» (IS-A) и позволяет повторно использовать код</a:t>
            </a:r>
            <a:endParaRPr b="1" sz="1250">
              <a:solidFill>
                <a:srgbClr val="D32F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25"/>
          <p:cNvGrpSpPr/>
          <p:nvPr/>
        </p:nvGrpSpPr>
        <p:grpSpPr>
          <a:xfrm>
            <a:off x="476250" y="1190625"/>
            <a:ext cx="3952800" cy="3524400"/>
            <a:chOff x="476250" y="1190625"/>
            <a:chExt cx="3952800" cy="3524400"/>
          </a:xfrm>
        </p:grpSpPr>
        <p:sp>
          <p:nvSpPr>
            <p:cNvPr id="276" name="Google Shape;276;p25"/>
            <p:cNvSpPr/>
            <p:nvPr/>
          </p:nvSpPr>
          <p:spPr>
            <a:xfrm>
              <a:off x="476250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5"/>
            <p:cNvSpPr txBox="1"/>
            <p:nvPr/>
          </p:nvSpPr>
          <p:spPr>
            <a:xfrm>
              <a:off x="714375" y="1428750"/>
              <a:ext cx="34767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В чём суть</a:t>
              </a:r>
              <a:endPara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Базовый класс описывает </a:t>
              </a:r>
              <a:r>
                <a:rPr b="1" lang="ru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общее состояние и поведение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, в то время как наследники реализуют </a:t>
              </a:r>
              <a:r>
                <a:rPr b="1" lang="ru" sz="11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специфичную логику</a:t>
              </a: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Arial"/>
                  <a:ea typeface="Arial"/>
                  <a:cs typeface="Arial"/>
                  <a:sym typeface="Arial"/>
                </a:rPr>
                <a:t>Основные возможности:</a:t>
              </a:r>
              <a:endParaRPr b="1" sz="1100">
                <a:solidFill>
                  <a:srgbClr val="07169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Arial"/>
                <a:buChar char="●"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Переиспользование полей и методов базового класса без дублирования кода.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Arial"/>
                <a:buChar char="●"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Переопределение (override) поведения в подклассах под конкретные задачи.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3333"/>
                </a:buClr>
                <a:buSzPts val="1100"/>
                <a:buFont typeface="Arial"/>
                <a:buChar char="●"/>
              </a:pPr>
              <a:r>
                <a:rPr b="0" lang="ru" sz="11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Построение понятных иерархий типов, отражающих предметную область.</a:t>
              </a:r>
              <a:endParaRPr b="0"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p25"/>
          <p:cNvGrpSpPr/>
          <p:nvPr/>
        </p:nvGrpSpPr>
        <p:grpSpPr>
          <a:xfrm>
            <a:off x="4714875" y="1190625"/>
            <a:ext cx="3952800" cy="3524400"/>
            <a:chOff x="4714875" y="1190625"/>
            <a:chExt cx="3952800" cy="3524400"/>
          </a:xfrm>
        </p:grpSpPr>
        <p:sp>
          <p:nvSpPr>
            <p:cNvPr id="279" name="Google Shape;279;p25"/>
            <p:cNvSpPr/>
            <p:nvPr/>
          </p:nvSpPr>
          <p:spPr>
            <a:xfrm>
              <a:off x="4714875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0" name="Google Shape;280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34025" y="1466850"/>
              <a:ext cx="2305200" cy="7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5"/>
            <p:cNvSpPr txBox="1"/>
            <p:nvPr/>
          </p:nvSpPr>
          <p:spPr>
            <a:xfrm>
              <a:off x="5638800" y="1571625"/>
              <a:ext cx="2095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Instrument</a:t>
              </a:r>
              <a:endParaRPr b="1" sz="11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9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ticker, name, getDescription()</a:t>
              </a:r>
              <a:endParaRPr b="0" sz="9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82" name="Google Shape;282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77025" y="2190750"/>
              <a:ext cx="19200" cy="4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95925" y="2657475"/>
              <a:ext cx="23718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86400" y="2667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57825" y="28289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77025" y="2667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648450" y="28289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67650" y="2667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839075" y="28289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25"/>
            <p:cNvSpPr/>
            <p:nvPr/>
          </p:nvSpPr>
          <p:spPr>
            <a:xfrm>
              <a:off x="4924425" y="2952750"/>
              <a:ext cx="1143000" cy="14763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5"/>
            <p:cNvSpPr txBox="1"/>
            <p:nvPr/>
          </p:nvSpPr>
          <p:spPr>
            <a:xfrm>
              <a:off x="4972050" y="3095625"/>
              <a:ext cx="10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Stock</a:t>
              </a:r>
              <a:endParaRPr b="1" sz="11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9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sector</a:t>
              </a:r>
              <a:endParaRPr b="0" sz="9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ru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Наследует ticker, name и поведение</a:t>
              </a:r>
              <a:endParaRPr b="1"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6115050" y="2952750"/>
              <a:ext cx="1143000" cy="14763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5"/>
            <p:cNvSpPr txBox="1"/>
            <p:nvPr/>
          </p:nvSpPr>
          <p:spPr>
            <a:xfrm>
              <a:off x="6162675" y="3095625"/>
              <a:ext cx="10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Bond</a:t>
              </a:r>
              <a:endParaRPr b="1" sz="11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9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coupon</a:t>
              </a:r>
              <a:endParaRPr b="0" sz="9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ru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Наследует ticker, name и поведение</a:t>
              </a:r>
              <a:endParaRPr b="1"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7305675" y="2952750"/>
              <a:ext cx="1143000" cy="14763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 txBox="1"/>
            <p:nvPr/>
          </p:nvSpPr>
          <p:spPr>
            <a:xfrm>
              <a:off x="7353300" y="3095625"/>
              <a:ext cx="10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Etf</a:t>
              </a:r>
              <a:endParaRPr b="1" sz="11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90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index</a:t>
              </a:r>
              <a:endParaRPr b="0" sz="9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ru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Наследует ticker, name и поведение</a:t>
              </a:r>
              <a:endParaRPr b="1"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476250" y="3810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Но наследование может всё сломать</a:t>
            </a:r>
            <a:endParaRPr b="1" sz="24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476250" y="809625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Наследование создаёт жёсткую связанность между родителем и потомками</a:t>
            </a:r>
            <a:endParaRPr b="1" sz="1250">
              <a:solidFill>
                <a:srgbClr val="D32F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p26"/>
          <p:cNvGrpSpPr/>
          <p:nvPr/>
        </p:nvGrpSpPr>
        <p:grpSpPr>
          <a:xfrm>
            <a:off x="476250" y="1190625"/>
            <a:ext cx="3952800" cy="3524400"/>
            <a:chOff x="476250" y="1190625"/>
            <a:chExt cx="3952800" cy="3524400"/>
          </a:xfrm>
        </p:grpSpPr>
        <p:sp>
          <p:nvSpPr>
            <p:cNvPr id="304" name="Google Shape;304;p26"/>
            <p:cNvSpPr/>
            <p:nvPr/>
          </p:nvSpPr>
          <p:spPr>
            <a:xfrm>
              <a:off x="476250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6"/>
            <p:cNvSpPr txBox="1"/>
            <p:nvPr/>
          </p:nvSpPr>
          <p:spPr>
            <a:xfrm>
              <a:off x="714375" y="1428750"/>
              <a:ext cx="34767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Проблема жёсткой связанности</a:t>
              </a:r>
              <a:endParaRPr b="1" sz="1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ru" sz="10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Чем сложнее иерархия, тем опаснее: любое изменение в базовом классе </a:t>
              </a:r>
              <a:r>
                <a:rPr b="1" lang="ru" sz="10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каскадно</a:t>
              </a:r>
              <a:r>
                <a:rPr b="0" lang="ru" sz="10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расходится вниз по всем потомкам.</a:t>
              </a:r>
              <a:endParaRPr b="0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ru" sz="10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Добавление поля или изменение логики метода наверху требует проверки </a:t>
              </a:r>
              <a:r>
                <a:rPr b="1" lang="ru" sz="10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всех</a:t>
              </a:r>
              <a:r>
                <a:rPr b="0" lang="ru" sz="10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потомков. В глубоких иерархиях это превращается в серьёзную проблему: всё начинает сыпаться от одного изменения.</a:t>
              </a:r>
              <a:endParaRPr b="0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26"/>
          <p:cNvGrpSpPr/>
          <p:nvPr/>
        </p:nvGrpSpPr>
        <p:grpSpPr>
          <a:xfrm>
            <a:off x="4714875" y="1190625"/>
            <a:ext cx="3952800" cy="3524400"/>
            <a:chOff x="4714875" y="1190625"/>
            <a:chExt cx="3952800" cy="3524400"/>
          </a:xfrm>
        </p:grpSpPr>
        <p:sp>
          <p:nvSpPr>
            <p:cNvPr id="307" name="Google Shape;307;p26"/>
            <p:cNvSpPr/>
            <p:nvPr/>
          </p:nvSpPr>
          <p:spPr>
            <a:xfrm>
              <a:off x="4714875" y="1190625"/>
              <a:ext cx="3952800" cy="3524400"/>
            </a:xfrm>
            <a:prstGeom prst="roundRect">
              <a:avLst>
                <a:gd fmla="val 3243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8" name="Google Shape;308;p26"/>
            <p:cNvGrpSpPr/>
            <p:nvPr/>
          </p:nvGrpSpPr>
          <p:grpSpPr>
            <a:xfrm>
              <a:off x="4905375" y="1428750"/>
              <a:ext cx="3571800" cy="1143000"/>
              <a:chOff x="4905375" y="1428750"/>
              <a:chExt cx="3571800" cy="1143000"/>
            </a:xfrm>
          </p:grpSpPr>
          <p:sp>
            <p:nvSpPr>
              <p:cNvPr id="309" name="Google Shape;309;p26"/>
              <p:cNvSpPr/>
              <p:nvPr/>
            </p:nvSpPr>
            <p:spPr>
              <a:xfrm>
                <a:off x="4953000" y="1428750"/>
                <a:ext cx="3476700" cy="1143000"/>
              </a:xfrm>
              <a:prstGeom prst="roundRect">
                <a:avLst>
                  <a:gd fmla="val 6666" name="adj"/>
                </a:avLst>
              </a:prstGeom>
              <a:solidFill>
                <a:srgbClr val="F0EFFB"/>
              </a:solidFill>
              <a:ln cap="flat" cmpd="sng" w="9525">
                <a:solidFill>
                  <a:srgbClr val="E5E4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10" name="Google Shape;310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015038" y="1619250"/>
                <a:ext cx="1352700" cy="57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1" name="Google Shape;311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995988" y="2162175"/>
                <a:ext cx="57300" cy="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2" name="Google Shape;312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662738" y="2162175"/>
                <a:ext cx="57300" cy="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3" name="Google Shape;313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329488" y="2162175"/>
                <a:ext cx="57300" cy="57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4" name="Google Shape;314;p26"/>
              <p:cNvSpPr txBox="1"/>
              <p:nvPr/>
            </p:nvSpPr>
            <p:spPr>
              <a:xfrm>
                <a:off x="6119813" y="1457325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1000">
                    <a:solidFill>
                      <a:srgbClr val="07169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Instrument</a:t>
                </a:r>
                <a:endParaRPr b="1" sz="10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15" name="Google Shape;315;p26"/>
              <p:cNvSpPr txBox="1"/>
              <p:nvPr/>
            </p:nvSpPr>
            <p:spPr>
              <a:xfrm>
                <a:off x="6215063" y="1647825"/>
                <a:ext cx="9525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u" sz="750">
                    <a:solidFill>
                      <a:srgbClr val="D32F2F"/>
                    </a:solidFill>
                    <a:latin typeface="Arial"/>
                    <a:ea typeface="Arial"/>
                    <a:cs typeface="Arial"/>
                    <a:sym typeface="Arial"/>
                  </a:rPr>
                  <a:t>изменение в корне</a:t>
                </a:r>
                <a:endParaRPr b="1" sz="750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26"/>
              <p:cNvSpPr txBox="1"/>
              <p:nvPr/>
            </p:nvSpPr>
            <p:spPr>
              <a:xfrm>
                <a:off x="4905375" y="2238375"/>
                <a:ext cx="3571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750">
                    <a:solidFill>
                      <a:srgbClr val="666666"/>
                    </a:solidFill>
                    <a:latin typeface="Arial"/>
                    <a:ea typeface="Arial"/>
                    <a:cs typeface="Arial"/>
                    <a:sym typeface="Arial"/>
                  </a:rPr>
                  <a:t>протекает во все подклассы, конструкторы, equals/hashCode, toString</a:t>
                </a:r>
                <a:endParaRPr b="0" sz="7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7" name="Google Shape;317;p26"/>
            <p:cNvSpPr txBox="1"/>
            <p:nvPr/>
          </p:nvSpPr>
          <p:spPr>
            <a:xfrm>
              <a:off x="4953000" y="2714625"/>
              <a:ext cx="34767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00">
                  <a:solidFill>
                    <a:srgbClr val="071699"/>
                  </a:solidFill>
                  <a:latin typeface="Arial"/>
                  <a:ea typeface="Arial"/>
                  <a:cs typeface="Arial"/>
                  <a:sym typeface="Arial"/>
                </a:rPr>
                <a:t>Связь с SOLID: ISP</a:t>
              </a:r>
              <a:endParaRPr b="1" sz="1300">
                <a:solidFill>
                  <a:srgbClr val="07169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102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Interface Segregation Principle</a:t>
              </a:r>
              <a:r>
                <a:rPr b="0" lang="ru" sz="102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— принцип разделения интерфейсов. Если подкласс вынужден наследовать методы, которые ему не нужны (или для которых он не может дать осмысленную реализацию), — это верный сигнал, что иерархия спроектирована неверно.</a:t>
              </a:r>
              <a:endParaRPr b="0" sz="102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ru" sz="9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Подробно SOLID разбирается на последующих семинарах, но эту связь полезно держать в голове уже сейчас.</a:t>
              </a:r>
              <a:endParaRPr b="0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3" name="Google Shape;323;p27"/>
          <p:cNvGrpSpPr/>
          <p:nvPr/>
        </p:nvGrpSpPr>
        <p:grpSpPr>
          <a:xfrm>
            <a:off x="476250" y="381000"/>
            <a:ext cx="8191500" cy="666825"/>
            <a:chOff x="476250" y="381000"/>
            <a:chExt cx="8191500" cy="666825"/>
          </a:xfrm>
        </p:grpSpPr>
        <p:sp>
          <p:nvSpPr>
            <p:cNvPr id="324" name="Google Shape;324;p27"/>
            <p:cNvSpPr txBox="1"/>
            <p:nvPr/>
          </p:nvSpPr>
          <p:spPr>
            <a:xfrm>
              <a:off x="476250" y="38100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24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Альтернатива — ассоциация и композиция</a:t>
              </a:r>
              <a:endParaRPr b="1" sz="2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7"/>
            <p:cNvSpPr txBox="1"/>
            <p:nvPr/>
          </p:nvSpPr>
          <p:spPr>
            <a:xfrm>
              <a:off x="476250" y="809625"/>
              <a:ext cx="819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56">
                  <a:solidFill>
                    <a:srgbClr val="D32F2F"/>
                  </a:solidFill>
                  <a:latin typeface="Arial"/>
                  <a:ea typeface="Arial"/>
                  <a:cs typeface="Arial"/>
                  <a:sym typeface="Arial"/>
                </a:rPr>
                <a:t>Часто проблемы наследования снимаются простым объединением объектов, а не выстраиванием иерархии</a:t>
              </a:r>
              <a:endParaRPr b="1" sz="1156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p27"/>
          <p:cNvGrpSpPr/>
          <p:nvPr/>
        </p:nvGrpSpPr>
        <p:grpSpPr>
          <a:xfrm>
            <a:off x="476250" y="1190625"/>
            <a:ext cx="3952800" cy="2476500"/>
            <a:chOff x="476250" y="1190625"/>
            <a:chExt cx="3952800" cy="2476500"/>
          </a:xfrm>
        </p:grpSpPr>
        <p:sp>
          <p:nvSpPr>
            <p:cNvPr id="327" name="Google Shape;327;p27"/>
            <p:cNvSpPr/>
            <p:nvPr/>
          </p:nvSpPr>
          <p:spPr>
            <a:xfrm>
              <a:off x="476250" y="119062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7"/>
            <p:cNvSpPr txBox="1"/>
            <p:nvPr/>
          </p:nvSpPr>
          <p:spPr>
            <a:xfrm>
              <a:off x="714375" y="1381125"/>
              <a:ext cx="347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1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Агрегация</a:t>
              </a:r>
              <a:endParaRPr b="1" sz="91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ru" sz="73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Объект ссылается на другой, но тот живёт независимо. Один и тот же </a:t>
              </a:r>
              <a:r>
                <a:rPr b="1" lang="ru" sz="73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Stock</a:t>
              </a:r>
              <a:r>
                <a:rPr b="0" lang="ru" sz="73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может быть в десятках котировок. Удаление котировки не затрагивает инструмент.</a:t>
              </a:r>
              <a:endParaRPr b="0" sz="73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714375" y="2047875"/>
              <a:ext cx="3476700" cy="1428900"/>
            </a:xfrm>
            <a:prstGeom prst="roundRect">
              <a:avLst>
                <a:gd fmla="val 4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 txBox="1"/>
            <p:nvPr/>
          </p:nvSpPr>
          <p:spPr>
            <a:xfrm>
              <a:off x="857250" y="2143125"/>
              <a:ext cx="3190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85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Код агрегации в Java</a:t>
              </a:r>
              <a:endParaRPr b="1" sz="85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class Quote {</a:t>
              </a:r>
              <a:b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private final Instrument instrument;</a:t>
              </a:r>
              <a:b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private final BigDecimal price;</a:t>
              </a:r>
              <a:b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8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31" name="Google Shape;331;p27"/>
          <p:cNvGrpSpPr/>
          <p:nvPr/>
        </p:nvGrpSpPr>
        <p:grpSpPr>
          <a:xfrm>
            <a:off x="4714875" y="1190625"/>
            <a:ext cx="3952800" cy="2476500"/>
            <a:chOff x="4714875" y="1190625"/>
            <a:chExt cx="3952800" cy="2476500"/>
          </a:xfrm>
        </p:grpSpPr>
        <p:sp>
          <p:nvSpPr>
            <p:cNvPr id="332" name="Google Shape;332;p27"/>
            <p:cNvSpPr/>
            <p:nvPr/>
          </p:nvSpPr>
          <p:spPr>
            <a:xfrm>
              <a:off x="4714875" y="119062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 txBox="1"/>
            <p:nvPr/>
          </p:nvSpPr>
          <p:spPr>
            <a:xfrm>
              <a:off x="4953000" y="1381125"/>
              <a:ext cx="347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1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Композиция</a:t>
              </a:r>
              <a:endParaRPr b="1" sz="91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0" lang="ru" sz="73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Более сильная форма владения, «часть-целое». Позиция живёт только внутри портфеля. Удаление </a:t>
              </a:r>
              <a:r>
                <a:rPr b="1" lang="ru" sz="73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r>
                <a:rPr b="0" lang="ru" sz="73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удаляет и все его позиции.</a:t>
              </a:r>
              <a:endParaRPr b="0" sz="73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4953000" y="2047875"/>
              <a:ext cx="3476700" cy="1428900"/>
            </a:xfrm>
            <a:prstGeom prst="roundRect">
              <a:avLst>
                <a:gd fmla="val 4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7"/>
            <p:cNvSpPr txBox="1"/>
            <p:nvPr/>
          </p:nvSpPr>
          <p:spPr>
            <a:xfrm>
              <a:off x="5095875" y="2143125"/>
              <a:ext cx="3190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850">
                  <a:solidFill>
                    <a:srgbClr val="66666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Код композиции в Java</a:t>
              </a:r>
              <a:endParaRPr b="1" sz="85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 class Portfolio {</a:t>
              </a:r>
              <a:b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public static class Position { /* ... */ }</a:t>
              </a:r>
              <a:b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private final List&lt;Position&gt; positions = </a:t>
              </a: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...</a:t>
              </a:r>
              <a:b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ru" sz="800">
                  <a:solidFill>
                    <a:srgbClr val="0716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1" sz="800">
                <a:solidFill>
                  <a:srgbClr val="0716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36" name="Google Shape;336;p27"/>
          <p:cNvGrpSpPr/>
          <p:nvPr/>
        </p:nvGrpSpPr>
        <p:grpSpPr>
          <a:xfrm>
            <a:off x="466725" y="3848100"/>
            <a:ext cx="8210700" cy="876300"/>
            <a:chOff x="466725" y="3848100"/>
            <a:chExt cx="8210700" cy="876300"/>
          </a:xfrm>
        </p:grpSpPr>
        <p:pic>
          <p:nvPicPr>
            <p:cNvPr id="337" name="Google Shape;33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725" y="3848100"/>
              <a:ext cx="8210700" cy="87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27"/>
            <p:cNvSpPr txBox="1"/>
            <p:nvPr/>
          </p:nvSpPr>
          <p:spPr>
            <a:xfrm>
              <a:off x="714375" y="4000500"/>
              <a:ext cx="771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Arial"/>
                  <a:ea typeface="Arial"/>
                  <a:cs typeface="Arial"/>
                  <a:sym typeface="Arial"/>
                </a:rPr>
                <a:t>Правило большого пальца:</a:t>
              </a:r>
              <a:endParaRPr b="1" sz="1100">
                <a:solidFill>
                  <a:srgbClr val="07169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ru" sz="1000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Предпочитать композицию наследованию. Наследоваться стоит только тогда, когда отношение IS-A действительно есть, а иерархия остаётся простой.</a:t>
              </a:r>
              <a:endParaRPr b="0" i="1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476250" y="3810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Полиморфизм</a:t>
            </a:r>
            <a:endParaRPr b="0" sz="2400">
              <a:solidFill>
                <a:srgbClr val="11111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5" name="Google Shape;345;p28"/>
          <p:cNvSpPr txBox="1"/>
          <p:nvPr/>
        </p:nvSpPr>
        <p:spPr>
          <a:xfrm>
            <a:off x="476250" y="809625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78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Способность работать с объектами разных типов через единый общий интерфейс</a:t>
            </a:r>
            <a:endParaRPr b="1" sz="978">
              <a:solidFill>
                <a:srgbClr val="D32F2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46" name="Google Shape;346;p28"/>
          <p:cNvGrpSpPr/>
          <p:nvPr/>
        </p:nvGrpSpPr>
        <p:grpSpPr>
          <a:xfrm>
            <a:off x="476250" y="1190625"/>
            <a:ext cx="3952800" cy="2476500"/>
            <a:chOff x="476250" y="1190625"/>
            <a:chExt cx="3952800" cy="2476500"/>
          </a:xfrm>
        </p:grpSpPr>
        <p:sp>
          <p:nvSpPr>
            <p:cNvPr id="347" name="Google Shape;347;p28"/>
            <p:cNvSpPr/>
            <p:nvPr/>
          </p:nvSpPr>
          <p:spPr>
            <a:xfrm>
              <a:off x="476250" y="119062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 txBox="1"/>
            <p:nvPr/>
          </p:nvSpPr>
          <p:spPr>
            <a:xfrm>
              <a:off x="714375" y="1381125"/>
              <a:ext cx="347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7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Полиморфизм подтипов (subtype, runtime)</a:t>
              </a:r>
              <a:endParaRPr b="1" sz="97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Переопределение методов в подклассах. Код вызывает нужную реализацию в зависимости от конкретного типа объекта. Решение принимается </a:t>
              </a:r>
              <a:r>
                <a:rPr b="1" lang="ru" sz="72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в runtime</a:t>
              </a: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на основе фактического типа.</a:t>
              </a:r>
              <a:endParaRPr b="0" sz="72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714375" y="2047875"/>
              <a:ext cx="3476700" cy="1428900"/>
            </a:xfrm>
            <a:prstGeom prst="roundRect">
              <a:avLst>
                <a:gd fmla="val 4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8"/>
            <p:cNvSpPr txBox="1"/>
            <p:nvPr/>
          </p:nvSpPr>
          <p:spPr>
            <a:xfrm>
              <a:off x="857250" y="2143125"/>
              <a:ext cx="3190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50">
                  <a:solidFill>
                    <a:srgbClr val="666666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// Вызов метода подкласса в Java</a:t>
              </a:r>
              <a:endParaRPr b="1" sz="750">
                <a:solidFill>
                  <a:srgbClr val="666666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void example() {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List&lt;Instrument&gt; list = List.of(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  </a:t>
              </a: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new Stock(), 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  </a:t>
              </a: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new Bond(), 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  </a:t>
              </a: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new Etf()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);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for (Instrument instr : list) {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instr.getDescription(); // конкретный подкласс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</p:txBody>
        </p:sp>
      </p:grpSp>
      <p:grpSp>
        <p:nvGrpSpPr>
          <p:cNvPr id="351" name="Google Shape;351;p28"/>
          <p:cNvGrpSpPr/>
          <p:nvPr/>
        </p:nvGrpSpPr>
        <p:grpSpPr>
          <a:xfrm>
            <a:off x="4714875" y="1190625"/>
            <a:ext cx="3952800" cy="2476500"/>
            <a:chOff x="4714875" y="1190625"/>
            <a:chExt cx="3952800" cy="2476500"/>
          </a:xfrm>
        </p:grpSpPr>
        <p:sp>
          <p:nvSpPr>
            <p:cNvPr id="352" name="Google Shape;352;p28"/>
            <p:cNvSpPr/>
            <p:nvPr/>
          </p:nvSpPr>
          <p:spPr>
            <a:xfrm>
              <a:off x="4714875" y="119062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8"/>
            <p:cNvSpPr txBox="1"/>
            <p:nvPr/>
          </p:nvSpPr>
          <p:spPr>
            <a:xfrm>
              <a:off x="4953000" y="1381125"/>
              <a:ext cx="347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7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Перегрузка (overloading, compile-time)</a:t>
              </a:r>
              <a:endParaRPr b="1" sz="978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Несколько методов с одним именем, но разными сигнатурами параметров. Конкретный метод для вызова определяется компилятором </a:t>
              </a:r>
              <a:r>
                <a:rPr b="1" lang="ru" sz="72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в compile-time</a:t>
              </a: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по типам аргументов.</a:t>
              </a:r>
              <a:endParaRPr b="0" sz="72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4953000" y="2047875"/>
              <a:ext cx="3476700" cy="1428900"/>
            </a:xfrm>
            <a:prstGeom prst="roundRect">
              <a:avLst>
                <a:gd fmla="val 400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8"/>
            <p:cNvSpPr txBox="1"/>
            <p:nvPr/>
          </p:nvSpPr>
          <p:spPr>
            <a:xfrm>
              <a:off x="5095875" y="2143125"/>
              <a:ext cx="3190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50">
                  <a:solidFill>
                    <a:srgbClr val="666666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// Статический полиморфизм в Java</a:t>
              </a:r>
              <a:endParaRPr b="1" sz="750">
                <a:solidFill>
                  <a:srgbClr val="666666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int add(int a, int b) {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return a + b;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double add(double a, double b) {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return a + b;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String add(String a, String b) {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return a + b;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</p:txBody>
        </p:sp>
      </p:grpSp>
      <p:grpSp>
        <p:nvGrpSpPr>
          <p:cNvPr id="356" name="Google Shape;356;p28"/>
          <p:cNvGrpSpPr/>
          <p:nvPr/>
        </p:nvGrpSpPr>
        <p:grpSpPr>
          <a:xfrm>
            <a:off x="466725" y="3838575"/>
            <a:ext cx="8210700" cy="895500"/>
            <a:chOff x="466725" y="3838575"/>
            <a:chExt cx="8210700" cy="895500"/>
          </a:xfrm>
        </p:grpSpPr>
        <p:pic>
          <p:nvPicPr>
            <p:cNvPr id="357" name="Google Shape;35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725" y="3838575"/>
              <a:ext cx="8210700" cy="8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28"/>
            <p:cNvSpPr txBox="1"/>
            <p:nvPr/>
          </p:nvSpPr>
          <p:spPr>
            <a:xfrm>
              <a:off x="714375" y="4000500"/>
              <a:ext cx="771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ru" sz="110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rPr>
                <a:t>Шаблонный полиморфизм:</a:t>
              </a:r>
              <a:endParaRPr b="1" i="1" sz="1100">
                <a:solidFill>
                  <a:srgbClr val="0716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ru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Существует также параметрический (шаблонный) полиморфизм — механизм generics в Java. Эта тема подробно разбирается в рамках последующих семинаров нашего курса.</a:t>
              </a:r>
              <a:endParaRPr b="0" i="1"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476250" y="3810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Полиморфизм</a:t>
            </a:r>
            <a:endParaRPr b="0" sz="2400">
              <a:solidFill>
                <a:srgbClr val="11111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65" name="Google Shape;365;p29"/>
          <p:cNvSpPr txBox="1"/>
          <p:nvPr/>
        </p:nvSpPr>
        <p:spPr>
          <a:xfrm>
            <a:off x="476250" y="809625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25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Способность работать с объектами разных типов через единый общий интерфейс</a:t>
            </a:r>
            <a:endParaRPr b="1" sz="925">
              <a:solidFill>
                <a:srgbClr val="D32F2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66" name="Google Shape;366;p29"/>
          <p:cNvGrpSpPr/>
          <p:nvPr/>
        </p:nvGrpSpPr>
        <p:grpSpPr>
          <a:xfrm>
            <a:off x="476250" y="1190625"/>
            <a:ext cx="3952800" cy="2476500"/>
            <a:chOff x="476250" y="1190625"/>
            <a:chExt cx="3952800" cy="2476500"/>
          </a:xfrm>
        </p:grpSpPr>
        <p:sp>
          <p:nvSpPr>
            <p:cNvPr id="367" name="Google Shape;367;p29"/>
            <p:cNvSpPr/>
            <p:nvPr/>
          </p:nvSpPr>
          <p:spPr>
            <a:xfrm>
              <a:off x="476250" y="119062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9"/>
            <p:cNvSpPr txBox="1"/>
            <p:nvPr/>
          </p:nvSpPr>
          <p:spPr>
            <a:xfrm>
              <a:off x="666750" y="1381125"/>
              <a:ext cx="35718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Полиморфизм подтипов (subtype, runtime)</a:t>
              </a:r>
              <a:endParaRPr b="1" sz="92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694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Переопределение методов в подклассах. Код вызывает нужную реализацию в зависимости от конкретного типа объекта. Решение принимается </a:t>
              </a:r>
              <a:r>
                <a:rPr b="1" lang="ru" sz="69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в runtime</a:t>
              </a:r>
              <a:r>
                <a:rPr b="0" lang="ru" sz="694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на основе фактического типа.</a:t>
              </a:r>
              <a:endParaRPr b="0" sz="694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666750" y="2000250"/>
              <a:ext cx="3571800" cy="1476300"/>
            </a:xfrm>
            <a:prstGeom prst="roundRect">
              <a:avLst>
                <a:gd fmla="val 387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9"/>
            <p:cNvSpPr txBox="1"/>
            <p:nvPr/>
          </p:nvSpPr>
          <p:spPr>
            <a:xfrm>
              <a:off x="666750" y="2000250"/>
              <a:ext cx="35718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114300" spcFirstLastPara="1" rIns="114300" wrap="square" tIns="76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00">
                  <a:solidFill>
                    <a:srgbClr val="666666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// Вызов метода подкласса в Java</a:t>
              </a:r>
              <a:endParaRPr b="1" sz="700">
                <a:solidFill>
                  <a:srgbClr val="666666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void example() {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List&lt;Instrument&gt; list = List.of(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  new Stock(), new Bond(), new Etf()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);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for (Instrument instr : list) {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  instr.getDescription(); </a:t>
              </a:r>
              <a:r>
                <a:rPr b="1" lang="ru" sz="700">
                  <a:solidFill>
                    <a:srgbClr val="666666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// конкретный подкласс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}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</p:txBody>
        </p:sp>
      </p:grpSp>
      <p:grpSp>
        <p:nvGrpSpPr>
          <p:cNvPr id="371" name="Google Shape;371;p29"/>
          <p:cNvGrpSpPr/>
          <p:nvPr/>
        </p:nvGrpSpPr>
        <p:grpSpPr>
          <a:xfrm>
            <a:off x="4714875" y="1190625"/>
            <a:ext cx="3952800" cy="2476500"/>
            <a:chOff x="4714875" y="1190625"/>
            <a:chExt cx="3952800" cy="2476500"/>
          </a:xfrm>
        </p:grpSpPr>
        <p:sp>
          <p:nvSpPr>
            <p:cNvPr id="372" name="Google Shape;372;p29"/>
            <p:cNvSpPr/>
            <p:nvPr/>
          </p:nvSpPr>
          <p:spPr>
            <a:xfrm>
              <a:off x="4714875" y="119062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AF9F6"/>
            </a:solidFill>
            <a:ln cap="flat" cmpd="sng" w="14300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9"/>
            <p:cNvSpPr txBox="1"/>
            <p:nvPr/>
          </p:nvSpPr>
          <p:spPr>
            <a:xfrm>
              <a:off x="4905375" y="1381125"/>
              <a:ext cx="35718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Перегрузка (overloading, compile-time)</a:t>
              </a:r>
              <a:endParaRPr b="1" sz="92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694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Несколько методов с одним именем, но разными сигнатурами параметров. Конкретный метод для вызова определяется компилятором </a:t>
              </a:r>
              <a:r>
                <a:rPr b="1" lang="ru" sz="694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в compile-time</a:t>
              </a:r>
              <a:r>
                <a:rPr b="0" lang="ru" sz="694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 по типам аргументов.</a:t>
              </a:r>
              <a:endParaRPr b="0" sz="694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4905375" y="2000250"/>
              <a:ext cx="3571800" cy="1476300"/>
            </a:xfrm>
            <a:prstGeom prst="roundRect">
              <a:avLst>
                <a:gd fmla="val 3870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9"/>
            <p:cNvSpPr txBox="1"/>
            <p:nvPr/>
          </p:nvSpPr>
          <p:spPr>
            <a:xfrm>
              <a:off x="4905375" y="2000250"/>
              <a:ext cx="35718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114300" spcFirstLastPara="1" rIns="114300" wrap="square" tIns="76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700">
                  <a:solidFill>
                    <a:srgbClr val="666666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// Статический полиморфизм в Java</a:t>
              </a:r>
              <a:endParaRPr b="1" sz="700">
                <a:solidFill>
                  <a:srgbClr val="666666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int add(int a, int b) {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return a + b;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double add(double a, double b) {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return a + b;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String add(String a, String b) {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  return a + b;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0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b="0" sz="70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</p:txBody>
        </p:sp>
      </p:grpSp>
      <p:grpSp>
        <p:nvGrpSpPr>
          <p:cNvPr id="376" name="Google Shape;376;p29"/>
          <p:cNvGrpSpPr/>
          <p:nvPr/>
        </p:nvGrpSpPr>
        <p:grpSpPr>
          <a:xfrm>
            <a:off x="466725" y="3838575"/>
            <a:ext cx="8210700" cy="895500"/>
            <a:chOff x="466725" y="3838575"/>
            <a:chExt cx="8210700" cy="895500"/>
          </a:xfrm>
        </p:grpSpPr>
        <p:pic>
          <p:nvPicPr>
            <p:cNvPr id="377" name="Google Shape;377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725" y="3838575"/>
              <a:ext cx="8210700" cy="8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29"/>
            <p:cNvSpPr txBox="1"/>
            <p:nvPr/>
          </p:nvSpPr>
          <p:spPr>
            <a:xfrm>
              <a:off x="714375" y="4000500"/>
              <a:ext cx="771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71699"/>
                  </a:solidFill>
                  <a:latin typeface="Inter"/>
                  <a:ea typeface="Inter"/>
                  <a:cs typeface="Inter"/>
                  <a:sym typeface="Inter"/>
                </a:rPr>
                <a:t>Шаблонный полиморфизм:</a:t>
              </a:r>
              <a:endParaRPr b="1" sz="1100">
                <a:solidFill>
                  <a:srgbClr val="0716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Существует также параметрический (шаблонный) полиморфизм — механизм generics в Java. Эта тема подробно разбирается в рамках последующих семинаров нашего курса.</a:t>
              </a:r>
              <a:endParaRPr b="0"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30"/>
          <p:cNvGrpSpPr/>
          <p:nvPr/>
        </p:nvGrpSpPr>
        <p:grpSpPr>
          <a:xfrm>
            <a:off x="476250" y="333375"/>
            <a:ext cx="8191500" cy="628650"/>
            <a:chOff x="476250" y="333375"/>
            <a:chExt cx="8191500" cy="628650"/>
          </a:xfrm>
        </p:grpSpPr>
        <p:sp>
          <p:nvSpPr>
            <p:cNvPr id="385" name="Google Shape;385;p30"/>
            <p:cNvSpPr txBox="1"/>
            <p:nvPr/>
          </p:nvSpPr>
          <p:spPr>
            <a:xfrm>
              <a:off x="476250" y="333375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24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Как принципы работают вместе</a:t>
              </a:r>
              <a:endParaRPr b="0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86" name="Google Shape;386;p30"/>
            <p:cNvSpPr txBox="1"/>
            <p:nvPr/>
          </p:nvSpPr>
          <p:spPr>
            <a:xfrm>
              <a:off x="476250" y="733425"/>
              <a:ext cx="819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50">
                  <a:solidFill>
                    <a:srgbClr val="D32F2F"/>
                  </a:solidFill>
                  <a:latin typeface="Inter"/>
                  <a:ea typeface="Inter"/>
                  <a:cs typeface="Inter"/>
                  <a:sym typeface="Inter"/>
                </a:rPr>
                <a:t>Три принципа — это не независимый список, а взаимосвязанная система ООП</a:t>
              </a:r>
              <a:endParaRPr b="1" sz="1050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7" name="Google Shape;387;p30"/>
          <p:cNvGrpSpPr/>
          <p:nvPr/>
        </p:nvGrpSpPr>
        <p:grpSpPr>
          <a:xfrm>
            <a:off x="476250" y="1095375"/>
            <a:ext cx="3952800" cy="2476500"/>
            <a:chOff x="476250" y="1095375"/>
            <a:chExt cx="3952800" cy="2476500"/>
          </a:xfrm>
        </p:grpSpPr>
        <p:sp>
          <p:nvSpPr>
            <p:cNvPr id="388" name="Google Shape;388;p30"/>
            <p:cNvSpPr/>
            <p:nvPr/>
          </p:nvSpPr>
          <p:spPr>
            <a:xfrm>
              <a:off x="476250" y="1095375"/>
              <a:ext cx="39528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0"/>
            <p:cNvSpPr txBox="1"/>
            <p:nvPr/>
          </p:nvSpPr>
          <p:spPr>
            <a:xfrm>
              <a:off x="666750" y="1285875"/>
              <a:ext cx="35718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Полиморфизм подтипов невозможен без наследования</a:t>
              </a:r>
              <a:endParaRPr b="1" sz="93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Полиморфизм подтипов построен на иерархии типов. Без наследования (или реализации общего интерфейса) нет общего типа, через который можно единообразно обращаться к разным объектам:</a:t>
              </a:r>
              <a:endParaRPr b="0" sz="72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666750" y="2286000"/>
              <a:ext cx="3571800" cy="1095300"/>
            </a:xfrm>
            <a:prstGeom prst="roundRect">
              <a:avLst>
                <a:gd fmla="val 5217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0"/>
            <p:cNvSpPr txBox="1"/>
            <p:nvPr/>
          </p:nvSpPr>
          <p:spPr>
            <a:xfrm>
              <a:off x="781050" y="2362200"/>
              <a:ext cx="3343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for (Instrument instr : instruments) {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    </a:t>
              </a: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// работает, т.к. Stock, Bond, Etf — это Instrument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    </a:t>
              </a:r>
              <a:r>
                <a:rPr b="0"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System.out.println(instr.getDescription());</a:t>
              </a:r>
              <a:endParaRPr b="0"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750">
                  <a:solidFill>
                    <a:srgbClr val="071699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}</a:t>
              </a:r>
              <a:endParaRPr sz="750">
                <a:solidFill>
                  <a:srgbClr val="071699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</p:txBody>
        </p:sp>
      </p:grpSp>
      <p:grpSp>
        <p:nvGrpSpPr>
          <p:cNvPr id="392" name="Google Shape;392;p30"/>
          <p:cNvGrpSpPr/>
          <p:nvPr/>
        </p:nvGrpSpPr>
        <p:grpSpPr>
          <a:xfrm>
            <a:off x="4714875" y="1095375"/>
            <a:ext cx="3952800" cy="1162200"/>
            <a:chOff x="4714875" y="1095375"/>
            <a:chExt cx="3952800" cy="1162200"/>
          </a:xfrm>
        </p:grpSpPr>
        <p:sp>
          <p:nvSpPr>
            <p:cNvPr id="393" name="Google Shape;393;p30"/>
            <p:cNvSpPr/>
            <p:nvPr/>
          </p:nvSpPr>
          <p:spPr>
            <a:xfrm>
              <a:off x="4714875" y="1095375"/>
              <a:ext cx="3952800" cy="1162200"/>
            </a:xfrm>
            <a:prstGeom prst="roundRect">
              <a:avLst>
                <a:gd fmla="val 983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0"/>
            <p:cNvSpPr txBox="1"/>
            <p:nvPr/>
          </p:nvSpPr>
          <p:spPr>
            <a:xfrm>
              <a:off x="4905375" y="1266825"/>
              <a:ext cx="3571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Наследование без полиморфизма почти бессмысленно</a:t>
              </a:r>
              <a:endParaRPr b="1" sz="93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Без полиморфизма наследование сводится к простому копированию полей и методов от родителя. Переиспользование кода полезно, но без возможности переопределять поведение наследование теряет силу.</a:t>
              </a:r>
              <a:endParaRPr b="0" sz="72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5" name="Google Shape;395;p30"/>
          <p:cNvGrpSpPr/>
          <p:nvPr/>
        </p:nvGrpSpPr>
        <p:grpSpPr>
          <a:xfrm>
            <a:off x="4714875" y="2409825"/>
            <a:ext cx="3952800" cy="1162200"/>
            <a:chOff x="4714875" y="2409825"/>
            <a:chExt cx="3952800" cy="1162200"/>
          </a:xfrm>
        </p:grpSpPr>
        <p:sp>
          <p:nvSpPr>
            <p:cNvPr id="396" name="Google Shape;396;p30"/>
            <p:cNvSpPr/>
            <p:nvPr/>
          </p:nvSpPr>
          <p:spPr>
            <a:xfrm>
              <a:off x="4714875" y="2409825"/>
              <a:ext cx="3952800" cy="1162200"/>
            </a:xfrm>
            <a:prstGeom prst="roundRect">
              <a:avLst>
                <a:gd fmla="val 9836" name="adj"/>
              </a:avLst>
            </a:prstGeom>
            <a:solidFill>
              <a:srgbClr val="FFFFFF"/>
            </a:solidFill>
            <a:ln cap="flat" cmpd="sng" w="9525">
              <a:solidFill>
                <a:srgbClr val="EAE9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0"/>
            <p:cNvSpPr txBox="1"/>
            <p:nvPr/>
          </p:nvSpPr>
          <p:spPr>
            <a:xfrm>
              <a:off x="4905375" y="2581275"/>
              <a:ext cx="35718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3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Инкапсуляция — фундамент, без которого всё "течёт"</a:t>
              </a:r>
              <a:endParaRPr b="1" sz="93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723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Без сокрытия реализации внутреннее состояние торчит наружу и любой может его испортить. Тогда ни наследование, ни полиморфизм не спасают — иерархия строится поверх объектов, которым нельзя доверять.</a:t>
              </a:r>
              <a:endParaRPr b="0" sz="723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8" name="Google Shape;398;p30"/>
          <p:cNvGrpSpPr/>
          <p:nvPr/>
        </p:nvGrpSpPr>
        <p:grpSpPr>
          <a:xfrm>
            <a:off x="476250" y="3762375"/>
            <a:ext cx="8191500" cy="904800"/>
            <a:chOff x="476250" y="3762375"/>
            <a:chExt cx="8191500" cy="904800"/>
          </a:xfrm>
        </p:grpSpPr>
        <p:sp>
          <p:nvSpPr>
            <p:cNvPr id="399" name="Google Shape;399;p30"/>
            <p:cNvSpPr/>
            <p:nvPr/>
          </p:nvSpPr>
          <p:spPr>
            <a:xfrm>
              <a:off x="476250" y="3762375"/>
              <a:ext cx="8191500" cy="904800"/>
            </a:xfrm>
            <a:prstGeom prst="roundRect">
              <a:avLst>
                <a:gd fmla="val 12631" name="adj"/>
              </a:avLst>
            </a:prstGeom>
            <a:solidFill>
              <a:srgbClr val="F0EFFB"/>
            </a:solidFill>
            <a:ln cap="flat" cmpd="sng" w="9525">
              <a:solidFill>
                <a:srgbClr val="E5E4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0"/>
            <p:cNvSpPr txBox="1"/>
            <p:nvPr/>
          </p:nvSpPr>
          <p:spPr>
            <a:xfrm>
              <a:off x="666750" y="3905250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 ИНКАПСУЛЯЦИЯ</a:t>
              </a:r>
              <a:endParaRPr b="0" sz="8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Защита состояния</a:t>
              </a:r>
              <a:endParaRPr b="1"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Скрыли реализацию, защитили инварианты состояния</a:t>
              </a:r>
              <a:endParaRPr b="0"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01" name="Google Shape;401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3725" y="4152900"/>
              <a:ext cx="2571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2" name="Google Shape;402;p30"/>
            <p:cNvSpPr txBox="1"/>
            <p:nvPr/>
          </p:nvSpPr>
          <p:spPr>
            <a:xfrm>
              <a:off x="3571875" y="3905250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 НАСЛЕДОВАНИЕ</a:t>
              </a:r>
              <a:endParaRPr b="0" sz="8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Иерархия объектов</a:t>
              </a:r>
              <a:endParaRPr b="1"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Строим иерархии поверх надёжных и стабильных объектов</a:t>
              </a:r>
              <a:endParaRPr b="0"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403" name="Google Shape;403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38850" y="4152900"/>
              <a:ext cx="25710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0"/>
            <p:cNvSpPr txBox="1"/>
            <p:nvPr/>
          </p:nvSpPr>
          <p:spPr>
            <a:xfrm>
              <a:off x="6477000" y="3905250"/>
              <a:ext cx="20001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800">
                  <a:solidFill>
                    <a:srgbClr val="071699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 ПОЛИМОРФИЗМ</a:t>
              </a:r>
              <a:endParaRPr b="0" sz="800">
                <a:solidFill>
                  <a:srgbClr val="071699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Единый интерфейс</a:t>
              </a:r>
              <a:endParaRPr b="1"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8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Работаем со всей созданной иерархией через единый общий тип</a:t>
              </a:r>
              <a:endParaRPr b="0" sz="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