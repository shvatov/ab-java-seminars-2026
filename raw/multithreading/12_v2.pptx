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751" r:id="rId2"/>
    <p:sldId id="833" r:id="rId3"/>
    <p:sldId id="755" r:id="rId4"/>
    <p:sldId id="756" r:id="rId5"/>
    <p:sldId id="828" r:id="rId6"/>
    <p:sldId id="911" r:id="rId7"/>
    <p:sldId id="912" r:id="rId8"/>
    <p:sldId id="913" r:id="rId9"/>
    <p:sldId id="915" r:id="rId10"/>
    <p:sldId id="916" r:id="rId11"/>
    <p:sldId id="917" r:id="rId12"/>
    <p:sldId id="914" r:id="rId13"/>
    <p:sldId id="919" r:id="rId14"/>
    <p:sldId id="920" r:id="rId15"/>
    <p:sldId id="921" r:id="rId16"/>
    <p:sldId id="939" r:id="rId17"/>
    <p:sldId id="922" r:id="rId18"/>
    <p:sldId id="940" r:id="rId19"/>
    <p:sldId id="923" r:id="rId20"/>
    <p:sldId id="941" r:id="rId21"/>
    <p:sldId id="924" r:id="rId22"/>
    <p:sldId id="873" r:id="rId23"/>
    <p:sldId id="925" r:id="rId24"/>
    <p:sldId id="926" r:id="rId25"/>
    <p:sldId id="928" r:id="rId26"/>
    <p:sldId id="929" r:id="rId27"/>
    <p:sldId id="943" r:id="rId28"/>
    <p:sldId id="930" r:id="rId29"/>
    <p:sldId id="918" r:id="rId30"/>
    <p:sldId id="842" r:id="rId31"/>
    <p:sldId id="843" r:id="rId32"/>
    <p:sldId id="844" r:id="rId33"/>
    <p:sldId id="931" r:id="rId34"/>
    <p:sldId id="934" r:id="rId35"/>
    <p:sldId id="935" r:id="rId36"/>
    <p:sldId id="932" r:id="rId37"/>
    <p:sldId id="936" r:id="rId38"/>
    <p:sldId id="937" r:id="rId39"/>
    <p:sldId id="938" r:id="rId40"/>
    <p:sldId id="856" r:id="rId41"/>
    <p:sldId id="779" r:id="rId42"/>
  </p:sldIdLst>
  <p:sldSz cx="19799300" cy="11160125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Tinkoff Sans" panose="02000506050000020004" pitchFamily="2" charset="77"/>
      <p:regular r:id="rId49"/>
      <p:bold r:id="rId50"/>
    </p:embeddedFont>
    <p:embeddedFont>
      <p:font typeface="TINKOFFSANS-MEDIUM" panose="02000806050000020004" pitchFamily="2" charset="77"/>
      <p:regular r:id="rId51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3514" userDrawn="1">
          <p15:clr>
            <a:srgbClr val="A4A3A4"/>
          </p15:clr>
        </p15:guide>
        <p15:guide id="2" orient="horz" pos="10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7FE4"/>
    <a:srgbClr val="72A242"/>
    <a:srgbClr val="E2611D"/>
    <a:srgbClr val="E5ECFF"/>
    <a:srgbClr val="F5F5F6"/>
    <a:srgbClr val="458BF9"/>
    <a:srgbClr val="F5F5F8"/>
    <a:srgbClr val="F9F9F9"/>
    <a:srgbClr val="FFDD2C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07"/>
    <p:restoredTop sz="78159"/>
  </p:normalViewPr>
  <p:slideViewPr>
    <p:cSldViewPr snapToGrid="0" snapToObjects="1" showGuides="1">
      <p:cViewPr varScale="1">
        <p:scale>
          <a:sx n="77" d="100"/>
          <a:sy n="77" d="100"/>
        </p:scale>
        <p:origin x="1712" y="184"/>
      </p:cViewPr>
      <p:guideLst>
        <p:guide pos="3514"/>
        <p:guide orient="horz" pos="1020"/>
      </p:guideLst>
    </p:cSldViewPr>
  </p:slideViewPr>
  <p:outlineViewPr>
    <p:cViewPr>
      <p:scale>
        <a:sx n="33" d="100"/>
        <a:sy n="33" d="100"/>
      </p:scale>
      <p:origin x="0" y="-3620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09" d="100"/>
          <a:sy n="109" d="100"/>
        </p:scale>
        <p:origin x="342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/>
              <a:t>27.11.2024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highlight>
          <a:srgbClr val="FFFF00"/>
        </a:highlight>
        <a:latin typeface="Tinkoff Sans" panose="02000506050000020004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05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381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387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36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5788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2147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8894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5243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693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6997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3629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851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7977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2348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595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6116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0270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7525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46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7710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1366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979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480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58999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679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4310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79663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6264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2227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32319085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28412399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24734087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6140327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4124324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41044961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67516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2387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95337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solidFill>
                <a:srgbClr val="458B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6012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пустого слайда </a:t>
            </a:r>
          </a:p>
          <a:p>
            <a:r>
              <a:rPr lang="ru-RU" dirty="0"/>
              <a:t>(используется если не один пример не подходит для внутренних страниц)</a:t>
            </a:r>
          </a:p>
        </p:txBody>
      </p:sp>
    </p:spTree>
    <p:extLst>
      <p:ext uri="{BB962C8B-B14F-4D97-AF65-F5344CB8AC3E}">
        <p14:creationId xmlns:p14="http://schemas.microsoft.com/office/powerpoint/2010/main" val="12700451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5008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995965-FCC0-F0BF-8CE3-2A85BF3ED5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>
            <a:extLst>
              <a:ext uri="{FF2B5EF4-FFF2-40B4-BE49-F238E27FC236}">
                <a16:creationId xmlns:a16="http://schemas.microsoft.com/office/drawing/2014/main" id="{4FE4236F-2DEA-12BF-C5E2-0CB81B917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 panose="02000506050000020004" pitchFamily="2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949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390C7A8-CC92-BCD7-41CC-6B4A3773CAD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8003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7F778333-59A3-2642-BE91-04276F1F75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6F39FC-2939-B6FC-5A41-54D0CC824EB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9475933-2594-4AEB-86E0-731D1D9BF899}"/>
              </a:ext>
            </a:extLst>
          </p:cNvPr>
          <p:cNvSpPr txBox="1">
            <a:spLocks/>
          </p:cNvSpPr>
          <p:nvPr userDrawn="1"/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0" marR="0" indent="450029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0" marR="0" indent="90006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0" marR="0" indent="135008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0" marR="0" indent="180012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0" marR="0" indent="225014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0" marR="0" indent="270017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0" marR="0" indent="315020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0" marR="0" indent="360023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1360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7F778333-59A3-2642-BE91-04276F1F75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r>
              <a:rPr lang="en-US" dirty="0"/>
              <a:t>1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FD1F63-EE09-18B7-1F6B-E87CE498A3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5" b="12816"/>
          <a:stretch/>
        </p:blipFill>
        <p:spPr>
          <a:xfrm>
            <a:off x="0" y="-1"/>
            <a:ext cx="19823463" cy="1116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067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>
            <a:extLst>
              <a:ext uri="{FF2B5EF4-FFF2-40B4-BE49-F238E27FC236}">
                <a16:creationId xmlns:a16="http://schemas.microsoft.com/office/drawing/2014/main" id="{75D008F1-66DD-C004-C478-B7AB4B727785}"/>
              </a:ext>
            </a:extLst>
          </p:cNvPr>
          <p:cNvSpPr/>
          <p:nvPr userDrawn="1"/>
        </p:nvSpPr>
        <p:spPr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Прямоугольник с одним скругленным углом 2">
            <a:extLst>
              <a:ext uri="{FF2B5EF4-FFF2-40B4-BE49-F238E27FC236}">
                <a16:creationId xmlns:a16="http://schemas.microsoft.com/office/drawing/2014/main" id="{6427A52A-A170-AD6C-355A-D28719B9B96F}"/>
              </a:ext>
            </a:extLst>
          </p:cNvPr>
          <p:cNvSpPr/>
          <p:nvPr userDrawn="1"/>
        </p:nvSpPr>
        <p:spPr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4B22B15-9CD3-0A0E-6673-06A97918B7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56441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F900DCD-3DB9-C21F-8EE7-2A4B133EF24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38389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21524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23EA6E-2B43-084D-A39B-6FBBD0525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>
            <a:extLst>
              <a:ext uri="{FF2B5EF4-FFF2-40B4-BE49-F238E27FC236}">
                <a16:creationId xmlns:a16="http://schemas.microsoft.com/office/drawing/2014/main" id="{CC64711E-108F-6C69-B85E-DEBE2D8361B9}"/>
              </a:ext>
            </a:extLst>
          </p:cNvPr>
          <p:cNvSpPr/>
          <p:nvPr userDrawn="1"/>
        </p:nvSpPr>
        <p:spPr>
          <a:xfrm rot="10800000" flipH="1">
            <a:off x="10520490" y="0"/>
            <a:ext cx="9287822" cy="10458916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/>
            <a:endParaRPr lang="ru-RU" sz="1796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9059ADDE-EB1D-5FB1-1DB0-8992C3CB57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6899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244505-F7EC-F646-85E0-A42DEF51D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692"/>
          <a:stretch/>
        </p:blipFill>
        <p:spPr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>
            <a:extLst>
              <a:ext uri="{FF2B5EF4-FFF2-40B4-BE49-F238E27FC236}">
                <a16:creationId xmlns:a16="http://schemas.microsoft.com/office/drawing/2014/main" id="{77CD4A8F-DEA6-AEF2-9388-7CF41EDEFFD1}"/>
              </a:ext>
            </a:extLst>
          </p:cNvPr>
          <p:cNvSpPr/>
          <p:nvPr userDrawn="1"/>
        </p:nvSpPr>
        <p:spPr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/>
            <a:endParaRPr lang="ru-RU" sz="1796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85E07B2-C0E4-7A4B-23C2-A00ED9EBC1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6546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990E6B97-9591-7743-A53E-03339621AA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B46C4C-1034-10A7-9D85-BA384285E2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502827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B46C4582-C7E9-4148-8884-41BD35BD10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0" rIns="0"/>
          <a:lstStyle>
            <a:lvl1pPr>
              <a:defRPr>
                <a:noFill/>
              </a:defRPr>
            </a:lvl1pPr>
          </a:lstStyle>
          <a:p>
            <a:endParaRPr lang="ru-RU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075107F-80DE-B50D-C61F-B6BD51331F9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704337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7">
            <a:extLst>
              <a:ext uri="{FF2B5EF4-FFF2-40B4-BE49-F238E27FC236}">
                <a16:creationId xmlns:a16="http://schemas.microsoft.com/office/drawing/2014/main" id="{FE972032-6100-9715-A133-BC54EDE512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 panose="0200050605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6EB488C-C959-31E5-22D5-64CE6C93BD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9353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 pitchFamily="2" charset="2"/>
              <a:buNone/>
              <a:tabLst>
                <a:tab pos="4711865" algn="l"/>
              </a:tabLst>
              <a:defRPr sz="2756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tabLst>
                <a:tab pos="4711865" algn="l"/>
              </a:tabLst>
              <a:defRPr sz="2756" spc="11"/>
            </a:lvl5pPr>
          </a:lstStyle>
          <a:p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 pitchFamily="2" charset="2"/>
              <a:buNone/>
              <a:defRPr sz="5905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7CECC76-94C9-30F4-A0F6-8F4201CD711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6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6" spc="11"/>
            </a:lvl5pPr>
          </a:lstStyle>
          <a:p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7" spc="-97">
                <a:solidFill>
                  <a:srgbClr val="282828"/>
                </a:solidFill>
              </a:defRPr>
            </a:lvl1pPr>
          </a:lstStyle>
          <a:p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7" spc="-97">
                <a:solidFill>
                  <a:srgbClr val="282828"/>
                </a:solidFill>
              </a:defRPr>
            </a:lvl1pPr>
          </a:lstStyle>
          <a:p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5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238F5AD3-F762-7697-4634-D1BE6EAC44E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>
            <a:extLst>
              <a:ext uri="{FF2B5EF4-FFF2-40B4-BE49-F238E27FC236}">
                <a16:creationId xmlns:a16="http://schemas.microsoft.com/office/drawing/2014/main" id="{6F862D36-75F5-734D-B2BD-3B1AD33DD12E}"/>
              </a:ext>
            </a:extLst>
          </p:cNvPr>
          <p:cNvSpPr/>
          <p:nvPr userDrawn="1"/>
        </p:nvSpPr>
        <p:spPr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E37AE35-2B96-3BF8-42DE-2E13E8395D8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167496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A09AFDF4-B415-7049-1D9A-3437F04E05C2}"/>
              </a:ext>
            </a:extLst>
          </p:cNvPr>
          <p:cNvSpPr/>
          <p:nvPr userDrawn="1"/>
        </p:nvSpPr>
        <p:spPr>
          <a:xfrm rot="16200000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2AA2099-DA1E-9EB9-91DB-61067B0895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53192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B85A017-193B-B346-A6A8-D35AFF7654BB}"/>
              </a:ext>
            </a:extLst>
          </p:cNvPr>
          <p:cNvSpPr/>
          <p:nvPr userDrawn="1"/>
        </p:nvSpPr>
        <p:spPr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D767E0E-239F-ECF8-7702-D740AA94F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08416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1126161-E8DB-AE4A-B93F-7680CA78E8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968"/>
            </a:lvl1pPr>
          </a:lstStyle>
          <a:p>
            <a:fld id="{86CB4B4D-7CA3-9044-876B-883B54F8677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0106480-AD69-C24B-9D63-9A432F463E77}"/>
              </a:ext>
            </a:extLst>
          </p:cNvPr>
          <p:cNvSpPr/>
          <p:nvPr userDrawn="1"/>
        </p:nvSpPr>
        <p:spPr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94C479B-8287-A554-C925-77FDC6E56631}"/>
              </a:ext>
            </a:extLst>
          </p:cNvPr>
          <p:cNvSpPr txBox="1">
            <a:spLocks/>
          </p:cNvSpPr>
          <p:nvPr userDrawn="1"/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0" marR="0" indent="450029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0" marR="0" indent="90006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0" marR="0" indent="135008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0" marR="0" indent="180012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0" marR="0" indent="225014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0" marR="0" indent="270017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0" marR="0" indent="315020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0" marR="0" indent="360023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441808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3515" userDrawn="1">
          <p15:clr>
            <a:srgbClr val="FBAE40"/>
          </p15:clr>
        </p15:guide>
        <p15:guide id="2" pos="623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0106480-AD69-C24B-9D63-9A432F463E77}"/>
              </a:ext>
            </a:extLst>
          </p:cNvPr>
          <p:cNvSpPr/>
          <p:nvPr userDrawn="1"/>
        </p:nvSpPr>
        <p:spPr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3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673694B7-2C77-28AC-8CAF-B798852D7084}"/>
              </a:ext>
            </a:extLst>
          </p:cNvPr>
          <p:cNvSpPr/>
          <p:nvPr userDrawn="1"/>
        </p:nvSpPr>
        <p:spPr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7682F18-8DFA-8B45-AC66-2469D8713F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61144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B09A6F8-A775-8715-407E-C69332CBC5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4131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956256C-48F3-269E-DA0B-F9F36FC0D7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9634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415926E-81EF-1466-7D52-DAD555E2414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287615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6B8652C-FA1B-2FC2-99D3-787F0C4EBE7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64169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229569A8-7A8E-3D0A-16C6-4155BC32BCE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D836DD8A-88BD-8A42-80E4-A7C2F04B7310}"/>
              </a:ext>
            </a:extLst>
          </p:cNvPr>
          <p:cNvSpPr/>
          <p:nvPr userDrawn="1"/>
        </p:nvSpPr>
        <p:spPr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25DE1B06-3FF2-5ADB-6D74-35914AC912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951E70BA-05EB-F336-3056-93940562B4E6}"/>
              </a:ext>
            </a:extLst>
          </p:cNvPr>
          <p:cNvSpPr/>
          <p:nvPr userDrawn="1"/>
        </p:nvSpPr>
        <p:spPr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B84B1957-28B5-8D21-744F-F897A0D9E7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205054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823704E-EFE0-CB52-4796-7B56DAC6A2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E1284951-4FA0-549A-DB8B-17E874F7259B}"/>
              </a:ext>
            </a:extLst>
          </p:cNvPr>
          <p:cNvSpPr/>
          <p:nvPr userDrawn="1"/>
        </p:nvSpPr>
        <p:spPr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CC0A6812-B280-5295-0583-309E15E5F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01A1CA1B-2CEB-A7AA-005B-F864380D4AA7}"/>
              </a:ext>
            </a:extLst>
          </p:cNvPr>
          <p:cNvSpPr/>
          <p:nvPr userDrawn="1"/>
        </p:nvSpPr>
        <p:spPr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5986BE78-CABD-8A4C-1A7A-B89AC087E5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860526FA-B0DF-F38D-500D-99931D181914}"/>
              </a:ext>
            </a:extLst>
          </p:cNvPr>
          <p:cNvSpPr/>
          <p:nvPr userDrawn="1"/>
        </p:nvSpPr>
        <p:spPr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CA5CBEC2-5501-3A45-7BA0-FB9966037A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36869491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19ED438-C155-D7D1-A71E-4CF48940737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866B1C34-2642-3861-B25A-6D89741AFC8B}"/>
              </a:ext>
            </a:extLst>
          </p:cNvPr>
          <p:cNvSpPr/>
          <p:nvPr userDrawn="1"/>
        </p:nvSpPr>
        <p:spPr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5" name="Рисунок 8">
            <a:extLst>
              <a:ext uri="{FF2B5EF4-FFF2-40B4-BE49-F238E27FC236}">
                <a16:creationId xmlns:a16="http://schemas.microsoft.com/office/drawing/2014/main" id="{8B1A7973-D2AA-1AE6-F6FF-AF9582D91C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2098FCED-FF7D-5260-17DA-7B47498D6323}"/>
              </a:ext>
            </a:extLst>
          </p:cNvPr>
          <p:cNvSpPr/>
          <p:nvPr userDrawn="1"/>
        </p:nvSpPr>
        <p:spPr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7" name="Рисунок 8">
            <a:extLst>
              <a:ext uri="{FF2B5EF4-FFF2-40B4-BE49-F238E27FC236}">
                <a16:creationId xmlns:a16="http://schemas.microsoft.com/office/drawing/2014/main" id="{275BE649-A240-5BF8-CA73-F88A2E76B5A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4766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F9EECE99-41F0-A950-305B-B592909EEE1F}"/>
              </a:ext>
            </a:extLst>
          </p:cNvPr>
          <p:cNvSpPr/>
          <p:nvPr userDrawn="1"/>
        </p:nvSpPr>
        <p:spPr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61E8FA02-2B73-F06B-B08E-E0124115192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69497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B02D0100-CFAF-4DDB-3D1F-B434992E4A3D}"/>
              </a:ext>
            </a:extLst>
          </p:cNvPr>
          <p:cNvSpPr/>
          <p:nvPr userDrawn="1"/>
        </p:nvSpPr>
        <p:spPr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2" name="Рисунок 8">
            <a:extLst>
              <a:ext uri="{FF2B5EF4-FFF2-40B4-BE49-F238E27FC236}">
                <a16:creationId xmlns:a16="http://schemas.microsoft.com/office/drawing/2014/main" id="{0A0D914A-D415-0922-3C8B-9AE3EE97A2A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3E84AB2C-372D-4351-5172-09F9FFBB7AF4}"/>
              </a:ext>
            </a:extLst>
          </p:cNvPr>
          <p:cNvSpPr/>
          <p:nvPr userDrawn="1"/>
        </p:nvSpPr>
        <p:spPr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 sz="2923" dirty="0">
              <a:latin typeface="Tinkoff Sans" panose="02000506050000020004" pitchFamily="2" charset="0"/>
            </a:endParaRPr>
          </a:p>
        </p:txBody>
      </p:sp>
      <p:sp>
        <p:nvSpPr>
          <p:cNvPr id="14" name="Рисунок 8">
            <a:extLst>
              <a:ext uri="{FF2B5EF4-FFF2-40B4-BE49-F238E27FC236}">
                <a16:creationId xmlns:a16="http://schemas.microsoft.com/office/drawing/2014/main" id="{74B8F810-A681-B94B-F40B-C6351E3E0F7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kumimoji="0" lang="ru-RU" sz="2400" normalizeH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endParaRPr lang="ru-RU" dirty="0"/>
          </a:p>
          <a:p>
            <a:pPr lvl="0" defTabSz="457200" fontAlgn="auto" hangingPunct="0">
              <a:lnSpc>
                <a:spcPct val="100000"/>
              </a:lnSpc>
              <a:spcBef>
                <a:spcPts val="0"/>
              </a:spcBef>
              <a:buSzTx/>
              <a:buFontTx/>
            </a:pPr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424602004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6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5pPr>
          </a:lstStyle>
          <a:p>
            <a:r>
              <a:t>Заголовок слайда вашей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A59BAAE-503F-636C-D1D4-89E57770C7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934803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2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22"/>
            </a:lvl5pPr>
          </a:lstStyle>
          <a:p>
            <a:r>
              <a:t>Заголовок слайда вашей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CD8ABAC-5583-3BA9-0E9F-37251C23D9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98989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0853" y="5377809"/>
            <a:ext cx="13859510" cy="4134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FF158A-7454-495D-9C21-F46587E7F9F6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4959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ТС заголовок в 1 строку c картин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 pitchFamily="2" charset="2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r>
              <a:rPr dirty="0" err="1"/>
              <a:t>Заголовок</a:t>
            </a:r>
            <a:r>
              <a:rPr dirty="0"/>
              <a:t> </a:t>
            </a:r>
            <a:r>
              <a:rPr dirty="0" err="1"/>
              <a:t>слайда</a:t>
            </a:r>
            <a:r>
              <a:rPr dirty="0"/>
              <a:t>  </a:t>
            </a:r>
            <a:r>
              <a:rPr dirty="0" err="1"/>
              <a:t>вашей</a:t>
            </a:r>
            <a:r>
              <a:rPr dirty="0"/>
              <a:t> </a:t>
            </a:r>
            <a:r>
              <a:rPr dirty="0" err="1"/>
              <a:t>презентации</a:t>
            </a:r>
            <a:endParaRPr dirty="0"/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endParaRPr dirty="0"/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EF9D6109-D4B5-CF31-E3BC-50D39DECFAF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06708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С заголовок в 4 стро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3">
            <a:extLst>
              <a:ext uri="{FF2B5EF4-FFF2-40B4-BE49-F238E27FC236}">
                <a16:creationId xmlns:a16="http://schemas.microsoft.com/office/drawing/2014/main" id="{B9D98041-F04C-AD4D-9D86-5350C763691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AD63D9-72CC-414C-8513-FEC94A6659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 rtl="0" eaLnBrk="1" fontAlgn="auto" latinLnBrk="0" hangingPunct="1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000" spc="0"/>
            </a:lvl1pPr>
          </a:lstStyle>
          <a:p>
            <a:pPr lvl="0"/>
            <a:r>
              <a:rPr lang="ru-RU" dirty="0"/>
              <a:t>01.01.2024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F920E21F-7837-BF45-A411-A34ACF1444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2491" y="10031915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0"/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116" b="0" i="0" u="none" strike="noStrike" kern="0" cap="none" spc="8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Автор</a:t>
            </a:r>
            <a:r>
              <a:rPr kumimoji="0" lang="ru-RU" sz="2116" b="0" i="0" u="none" strike="noStrike" kern="0" cap="none" spc="1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2116" b="0" i="0" u="none" strike="noStrike" kern="0" cap="none" spc="10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211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16" name="Текст 11">
            <a:extLst>
              <a:ext uri="{FF2B5EF4-FFF2-40B4-BE49-F238E27FC236}">
                <a16:creationId xmlns:a16="http://schemas.microsoft.com/office/drawing/2014/main" id="{00C10E39-A010-D24C-8F69-F5D1B7344A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2491" y="6298655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51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Место</a:t>
            </a:r>
            <a:r>
              <a:rPr kumimoji="0" lang="ru-RU" sz="3298" b="0" i="0" u="none" strike="noStrike" kern="0" cap="none" spc="112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3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для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дополнительного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текста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329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9C6A0592-1DA6-C945-8964-3F4C0640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1" i="0">
                <a:latin typeface="Tinkoff Sans" panose="02000506050000020004" pitchFamily="2" charset="0"/>
                <a:ea typeface="Tinkoff Sans" panose="02000506050000020004" pitchFamily="2" charset="0"/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Заголовок</a:t>
            </a:r>
            <a:r>
              <a:rPr kumimoji="0" lang="ru-RU" sz="8758" b="0" i="0" u="none" strike="noStrike" kern="0" cap="none" spc="-24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8758" b="0" i="0" u="none" strike="noStrike" kern="0" cap="none" spc="-19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875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34B313-4500-52E7-39B4-1BF9C0A64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23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С заголовок в 4 стро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2">
            <a:extLst>
              <a:ext uri="{FF2B5EF4-FFF2-40B4-BE49-F238E27FC236}">
                <a16:creationId xmlns:a16="http://schemas.microsoft.com/office/drawing/2014/main" id="{32C52016-2FCD-DC51-371F-5F24F238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 rtl="0" eaLnBrk="1" fontAlgn="auto" latinLnBrk="0" hangingPunct="1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000" spc="0"/>
            </a:lvl1pPr>
          </a:lstStyle>
          <a:p>
            <a:pPr lvl="0"/>
            <a:r>
              <a:rPr lang="ru-RU" dirty="0"/>
              <a:t>01.01.2024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D5C0269-6787-5153-8D07-2A0E1BE199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2491" y="10031915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0"/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116" b="0" i="0" u="none" strike="noStrike" kern="0" cap="none" spc="8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Автор</a:t>
            </a:r>
            <a:r>
              <a:rPr kumimoji="0" lang="ru-RU" sz="2116" b="0" i="0" u="none" strike="noStrike" kern="0" cap="none" spc="1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2116" b="0" i="0" u="none" strike="noStrike" kern="0" cap="none" spc="10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211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7" name="Текст 11">
            <a:extLst>
              <a:ext uri="{FF2B5EF4-FFF2-40B4-BE49-F238E27FC236}">
                <a16:creationId xmlns:a16="http://schemas.microsoft.com/office/drawing/2014/main" id="{81AB60AE-97F3-0612-173B-22103BC6C4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2491" y="6298655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51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Место</a:t>
            </a:r>
            <a:r>
              <a:rPr kumimoji="0" lang="ru-RU" sz="3298" b="0" i="0" u="none" strike="noStrike" kern="0" cap="none" spc="112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3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для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4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дополнительного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текста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0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3298" b="0" i="0" u="none" strike="noStrike" kern="0" cap="none" spc="119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3298" b="0" i="0" u="none" strike="noStrike" kern="0" cap="none" spc="58" normalizeH="0" baseline="0" noProof="0" dirty="0">
                <a:ln>
                  <a:noFill/>
                </a:ln>
                <a:solidFill>
                  <a:srgbClr val="1A1919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329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A14D1FD4-A5D0-84DB-3720-AD43E7EE5B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1" i="0">
                <a:latin typeface="Tinkoff Sans" panose="02000506050000020004" pitchFamily="2" charset="0"/>
                <a:ea typeface="Tinkoff Sans" panose="02000506050000020004" pitchFamily="2" charset="0"/>
              </a:defRPr>
            </a:lvl1pPr>
          </a:lstStyle>
          <a:p>
            <a:pPr marL="12498" marR="0" lvl="0" indent="0" algn="l" defTabSz="449939" rtl="0" eaLnBrk="1" fontAlgn="auto" latinLnBrk="0" hangingPunct="0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Заголовок</a:t>
            </a:r>
            <a:r>
              <a:rPr kumimoji="0" lang="ru-RU" sz="8758" b="0" i="0" u="none" strike="noStrike" kern="0" cap="none" spc="-24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вашей</a:t>
            </a:r>
            <a:r>
              <a:rPr kumimoji="0" lang="ru-RU" sz="8758" b="0" i="0" u="none" strike="noStrike" kern="0" cap="none" spc="-19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 </a:t>
            </a:r>
            <a:r>
              <a:rPr kumimoji="0" lang="ru-RU" sz="8758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Tinkoff Sans"/>
                <a:cs typeface="Tinkoff Sans"/>
                <a:sym typeface="Tinkoff Sans"/>
              </a:rPr>
              <a:t>презентации</a:t>
            </a:r>
            <a:endParaRPr kumimoji="0" lang="ru-RU" sz="875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nkoff Sans"/>
              <a:cs typeface="Tinkoff Sans"/>
              <a:sym typeface="Tinkoff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56CB65-E335-D753-910A-07442C20AA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385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AC0BBD-4A82-07C1-CB42-7414BA855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56" b="18588"/>
          <a:stretch/>
        </p:blipFill>
        <p:spPr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36A0A8-5760-D751-4C2F-0C41A33D84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6" y="351064"/>
            <a:ext cx="3888000" cy="15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4562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>
            <a:extLst>
              <a:ext uri="{FF2B5EF4-FFF2-40B4-BE49-F238E27FC236}">
                <a16:creationId xmlns:a16="http://schemas.microsoft.com/office/drawing/2014/main" id="{C1618829-6C19-D941-9BE2-7A4E7212C8D8}"/>
              </a:ext>
            </a:extLst>
          </p:cNvPr>
          <p:cNvSpPr/>
          <p:nvPr userDrawn="1"/>
        </p:nvSpPr>
        <p:spPr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7" rIns="44997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6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00C85B-1962-984B-B3CB-F6A1E121D3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D8A51F22-6493-824D-9F2C-E966B7B9253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BA4C55EF-F38E-EC4C-89E2-F8C67C5495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0576834-494C-37F1-95CC-CF3C3979FD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7160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EDC63EE5-58DC-1F60-4B8D-9AA757219A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7433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72"/>
            </a:lvl1pPr>
            <a:lvl2pPr marL="914219" indent="-171416">
              <a:buFontTx/>
              <a:defRPr sz="1772"/>
            </a:lvl2pPr>
            <a:lvl3pPr marL="1688192" indent="-202584">
              <a:buFontTx/>
              <a:defRPr sz="1772"/>
            </a:lvl3pPr>
            <a:lvl4pPr marL="2458939" indent="-230524">
              <a:buFontTx/>
              <a:defRPr sz="1772"/>
            </a:lvl4pPr>
            <a:lvl5pPr marL="3201744" indent="-230524">
              <a:buFontTx/>
              <a:defRPr sz="1772"/>
            </a:lvl5pPr>
          </a:lstStyle>
          <a:p>
            <a:r>
              <a:t>Разнообразный и богатый опыт рамки  и место обучения кадров позволяет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>
          <a:xfrm>
            <a:off x="15447896" y="5582374"/>
            <a:ext cx="3587374" cy="1473099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
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74">
                <a:solidFill>
                  <a:srgbClr val="757675"/>
                </a:solidFill>
              </a:defRPr>
            </a:lvl1pPr>
          </a:lstStyle>
          <a:p>
            <a:r>
              <a:t>Разнообразный и богатый опыт рамки
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557D1B9-4244-912E-0ABA-A5E2815994A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319602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A5E55C7B-9DB4-1FFD-89DD-4554FF4928D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6275148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7" rIns="44997"/>
          <a:lstStyle/>
          <a:p>
            <a:endParaRPr sz="806" dirty="0"/>
          </a:p>
        </p:txBody>
      </p:sp>
      <p:sp>
        <p:nvSpPr>
          <p:cNvPr id="2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FB5BC020-4F3E-662D-E779-7340409B0BE0}"/>
              </a:ext>
            </a:extLst>
          </p:cNvPr>
          <p:cNvSpPr/>
          <p:nvPr userDrawn="1"/>
        </p:nvSpPr>
        <p:spPr>
          <a:xfrm rot="10800000">
            <a:off x="-6352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61697" y="4167873"/>
            <a:ext cx="11037111" cy="1809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отбивочном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 </a:t>
            </a:r>
            <a:r>
              <a:rPr dirty="0" err="1"/>
              <a:t>вашей</a:t>
            </a:r>
            <a:r>
              <a:rPr dirty="0"/>
              <a:t>  </a:t>
            </a:r>
            <a:r>
              <a:rPr dirty="0" err="1"/>
              <a:t>презентации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6CBB9F-F512-06BB-429B-E3A2BAD7F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4" y="223840"/>
            <a:ext cx="3914906" cy="23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091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>
            <a:extLst>
              <a:ext uri="{FF2B5EF4-FFF2-40B4-BE49-F238E27FC236}">
                <a16:creationId xmlns:a16="http://schemas.microsoft.com/office/drawing/2014/main" id="{9242A4D8-F08A-AAAE-B492-D5F2DD5F5AD9}"/>
              </a:ext>
            </a:extLst>
          </p:cNvPr>
          <p:cNvSpPr/>
          <p:nvPr userDrawn="1"/>
        </p:nvSpPr>
        <p:spPr>
          <a:xfrm rot="10800000">
            <a:off x="-18662" y="-18661"/>
            <a:ext cx="6665512" cy="1116012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6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6" spc="11">
                <a:solidFill>
                  <a:srgbClr val="282828"/>
                </a:solidFill>
              </a:defRPr>
            </a:lvl5pPr>
          </a:lstStyle>
          <a:p>
            <a:r>
              <a:rPr dirty="0" err="1"/>
              <a:t>Разнообразный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богатый</a:t>
            </a:r>
            <a:r>
              <a:rPr dirty="0"/>
              <a:t> </a:t>
            </a:r>
            <a:r>
              <a:rPr dirty="0" err="1"/>
              <a:t>опыт</a:t>
            </a:r>
            <a:r>
              <a:rPr dirty="0"/>
              <a:t> </a:t>
            </a:r>
            <a:r>
              <a:rPr dirty="0" err="1"/>
              <a:t>рамки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разработке</a:t>
            </a:r>
            <a:r>
              <a:rPr dirty="0"/>
              <a:t> </a:t>
            </a:r>
            <a:r>
              <a:rPr dirty="0" err="1"/>
              <a:t>позиций</a:t>
            </a:r>
            <a:r>
              <a:rPr dirty="0"/>
              <a:t>, </a:t>
            </a:r>
            <a:r>
              <a:rPr dirty="0" err="1"/>
              <a:t>занимаемых</a:t>
            </a:r>
            <a:r>
              <a:rPr dirty="0"/>
              <a:t> </a:t>
            </a:r>
            <a:r>
              <a:rPr dirty="0" err="1"/>
              <a:t>участниками</a:t>
            </a:r>
            <a:r>
              <a:rPr dirty="0"/>
              <a:t> 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отношении</a:t>
            </a:r>
            <a:r>
              <a:rPr dirty="0"/>
              <a:t> </a:t>
            </a:r>
            <a:r>
              <a:rPr dirty="0" err="1"/>
              <a:t>поставленных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 </a:t>
            </a:r>
            <a:r>
              <a:rPr dirty="0" err="1"/>
              <a:t>дальнейшее</a:t>
            </a:r>
            <a:r>
              <a:rPr dirty="0"/>
              <a:t> </a:t>
            </a:r>
            <a:r>
              <a:rPr dirty="0" err="1"/>
              <a:t>развитие</a:t>
            </a:r>
            <a:r>
              <a:rPr dirty="0"/>
              <a:t>  </a:t>
            </a:r>
            <a:r>
              <a:rPr dirty="0" err="1"/>
              <a:t>различных</a:t>
            </a:r>
            <a:r>
              <a:rPr dirty="0"/>
              <a:t> </a:t>
            </a:r>
            <a:r>
              <a:rPr dirty="0" err="1"/>
              <a:t>форм</a:t>
            </a:r>
            <a:r>
              <a:rPr dirty="0"/>
              <a:t> </a:t>
            </a:r>
            <a:r>
              <a:rPr dirty="0" err="1"/>
              <a:t>деятельности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нас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 </a:t>
            </a:r>
            <a:r>
              <a:rPr dirty="0" err="1"/>
              <a:t>кадров</a:t>
            </a:r>
            <a:r>
              <a:rPr dirty="0"/>
              <a:t>,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насущным</a:t>
            </a:r>
            <a:r>
              <a:rPr dirty="0"/>
              <a:t> </a:t>
            </a:r>
            <a:r>
              <a:rPr dirty="0" err="1"/>
              <a:t>потребностям</a:t>
            </a:r>
            <a:r>
              <a:rPr dirty="0"/>
              <a:t>.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 </a:t>
            </a:r>
            <a:r>
              <a:rPr dirty="0" err="1"/>
              <a:t>консультация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широким</a:t>
            </a:r>
            <a:r>
              <a:rPr dirty="0"/>
              <a:t> </a:t>
            </a:r>
            <a:r>
              <a:rPr dirty="0" err="1"/>
              <a:t>активом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 </a:t>
            </a:r>
            <a:r>
              <a:rPr dirty="0" err="1"/>
              <a:t>массового</a:t>
            </a:r>
            <a:r>
              <a:rPr dirty="0"/>
              <a:t> </a:t>
            </a:r>
            <a:r>
              <a:rPr dirty="0" err="1"/>
              <a:t>участия</a:t>
            </a:r>
            <a:r>
              <a:rPr dirty="0"/>
              <a:t>.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</a:t>
            </a:r>
            <a:r>
              <a:rPr dirty="0" err="1"/>
              <a:t>рамки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нас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массового</a:t>
            </a:r>
            <a:r>
              <a:rPr dirty="0"/>
              <a:t> </a:t>
            </a:r>
            <a:r>
              <a:rPr dirty="0" err="1"/>
              <a:t>участия</a:t>
            </a:r>
            <a:r>
              <a:rPr dirty="0"/>
              <a:t>.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образом</a:t>
            </a:r>
            <a:r>
              <a:rPr dirty="0"/>
              <a:t> </a:t>
            </a:r>
            <a:r>
              <a:rPr dirty="0" err="1"/>
              <a:t>постоянное</a:t>
            </a:r>
            <a:r>
              <a:rPr dirty="0"/>
              <a:t>  </a:t>
            </a:r>
            <a:r>
              <a:rPr dirty="0" err="1"/>
              <a:t>информационно-пропагандистское</a:t>
            </a:r>
            <a:r>
              <a:rPr dirty="0"/>
              <a:t> </a:t>
            </a:r>
            <a:r>
              <a:rPr dirty="0" err="1"/>
              <a:t>обеспечение</a:t>
            </a:r>
            <a:r>
              <a:rPr dirty="0"/>
              <a:t> </a:t>
            </a:r>
            <a:r>
              <a:rPr dirty="0" err="1"/>
              <a:t>нашей</a:t>
            </a:r>
            <a:r>
              <a:rPr dirty="0"/>
              <a:t> </a:t>
            </a:r>
            <a:r>
              <a:rPr dirty="0" err="1"/>
              <a:t>деятельности</a:t>
            </a:r>
            <a:r>
              <a:rPr dirty="0"/>
              <a:t> </a:t>
            </a:r>
            <a:r>
              <a:rPr dirty="0" err="1"/>
              <a:t>играет</a:t>
            </a:r>
            <a:r>
              <a:rPr dirty="0"/>
              <a:t>  </a:t>
            </a:r>
            <a:r>
              <a:rPr dirty="0" err="1"/>
              <a:t>важную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формировании</a:t>
            </a:r>
            <a:r>
              <a:rPr dirty="0"/>
              <a:t> </a:t>
            </a:r>
            <a:r>
              <a:rPr dirty="0" err="1"/>
              <a:t>позиций</a:t>
            </a:r>
            <a:r>
              <a:rPr dirty="0"/>
              <a:t>, </a:t>
            </a:r>
            <a:r>
              <a:rPr dirty="0" err="1"/>
              <a:t>занимаемых</a:t>
            </a:r>
            <a:r>
              <a:rPr dirty="0"/>
              <a:t> </a:t>
            </a:r>
            <a:r>
              <a:rPr dirty="0" err="1"/>
              <a:t>участниками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отношении</a:t>
            </a:r>
            <a:r>
              <a:rPr dirty="0"/>
              <a:t> </a:t>
            </a:r>
            <a:r>
              <a:rPr dirty="0" err="1"/>
              <a:t>поставленных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1">
                <a:solidFill>
                  <a:srgbClr val="282828"/>
                </a:solidFill>
              </a:defRPr>
            </a:lvl1pPr>
          </a:lstStyle>
          <a:p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22"/>
            </a:lvl1pPr>
          </a:lstStyle>
          <a:p>
            <a:r>
              <a:t>Заголовок слайда вашей презентации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053D5FA-5B6D-88B1-F501-A11E87DCB46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4404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FEA020A-297F-4949-8B2C-7A5BFA96861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17" r:id="rId2"/>
    <p:sldLayoutId id="2147483770" r:id="rId3"/>
    <p:sldLayoutId id="2147483769" r:id="rId4"/>
    <p:sldLayoutId id="2147483766" r:id="rId5"/>
    <p:sldLayoutId id="2147483752" r:id="rId6"/>
    <p:sldLayoutId id="2147483768" r:id="rId7"/>
    <p:sldLayoutId id="2147483758" r:id="rId8"/>
    <p:sldLayoutId id="2147483764" r:id="rId9"/>
    <p:sldLayoutId id="2147483753" r:id="rId10"/>
    <p:sldLayoutId id="2147483751" r:id="rId11"/>
    <p:sldLayoutId id="2147483742" r:id="rId12"/>
    <p:sldLayoutId id="2147483658" r:id="rId13"/>
    <p:sldLayoutId id="2147483659" r:id="rId14"/>
    <p:sldLayoutId id="2147483709" r:id="rId15"/>
    <p:sldLayoutId id="2147483741" r:id="rId16"/>
    <p:sldLayoutId id="2147483745" r:id="rId17"/>
    <p:sldLayoutId id="2147483744" r:id="rId18"/>
    <p:sldLayoutId id="2147483767" r:id="rId19"/>
    <p:sldLayoutId id="2147483754" r:id="rId20"/>
    <p:sldLayoutId id="2147483757" r:id="rId21"/>
    <p:sldLayoutId id="2147483750" r:id="rId22"/>
    <p:sldLayoutId id="2147483712" r:id="rId23"/>
    <p:sldLayoutId id="2147483761" r:id="rId24"/>
    <p:sldLayoutId id="2147483762" r:id="rId25"/>
    <p:sldLayoutId id="2147483763" r:id="rId26"/>
    <p:sldLayoutId id="2147483760" r:id="rId27"/>
    <p:sldLayoutId id="2147483756" r:id="rId28"/>
    <p:sldLayoutId id="2147483706" r:id="rId29"/>
    <p:sldLayoutId id="2147483711" r:id="rId30"/>
    <p:sldLayoutId id="2147483713" r:id="rId31"/>
    <p:sldLayoutId id="2147483716" r:id="rId32"/>
    <p:sldLayoutId id="2147483714" r:id="rId33"/>
    <p:sldLayoutId id="2147483743" r:id="rId34"/>
    <p:sldLayoutId id="2147483755" r:id="rId35"/>
    <p:sldLayoutId id="2147483748" r:id="rId36"/>
    <p:sldLayoutId id="2147483749" r:id="rId37"/>
    <p:sldLayoutId id="2147483772" r:id="rId38"/>
    <p:sldLayoutId id="2147483774" r:id="rId39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453" userDrawn="1">
          <p15:clr>
            <a:srgbClr val="F26B43"/>
          </p15:clr>
        </p15:guide>
        <p15:guide id="2" orient="horz" pos="453" userDrawn="1">
          <p15:clr>
            <a:srgbClr val="F26B43"/>
          </p15:clr>
        </p15:guide>
        <p15:guide id="3" pos="12019" userDrawn="1">
          <p15:clr>
            <a:srgbClr val="F26B43"/>
          </p15:clr>
        </p15:guide>
        <p15:guide id="4" orient="horz" pos="65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4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09A5AF8E-5F21-4E42-8D26-E6CDC47842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995589" y="10061174"/>
            <a:ext cx="3092077" cy="389048"/>
          </a:xfrm>
        </p:spPr>
        <p:txBody>
          <a:bodyPr anchor="b"/>
          <a:lstStyle/>
          <a:p>
            <a:pPr>
              <a:lnSpc>
                <a:spcPct val="100000"/>
              </a:lnSpc>
            </a:pPr>
            <a:r>
              <a:rPr lang="en-US" spc="31" dirty="0">
                <a:latin typeface="TINKOFFSANS-MEDIUM" panose="02000506050000020004" pitchFamily="2" charset="0"/>
              </a:rPr>
              <a:t>27</a:t>
            </a:r>
            <a:r>
              <a:rPr lang="ru-RU" sz="2000" spc="31" dirty="0">
                <a:latin typeface="TINKOFFSANS-MEDIUM" panose="02000506050000020004" pitchFamily="2" charset="0"/>
              </a:rPr>
              <a:t>.</a:t>
            </a:r>
            <a:r>
              <a:rPr lang="en-US" sz="2000" spc="31" dirty="0">
                <a:latin typeface="TINKOFFSANS-MEDIUM" panose="02000506050000020004" pitchFamily="2" charset="0"/>
              </a:rPr>
              <a:t>11</a:t>
            </a:r>
            <a:r>
              <a:rPr lang="ru-RU" sz="2000" spc="31" dirty="0">
                <a:latin typeface="TINKOFFSANS-MEDIUM" panose="02000506050000020004" pitchFamily="2" charset="0"/>
              </a:rPr>
              <a:t>.2024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1D16811-92A2-3E44-9FD3-4216458C73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5196" y="10061174"/>
            <a:ext cx="2958178" cy="389048"/>
          </a:xfrm>
        </p:spPr>
        <p:txBody>
          <a:bodyPr lIns="0" tIns="0" rIns="0" bIns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50" dirty="0">
                <a:latin typeface="TINKOFFSANS-MEDIUM" panose="02000506050000020004" pitchFamily="2" charset="0"/>
              </a:rPr>
              <a:t>Хватов Сергей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D7A02457-DA76-A84A-8D19-AD087EDEB02F}"/>
              </a:ext>
            </a:extLst>
          </p:cNvPr>
          <p:cNvSpPr txBox="1">
            <a:spLocks/>
          </p:cNvSpPr>
          <p:nvPr/>
        </p:nvSpPr>
        <p:spPr>
          <a:xfrm>
            <a:off x="719138" y="5020263"/>
            <a:ext cx="18826339" cy="111959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12498" marR="0" indent="0" algn="l" defTabSz="449939" rtl="0" eaLnBrk="1" fontAlgn="auto" latinLnBrk="0" hangingPunct="0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tabLst/>
              <a:defRPr sz="5905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>
              <a:lnSpc>
                <a:spcPts val="8200"/>
              </a:lnSpc>
            </a:pPr>
            <a:r>
              <a:rPr lang="ru-RU" sz="7200" b="1" i="0" dirty="0">
                <a:solidFill>
                  <a:schemeClr val="tx1"/>
                </a:solidFill>
                <a:effectLst/>
                <a:latin typeface="Tinkoff Sans" panose="02000506050000020004" pitchFamily="2" charset="77"/>
              </a:rPr>
              <a:t>Высокоуровневые примитивы многопоточности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38569888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2457715" y="494014"/>
            <a:ext cx="15737900" cy="92333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algn="ctr" hangingPunct="1"/>
            <a:r>
              <a:rPr lang="ru-RU" sz="6000" b="1" dirty="0">
                <a:latin typeface="Tinkoff Sans" panose="02000506050000020004" pitchFamily="2" charset="0"/>
              </a:rPr>
              <a:t>Что нас ждет сегодня?</a:t>
            </a:r>
            <a:r>
              <a:rPr lang="ru-RU" sz="6000" b="1" baseline="-25000" dirty="0">
                <a:latin typeface="Tinkoff Sans" panose="02000506050000020004" pitchFamily="2" charset="0"/>
              </a:rPr>
              <a:t>1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pic>
        <p:nvPicPr>
          <p:cNvPr id="8" name="Picture 2" descr="Reactive Programming in Java: How, Why, and Is It Worth Doing? Part II.  Reactivity | Reactive Programming in Java: How, Why, and Is It Worth Doing?  Part II. Reactivity">
            <a:extLst>
              <a:ext uri="{FF2B5EF4-FFF2-40B4-BE49-F238E27FC236}">
                <a16:creationId xmlns:a16="http://schemas.microsoft.com/office/drawing/2014/main" id="{7083B7B1-F253-34E7-57A3-5FCB9377E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612" y="3334341"/>
            <a:ext cx="12103683" cy="615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E4558-429F-BBDD-24FA-E4E8B1F6D2CE}"/>
              </a:ext>
            </a:extLst>
          </p:cNvPr>
          <p:cNvCxnSpPr>
            <a:cxnSpLocks/>
          </p:cNvCxnSpPr>
          <p:nvPr/>
        </p:nvCxnSpPr>
        <p:spPr>
          <a:xfrm flipV="1">
            <a:off x="4391085" y="2382592"/>
            <a:ext cx="0" cy="6986789"/>
          </a:xfrm>
          <a:prstGeom prst="straightConnector1">
            <a:avLst/>
          </a:prstGeom>
          <a:noFill/>
          <a:ln w="76200" cap="flat">
            <a:solidFill>
              <a:schemeClr val="bg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9B67761-FF87-A9AD-3112-B086A9925FD6}"/>
              </a:ext>
            </a:extLst>
          </p:cNvPr>
          <p:cNvSpPr/>
          <p:nvPr/>
        </p:nvSpPr>
        <p:spPr>
          <a:xfrm>
            <a:off x="4700790" y="2382592"/>
            <a:ext cx="11500834" cy="811369"/>
          </a:xfrm>
          <a:prstGeom prst="rect">
            <a:avLst/>
          </a:prstGeom>
          <a:solidFill>
            <a:srgbClr val="92D050">
              <a:alpha val="19000"/>
            </a:srgbClr>
          </a:solidFill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     </a:t>
            </a:r>
            <a:r>
              <a:rPr kumimoji="0" lang="en-RU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 19 					</a:t>
            </a:r>
            <a:r>
              <a:rPr lang="en-RU" sz="2000" dirty="0"/>
              <a:t>      </a:t>
            </a:r>
            <a:r>
              <a:rPr kumimoji="0" lang="en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Green Threads &amp; Project Loom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8FDDF54-2CD1-F706-E330-52AEEEF2EAE3}"/>
              </a:ext>
            </a:extLst>
          </p:cNvPr>
          <p:cNvSpPr/>
          <p:nvPr/>
        </p:nvSpPr>
        <p:spPr>
          <a:xfrm>
            <a:off x="16507295" y="8462355"/>
            <a:ext cx="434043" cy="907026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8A6DC-92F7-5A2B-5AAB-3B1A63046A19}"/>
              </a:ext>
            </a:extLst>
          </p:cNvPr>
          <p:cNvSpPr txBox="1"/>
          <p:nvPr/>
        </p:nvSpPr>
        <p:spPr>
          <a:xfrm>
            <a:off x="16941338" y="8731203"/>
            <a:ext cx="15638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11-ый семинар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7417A2D-A874-9BF7-DBD6-0E6C2271C6D4}"/>
              </a:ext>
            </a:extLst>
          </p:cNvPr>
          <p:cNvSpPr/>
          <p:nvPr/>
        </p:nvSpPr>
        <p:spPr>
          <a:xfrm>
            <a:off x="16507294" y="4788131"/>
            <a:ext cx="434043" cy="3334942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A75DA-A7F3-C20A-90B8-6152550935D5}"/>
              </a:ext>
            </a:extLst>
          </p:cNvPr>
          <p:cNvSpPr txBox="1"/>
          <p:nvPr/>
        </p:nvSpPr>
        <p:spPr>
          <a:xfrm>
            <a:off x="17025558" y="6119489"/>
            <a:ext cx="159755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 dirty="0"/>
              <a:t>Сегодня!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D45382F-FE25-6FA1-54A0-58D506A04E9D}"/>
              </a:ext>
            </a:extLst>
          </p:cNvPr>
          <p:cNvSpPr/>
          <p:nvPr/>
        </p:nvSpPr>
        <p:spPr>
          <a:xfrm>
            <a:off x="16507293" y="2382592"/>
            <a:ext cx="434043" cy="2135600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5A7C9-A69A-E993-325B-077B60467986}"/>
              </a:ext>
            </a:extLst>
          </p:cNvPr>
          <p:cNvSpPr txBox="1"/>
          <p:nvPr/>
        </p:nvSpPr>
        <p:spPr>
          <a:xfrm>
            <a:off x="17025558" y="3288900"/>
            <a:ext cx="15638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13-ый семинар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7BABA-DC71-E762-D326-0758965DBC58}"/>
              </a:ext>
            </a:extLst>
          </p:cNvPr>
          <p:cNvSpPr txBox="1"/>
          <p:nvPr/>
        </p:nvSpPr>
        <p:spPr>
          <a:xfrm>
            <a:off x="719138" y="4456678"/>
            <a:ext cx="3478816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Ход развития наших познаний в области многопоточности </a:t>
            </a:r>
            <a:r>
              <a:rPr lang="ru-RU" sz="2800" dirty="0"/>
              <a:t>с каждым последующим семинаром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4795844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Уровень текста 1…">
            <a:extLst>
              <a:ext uri="{FF2B5EF4-FFF2-40B4-BE49-F238E27FC236}">
                <a16:creationId xmlns:a16="http://schemas.microsoft.com/office/drawing/2014/main" id="{9DEEC648-0998-3F41-96D2-4F8794EBD374}"/>
              </a:ext>
            </a:extLst>
          </p:cNvPr>
          <p:cNvSpPr txBox="1">
            <a:spLocks/>
          </p:cNvSpPr>
          <p:nvPr/>
        </p:nvSpPr>
        <p:spPr>
          <a:xfrm>
            <a:off x="7079418" y="719138"/>
            <a:ext cx="12000744" cy="8363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rIns="44997" numCol="1" spcCol="1080000"/>
          <a:lstStyle>
            <a:lvl1pPr marL="0" marR="0" indent="0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sz="3600" b="1" dirty="0"/>
              <a:t>Сегодня мы с вами</a:t>
            </a:r>
            <a:r>
              <a:rPr lang="en-US" sz="3600" b="1" dirty="0"/>
              <a:t>:</a:t>
            </a:r>
          </a:p>
          <a:p>
            <a:pPr marL="571500" indent="-571500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обсудим синхронизированные и </a:t>
            </a:r>
            <a:r>
              <a:rPr lang="en-US" sz="3200" dirty="0"/>
              <a:t>concurrent-</a:t>
            </a:r>
            <a:r>
              <a:rPr lang="ru-RU" sz="3200" dirty="0"/>
              <a:t>коллекции – для чего они нужны, какими преимуществами и недостатками они обладают?</a:t>
            </a:r>
          </a:p>
          <a:p>
            <a:pPr marL="571500" indent="-571500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поговорим про </a:t>
            </a:r>
            <a:r>
              <a:rPr lang="ru-RU" sz="3200" dirty="0" err="1"/>
              <a:t>верхнеуровневые</a:t>
            </a:r>
            <a:r>
              <a:rPr lang="ru-RU" sz="3200" dirty="0"/>
              <a:t> синхронизаторы из пакета </a:t>
            </a:r>
            <a:r>
              <a:rPr lang="en-US" sz="3200" b="1" dirty="0" err="1"/>
              <a:t>java.util.concurrent</a:t>
            </a:r>
            <a:endParaRPr lang="en-US" sz="3200" b="1" dirty="0"/>
          </a:p>
          <a:p>
            <a:pPr marL="571500" indent="-571500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в деталях посмотрим на </a:t>
            </a:r>
            <a:r>
              <a:rPr lang="en-US" sz="3200" b="1" dirty="0"/>
              <a:t>Executor Framework</a:t>
            </a:r>
            <a:r>
              <a:rPr lang="ru-RU" sz="3200" b="1" dirty="0"/>
              <a:t> </a:t>
            </a:r>
            <a:r>
              <a:rPr lang="ru-RU" sz="3200" dirty="0"/>
              <a:t>и его основные абстракции</a:t>
            </a:r>
            <a:r>
              <a:rPr lang="ru-RU" sz="3200" b="1" dirty="0"/>
              <a:t> – </a:t>
            </a:r>
            <a:r>
              <a:rPr lang="en-US" sz="3200" b="1" dirty="0" err="1"/>
              <a:t>ExecutorService</a:t>
            </a:r>
            <a:r>
              <a:rPr lang="en-US" sz="3200" b="1" dirty="0"/>
              <a:t> </a:t>
            </a:r>
            <a:r>
              <a:rPr lang="ru-RU" sz="3200" dirty="0"/>
              <a:t>и </a:t>
            </a:r>
            <a:r>
              <a:rPr lang="en-US" sz="3200" b="1" dirty="0"/>
              <a:t>Future</a:t>
            </a:r>
          </a:p>
          <a:p>
            <a:pPr marL="571500" indent="-571500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/>
              <a:t>положим начало нашему глубокому погружению в область асинхронного программирования – поговорим и посмотрим на примерах</a:t>
            </a:r>
            <a:r>
              <a:rPr lang="en-US" sz="3200" dirty="0"/>
              <a:t> </a:t>
            </a:r>
            <a:r>
              <a:rPr lang="ru-RU" sz="3200" dirty="0"/>
              <a:t>на </a:t>
            </a:r>
            <a:r>
              <a:rPr lang="en-US" sz="3200" b="1" dirty="0" err="1"/>
              <a:t>CompletableFuture</a:t>
            </a:r>
            <a:endParaRPr lang="ru-RU" sz="3600" b="1" dirty="0"/>
          </a:p>
        </p:txBody>
      </p:sp>
      <p:sp>
        <p:nvSpPr>
          <p:cNvPr id="5" name="Текст 17">
            <a:extLst>
              <a:ext uri="{FF2B5EF4-FFF2-40B4-BE49-F238E27FC236}">
                <a16:creationId xmlns:a16="http://schemas.microsoft.com/office/drawing/2014/main" id="{8C1A5A30-7EC7-944E-9B8F-8B81B8F8D92E}"/>
              </a:ext>
            </a:extLst>
          </p:cNvPr>
          <p:cNvSpPr txBox="1">
            <a:spLocks/>
          </p:cNvSpPr>
          <p:nvPr/>
        </p:nvSpPr>
        <p:spPr>
          <a:xfrm>
            <a:off x="719138" y="577303"/>
            <a:ext cx="5404519" cy="1846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Что нас ждет сегодня?</a:t>
            </a:r>
            <a:r>
              <a:rPr lang="ru-RU" sz="6000" b="1" baseline="-25000" dirty="0">
                <a:latin typeface="Tinkoff Sans" panose="02000506050000020004" pitchFamily="2" charset="0"/>
              </a:rPr>
              <a:t>2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87FD4996-2652-DAFF-C6AD-38E2C3FF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60372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5400" b="1" dirty="0">
                <a:latin typeface="Tinkoff Sans" panose="02000506050000020004" pitchFamily="2" charset="0"/>
              </a:rPr>
              <a:t>Работа с коллекциями в многопоточных программах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8725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36102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Почему бы не использовать классические коллекции?</a:t>
            </a:r>
            <a:r>
              <a:rPr lang="ru-RU" sz="6000" b="1" baseline="-25000" dirty="0">
                <a:latin typeface="Tinkoff Sans" panose="02000506050000020004" pitchFamily="2" charset="0"/>
              </a:rPr>
              <a:t>1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D79DA6-5CEE-E51A-F96B-EAD7FF9D8A63}"/>
              </a:ext>
            </a:extLst>
          </p:cNvPr>
          <p:cNvSpPr txBox="1"/>
          <p:nvPr/>
        </p:nvSpPr>
        <p:spPr>
          <a:xfrm>
            <a:off x="719137" y="1905145"/>
            <a:ext cx="18003578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600" dirty="0"/>
              <a:t>Давайте посмотрим, как себя ведут обычные, синхронизированные и конкурентные коллекции в многопоточных программах</a:t>
            </a:r>
            <a:r>
              <a:rPr lang="en-US" sz="3600" dirty="0"/>
              <a:t>: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9F7D8-7586-7D90-FE18-C86707521A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36"/>
          <a:stretch/>
        </p:blipFill>
        <p:spPr>
          <a:xfrm>
            <a:off x="719138" y="3539479"/>
            <a:ext cx="9378710" cy="5884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0C79CF-AD66-0D68-38B7-51AD5903A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849" y="3539479"/>
            <a:ext cx="8982314" cy="5637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18B32-9D26-E4A0-A200-AF591BBADEEB}"/>
              </a:ext>
            </a:extLst>
          </p:cNvPr>
          <p:cNvSpPr txBox="1"/>
          <p:nvPr/>
        </p:nvSpPr>
        <p:spPr>
          <a:xfrm>
            <a:off x="2021669" y="9254980"/>
            <a:ext cx="677364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Используемые в тесте реализации интерфейса </a:t>
            </a:r>
            <a:r>
              <a:rPr lang="en-US" sz="2400" dirty="0"/>
              <a:t>Map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A1D0E-F847-F6F2-028B-D9EDF7717C39}"/>
              </a:ext>
            </a:extLst>
          </p:cNvPr>
          <p:cNvSpPr txBox="1"/>
          <p:nvPr/>
        </p:nvSpPr>
        <p:spPr>
          <a:xfrm>
            <a:off x="13973774" y="9254256"/>
            <a:ext cx="123046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Сам тест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73769-6FB1-522F-4B7D-1AF64667C1A9}"/>
              </a:ext>
            </a:extLst>
          </p:cNvPr>
          <p:cNvSpPr txBox="1"/>
          <p:nvPr/>
        </p:nvSpPr>
        <p:spPr>
          <a:xfrm>
            <a:off x="13516782" y="9907898"/>
            <a:ext cx="556338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Как думаете, какой будет результат?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39843279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36102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Почему бы не использовать классические коллекции?</a:t>
            </a:r>
            <a:r>
              <a:rPr lang="ru-RU" sz="6000" b="1" baseline="-25000" dirty="0">
                <a:latin typeface="Tinkoff Sans" panose="02000506050000020004" pitchFamily="2" charset="0"/>
              </a:rPr>
              <a:t>2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7F5121-6E45-28D4-FD28-F3784B8D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3021114"/>
            <a:ext cx="16983734" cy="5511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D9FA65-36DF-1BBF-956E-AB7E9BDF69CD}"/>
              </a:ext>
            </a:extLst>
          </p:cNvPr>
          <p:cNvSpPr txBox="1"/>
          <p:nvPr/>
        </p:nvSpPr>
        <p:spPr>
          <a:xfrm>
            <a:off x="719138" y="1930376"/>
            <a:ext cx="1480903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600" dirty="0"/>
              <a:t>Совпадают ли результаты теста с теми, которые мы изначально ожидали?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074A6A81-3C98-DAF4-6BB0-0BA90054C603}"/>
              </a:ext>
            </a:extLst>
          </p:cNvPr>
          <p:cNvSpPr/>
          <p:nvPr/>
        </p:nvSpPr>
        <p:spPr>
          <a:xfrm>
            <a:off x="16434377" y="3194175"/>
            <a:ext cx="468000" cy="1454400"/>
          </a:xfrm>
          <a:prstGeom prst="rightBrac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D8DAFE-102F-069C-9D7A-B84B1BA09FE6}"/>
              </a:ext>
            </a:extLst>
          </p:cNvPr>
          <p:cNvSpPr txBox="1"/>
          <p:nvPr/>
        </p:nvSpPr>
        <p:spPr>
          <a:xfrm>
            <a:off x="17018994" y="3736710"/>
            <a:ext cx="104451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 err="1"/>
              <a:t>TreeMap</a:t>
            </a:r>
            <a:endParaRPr kumimoji="0" lang="en-RU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A41363E9-BA87-0F49-9A15-B10A6070EC9E}"/>
              </a:ext>
            </a:extLst>
          </p:cNvPr>
          <p:cNvSpPr/>
          <p:nvPr/>
        </p:nvSpPr>
        <p:spPr>
          <a:xfrm>
            <a:off x="17255019" y="5040464"/>
            <a:ext cx="468000" cy="1454400"/>
          </a:xfrm>
          <a:prstGeom prst="rightBrac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837760-ED5E-E5AC-CB78-48C808AEB475}"/>
              </a:ext>
            </a:extLst>
          </p:cNvPr>
          <p:cNvSpPr txBox="1"/>
          <p:nvPr/>
        </p:nvSpPr>
        <p:spPr>
          <a:xfrm>
            <a:off x="17839636" y="5582999"/>
            <a:ext cx="186525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 err="1"/>
              <a:t>SyncronizedMap</a:t>
            </a:r>
            <a:endParaRPr kumimoji="0" lang="en-RU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CA304221-6A07-44A6-F28F-4AF3B9F74589}"/>
              </a:ext>
            </a:extLst>
          </p:cNvPr>
          <p:cNvSpPr/>
          <p:nvPr/>
        </p:nvSpPr>
        <p:spPr>
          <a:xfrm>
            <a:off x="17468872" y="6778401"/>
            <a:ext cx="468000" cy="1454400"/>
          </a:xfrm>
          <a:prstGeom prst="rightBrac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A246E0-3D21-1C5C-A964-F471D82BB11A}"/>
              </a:ext>
            </a:extLst>
          </p:cNvPr>
          <p:cNvSpPr txBox="1"/>
          <p:nvPr/>
        </p:nvSpPr>
        <p:spPr>
          <a:xfrm>
            <a:off x="18053489" y="7320936"/>
            <a:ext cx="176266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 err="1"/>
              <a:t>ConcurrentMap</a:t>
            </a:r>
            <a:endParaRPr kumimoji="0" lang="en-RU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50ACE8-4A0A-5370-D164-70F586D4DADF}"/>
              </a:ext>
            </a:extLst>
          </p:cNvPr>
          <p:cNvSpPr txBox="1"/>
          <p:nvPr/>
        </p:nvSpPr>
        <p:spPr>
          <a:xfrm>
            <a:off x="17702872" y="9917770"/>
            <a:ext cx="135710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Почему?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0703170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71B6DAF7-FAF5-4FC8-0644-010ED066F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136" y="1619250"/>
            <a:ext cx="14664299" cy="9274622"/>
          </a:xfrm>
          <a:prstGeom prst="rect">
            <a:avLst/>
          </a:prstGeom>
        </p:spPr>
      </p:pic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36102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Синхронизированные коллекции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2FFC4-E61F-DDDD-B24E-B37CC01F8A61}"/>
              </a:ext>
            </a:extLst>
          </p:cNvPr>
          <p:cNvSpPr txBox="1"/>
          <p:nvPr/>
        </p:nvSpPr>
        <p:spPr>
          <a:xfrm>
            <a:off x="12158890" y="1619250"/>
            <a:ext cx="6921273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2800" dirty="0">
                <a:solidFill>
                  <a:srgbClr val="72A242"/>
                </a:solidFill>
              </a:rPr>
              <a:t>Зеленое</a:t>
            </a:r>
            <a:r>
              <a:rPr lang="ru-RU" sz="2800" dirty="0"/>
              <a:t> – то, на что посмотрим сегодня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D87FE4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Фиолетовое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–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FYI, </a:t>
            </a:r>
            <a:r>
              <a:rPr lang="ru-RU" sz="2800" dirty="0"/>
              <a:t>для самостоятельного знакомства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D60A8-5785-AEE7-8100-CFAC26F24890}"/>
              </a:ext>
            </a:extLst>
          </p:cNvPr>
          <p:cNvSpPr txBox="1"/>
          <p:nvPr/>
        </p:nvSpPr>
        <p:spPr>
          <a:xfrm>
            <a:off x="14433175" y="7332447"/>
            <a:ext cx="4646987" cy="3108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* </a:t>
            </a:r>
            <a:r>
              <a:rPr lang="ru-RU" sz="2800" dirty="0"/>
              <a:t>  У представленных здесь коллекций есть множество других реализаций, которые не указаны здесь.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8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** </a:t>
            </a:r>
            <a:r>
              <a:rPr lang="ru-RU" sz="2800" dirty="0"/>
              <a:t>А еще есть </a:t>
            </a:r>
            <a:r>
              <a:rPr lang="en-US" sz="2800" dirty="0"/>
              <a:t>“</a:t>
            </a:r>
            <a:r>
              <a:rPr lang="ru-RU" sz="2800" dirty="0"/>
              <a:t>динозавры</a:t>
            </a:r>
            <a:r>
              <a:rPr lang="en-US" sz="2800" dirty="0"/>
              <a:t>”, </a:t>
            </a:r>
            <a:r>
              <a:rPr lang="ru-RU" sz="2800" dirty="0"/>
              <a:t>типа </a:t>
            </a:r>
            <a:r>
              <a:rPr lang="en-US" sz="2800" dirty="0"/>
              <a:t>Vector &amp; </a:t>
            </a:r>
            <a:r>
              <a:rPr lang="en-US" sz="2800" dirty="0" err="1"/>
              <a:t>Hashtable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743310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Посмотрим на примерах!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 descr="IntelliJ Light Theme Theme for JetBrains IDEs | JetBrains Marketplace">
            <a:extLst>
              <a:ext uri="{FF2B5EF4-FFF2-40B4-BE49-F238E27FC236}">
                <a16:creationId xmlns:a16="http://schemas.microsoft.com/office/drawing/2014/main" id="{9CBAA9F6-796A-8AD1-5B93-E219C9DF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B547A-A249-5A42-5E6C-D531BDD959F6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53103503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В чем отличие </a:t>
            </a:r>
            <a:r>
              <a:rPr lang="en-US" sz="6000" b="1" dirty="0" err="1">
                <a:latin typeface="Tinkoff Sans" panose="02000506050000020004" pitchFamily="2" charset="0"/>
              </a:rPr>
              <a:t>BlockingQueue</a:t>
            </a:r>
            <a:r>
              <a:rPr lang="en-US" sz="6000" b="1" dirty="0">
                <a:latin typeface="Tinkoff Sans" panose="02000506050000020004" pitchFamily="2" charset="0"/>
              </a:rPr>
              <a:t> </a:t>
            </a:r>
            <a:r>
              <a:rPr lang="ru-RU" sz="6000" b="1" dirty="0">
                <a:latin typeface="Tinkoff Sans" panose="02000506050000020004" pitchFamily="2" charset="0"/>
              </a:rPr>
              <a:t>от </a:t>
            </a:r>
            <a:r>
              <a:rPr lang="en-US" sz="6000" b="1" dirty="0" err="1">
                <a:latin typeface="Tinkoff Sans" panose="02000506050000020004" pitchFamily="2" charset="0"/>
              </a:rPr>
              <a:t>ConcurrentQueue</a:t>
            </a:r>
            <a:r>
              <a:rPr lang="en-US" sz="6000" b="1" dirty="0">
                <a:latin typeface="Tinkoff Sans" panose="02000506050000020004" pitchFamily="2" charset="0"/>
              </a:rPr>
              <a:t>?</a:t>
            </a:r>
            <a:r>
              <a:rPr lang="ru-RU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EF7515E-D0E9-0DE3-94C1-99CA29F51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8471" y="1791235"/>
            <a:ext cx="7542305" cy="9044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12FAAA-6399-08E6-5309-F235F7A42CE8}"/>
              </a:ext>
            </a:extLst>
          </p:cNvPr>
          <p:cNvSpPr txBox="1"/>
          <p:nvPr/>
        </p:nvSpPr>
        <p:spPr>
          <a:xfrm>
            <a:off x="11378487" y="2011309"/>
            <a:ext cx="7701676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/>
              <a:t>Обе коллекции – очереди, и обе из пакета </a:t>
            </a:r>
            <a:r>
              <a:rPr lang="en-RU" sz="4000" dirty="0"/>
              <a:t>java.util.concurrent.*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0BC9B-5A61-8161-FF87-A6F4532DD239}"/>
              </a:ext>
            </a:extLst>
          </p:cNvPr>
          <p:cNvSpPr txBox="1"/>
          <p:nvPr/>
        </p:nvSpPr>
        <p:spPr>
          <a:xfrm>
            <a:off x="15494043" y="9794657"/>
            <a:ext cx="374603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Так в чем подвох?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935861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В чем отличие </a:t>
            </a:r>
            <a:r>
              <a:rPr lang="en-US" sz="6000" b="1" dirty="0" err="1">
                <a:latin typeface="Tinkoff Sans" panose="02000506050000020004" pitchFamily="2" charset="0"/>
              </a:rPr>
              <a:t>BlockingQueue</a:t>
            </a:r>
            <a:r>
              <a:rPr lang="en-US" sz="6000" b="1" dirty="0">
                <a:latin typeface="Tinkoff Sans" panose="02000506050000020004" pitchFamily="2" charset="0"/>
              </a:rPr>
              <a:t> </a:t>
            </a:r>
            <a:r>
              <a:rPr lang="ru-RU" sz="6000" b="1" dirty="0">
                <a:latin typeface="Tinkoff Sans" panose="02000506050000020004" pitchFamily="2" charset="0"/>
              </a:rPr>
              <a:t>от </a:t>
            </a:r>
            <a:r>
              <a:rPr lang="en-US" sz="6000" b="1" dirty="0" err="1">
                <a:latin typeface="Tinkoff Sans" panose="02000506050000020004" pitchFamily="2" charset="0"/>
              </a:rPr>
              <a:t>ConcurrentQueue</a:t>
            </a:r>
            <a:r>
              <a:rPr lang="en-US" sz="6000" b="1" dirty="0">
                <a:latin typeface="Tinkoff Sans" panose="02000506050000020004" pitchFamily="2" charset="0"/>
              </a:rPr>
              <a:t>?</a:t>
            </a:r>
            <a:r>
              <a:rPr lang="ru-RU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B4448-E86E-17B9-3648-54CB955F0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468" y="1655763"/>
            <a:ext cx="14354363" cy="860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2823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Подведем итоги!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DBC5D2-72B9-82A4-52B5-2C00D4F1C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853" y="1619250"/>
            <a:ext cx="15485414" cy="941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904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5400" b="1" dirty="0">
                <a:latin typeface="Tinkoff Sans" panose="02000506050000020004" pitchFamily="2" charset="0"/>
              </a:rPr>
              <a:t>Синхронизаторы из </a:t>
            </a:r>
            <a:r>
              <a:rPr lang="en-US" sz="5400" b="1" dirty="0" err="1">
                <a:latin typeface="Tinkoff Sans" panose="02000506050000020004" pitchFamily="2" charset="0"/>
              </a:rPr>
              <a:t>java.util.concurrent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8505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Что это такое?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EC9A1E-8D63-2300-797A-FC6DF9828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3304277"/>
            <a:ext cx="14745135" cy="701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3FA6DB-EA3E-E61B-6E2E-D2E4CD5044C0}"/>
              </a:ext>
            </a:extLst>
          </p:cNvPr>
          <p:cNvSpPr txBox="1"/>
          <p:nvPr/>
        </p:nvSpPr>
        <p:spPr>
          <a:xfrm>
            <a:off x="719138" y="1702625"/>
            <a:ext cx="17767198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b="1" i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Синхронизаторы</a:t>
            </a:r>
            <a:r>
              <a:rPr lang="ru-RU" sz="2800" b="0" i="0" dirty="0">
                <a:solidFill>
                  <a:srgbClr val="333333"/>
                </a:solidFill>
                <a:effectLst/>
                <a:latin typeface="Tinkoff Sans" panose="02000506050000020004" pitchFamily="2" charset="77"/>
              </a:rPr>
              <a:t> – вспомогательные утилиты для синхронизации потоков, которые дают возможность разработчику регулировать и/или ограничивать работу потоков и предоставляют более высокий уровень абстракции, чем основные примитивы языка (мониторы).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D6373B-340A-19F8-277A-7277A9DB5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1458" y="2982708"/>
            <a:ext cx="3721417" cy="35985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5A1E24-3446-BB71-6022-ECEC5FFD52F3}"/>
              </a:ext>
            </a:extLst>
          </p:cNvPr>
          <p:cNvSpPr txBox="1"/>
          <p:nvPr/>
        </p:nvSpPr>
        <p:spPr>
          <a:xfrm>
            <a:off x="15966737" y="6581306"/>
            <a:ext cx="3113426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b="1" dirty="0"/>
              <a:t>Идеальная статья на </a:t>
            </a:r>
            <a:r>
              <a:rPr lang="ru-RU" sz="2400" b="1" dirty="0" err="1"/>
              <a:t>хабре</a:t>
            </a:r>
            <a:r>
              <a:rPr lang="ru-RU" sz="2400" b="1" dirty="0"/>
              <a:t> на эту тему</a:t>
            </a:r>
            <a:endParaRPr kumimoji="0" lang="en-RU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50662338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С кем из них мы познакомимся сегодня?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0EDCB9-8413-F634-CB8E-9487C988F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0123" y="3425135"/>
            <a:ext cx="14239053" cy="62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6694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 err="1">
                <a:latin typeface="Tinkoff Sans" panose="02000506050000020004" pitchFamily="2" charset="0"/>
              </a:rPr>
              <a:t>CountDownLatch</a:t>
            </a:r>
            <a:r>
              <a:rPr lang="ru-RU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42E62E-563E-B0E9-9C17-AABC2B4E5D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55"/>
          <a:stretch/>
        </p:blipFill>
        <p:spPr>
          <a:xfrm>
            <a:off x="11343517" y="1619250"/>
            <a:ext cx="7736646" cy="50878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BD2F05-67CB-2CBD-4F3D-6ECE26E668BD}"/>
              </a:ext>
            </a:extLst>
          </p:cNvPr>
          <p:cNvSpPr txBox="1"/>
          <p:nvPr/>
        </p:nvSpPr>
        <p:spPr>
          <a:xfrm>
            <a:off x="719137" y="1619249"/>
            <a:ext cx="9816451" cy="76944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6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CountDownLatch</a:t>
            </a:r>
            <a:r>
              <a:rPr kumimoji="0" lang="en-GB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 </a:t>
            </a: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позволяет одному или нескольким потокам ожидать, пока не будут выполнены определенные действия в других потоках.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600" dirty="0">
              <a:latin typeface="Tinkoff Sans" panose="02000506050000020004" pitchFamily="2" charset="77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"Замок" в </a:t>
            </a:r>
            <a:r>
              <a:rPr kumimoji="0" lang="en-GB" sz="2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CountDownLatch</a:t>
            </a:r>
            <a:r>
              <a:rPr kumimoji="0" lang="en-GB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 </a:t>
            </a: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изначально инициализируется заданным количеством событий, которые должны произойти прежде, чем он "откроется" и позволит продолжить работу ожидающим потокам.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600" dirty="0">
              <a:latin typeface="Tinkoff Sans" panose="02000506050000020004" pitchFamily="2" charset="77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Каждый раз когда событие происходит, вызывается метод </a:t>
            </a:r>
            <a:r>
              <a:rPr kumimoji="0" lang="en-GB" sz="2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countDown</a:t>
            </a:r>
            <a:r>
              <a:rPr kumimoji="0" lang="en-GB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(), </a:t>
            </a: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который уменьшает счетчик замка. Когда счетчик доходит до нуля, все ожидающие потоки продолжают свою работу.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600" dirty="0">
              <a:latin typeface="Tinkoff Sans" panose="02000506050000020004" pitchFamily="2" charset="77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Если замок уже открыт, все последующие вызовы метода </a:t>
            </a:r>
            <a:r>
              <a:rPr kumimoji="0" lang="en-GB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await() </a:t>
            </a: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будут мгновенно завершать свою работу.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600" dirty="0">
              <a:latin typeface="Tinkoff Sans" panose="02000506050000020004" pitchFamily="2" charset="77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CountDownLatch</a:t>
            </a:r>
            <a:r>
              <a:rPr kumimoji="0" lang="en-GB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 </a:t>
            </a:r>
            <a:r>
              <a:rPr kumimoji="0" lang="ru-RU" sz="2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полезен в ситуациях, когда один поток должен ожидать завершения работы одного или нескольких других потоков, или когда необходимо, чтобы несколько параллельных потоков ждали, пока не будет выполнено некоторое количество операций в других потоках.</a:t>
            </a:r>
          </a:p>
        </p:txBody>
      </p:sp>
    </p:spTree>
    <p:extLst>
      <p:ext uri="{BB962C8B-B14F-4D97-AF65-F5344CB8AC3E}">
        <p14:creationId xmlns:p14="http://schemas.microsoft.com/office/powerpoint/2010/main" val="5545975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 err="1">
                <a:latin typeface="Tinkoff Sans" panose="02000506050000020004" pitchFamily="2" charset="0"/>
              </a:rPr>
              <a:t>CountDownLatch</a:t>
            </a:r>
            <a:r>
              <a:rPr lang="ru-RU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2FDAD79-E777-7917-57AE-64C5A8CF8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8537" y="2086084"/>
            <a:ext cx="7730428" cy="7633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E88CD1-08BF-C33A-375F-B5648F04D1DB}"/>
              </a:ext>
            </a:extLst>
          </p:cNvPr>
          <p:cNvSpPr txBox="1"/>
          <p:nvPr/>
        </p:nvSpPr>
        <p:spPr>
          <a:xfrm>
            <a:off x="719138" y="1619250"/>
            <a:ext cx="8356745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 dirty="0"/>
              <a:t>Как и автомобили, потоки будут заблокированы, пока рефери (</a:t>
            </a:r>
            <a:r>
              <a:rPr lang="en-US" sz="3200" dirty="0" err="1"/>
              <a:t>CountDownLatch</a:t>
            </a:r>
            <a:r>
              <a:rPr lang="en-US" sz="3200" dirty="0"/>
              <a:t>), </a:t>
            </a:r>
            <a:r>
              <a:rPr lang="ru-RU" sz="3200" dirty="0"/>
              <a:t>не досчитает до нуля и не даст сигнал к старту. 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2673063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Exchanger</a:t>
            </a:r>
            <a:r>
              <a:rPr lang="ru-RU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269EF2-0613-F856-954F-A28D68558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506" y="1619250"/>
            <a:ext cx="7941880" cy="4540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EDCD1D-1B61-C380-C0BE-ECE0A39C54BA}"/>
              </a:ext>
            </a:extLst>
          </p:cNvPr>
          <p:cNvSpPr txBox="1"/>
          <p:nvPr/>
        </p:nvSpPr>
        <p:spPr>
          <a:xfrm>
            <a:off x="719138" y="1732856"/>
            <a:ext cx="9816451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b="1" i="0" dirty="0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Exchanger</a:t>
            </a:r>
            <a:r>
              <a:rPr lang="en-GB" sz="3200" b="0" i="0" dirty="0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предоставляет точку синхронизации, где два потока могут обменяться объектами. </a:t>
            </a:r>
            <a:br>
              <a:rPr lang="ru-RU" sz="3200" dirty="0">
                <a:latin typeface="Tinkoff Sans" panose="02000506050000020004" pitchFamily="2" charset="77"/>
              </a:rPr>
            </a:br>
            <a:br>
              <a:rPr lang="ru-RU" sz="3200" dirty="0">
                <a:latin typeface="Tinkoff Sans" panose="02000506050000020004" pitchFamily="2" charset="77"/>
              </a:rPr>
            </a:br>
            <a:r>
              <a:rPr lang="ru-RU" sz="3200" b="0" i="0" dirty="0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Этот класс может быть использован в сценариях, когда два потока, выполняющих взаимодействующие операции, хотят обменяться данными на определенном этапе своей работы. Каждый поток представляет некоторый объект для обмена, встречается с партнером и получает его объект. </a:t>
            </a: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23950396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Exchanger</a:t>
            </a:r>
            <a:r>
              <a:rPr lang="ru-RU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992183-40EA-8C90-A765-2A864A5F1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7858" y="2912268"/>
            <a:ext cx="10513084" cy="53355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4BF31A-8F12-003B-BD7B-123C7C602ED0}"/>
              </a:ext>
            </a:extLst>
          </p:cNvPr>
          <p:cNvSpPr txBox="1"/>
          <p:nvPr/>
        </p:nvSpPr>
        <p:spPr>
          <a:xfrm>
            <a:off x="11920451" y="1619250"/>
            <a:ext cx="7159712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Ни покупатель, ни продавец не уйдут до тех пор, пока не обменяются интересующими их вещами. 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18894500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ReentrantLock</a:t>
            </a:r>
            <a:r>
              <a:rPr lang="en-US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122" name="Picture 2" descr="Figure 2 from Formal Specifications for Java's Synchronisation Classes |  Semantic Scholar">
            <a:extLst>
              <a:ext uri="{FF2B5EF4-FFF2-40B4-BE49-F238E27FC236}">
                <a16:creationId xmlns:a16="http://schemas.microsoft.com/office/drawing/2014/main" id="{564102A9-1F9F-6559-920B-F94BD0AED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631" y="1732856"/>
            <a:ext cx="9596532" cy="478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5E7603-DDF8-7F57-F5EE-C56E641CD7E6}"/>
              </a:ext>
            </a:extLst>
          </p:cNvPr>
          <p:cNvSpPr txBox="1"/>
          <p:nvPr/>
        </p:nvSpPr>
        <p:spPr>
          <a:xfrm>
            <a:off x="719139" y="1732856"/>
            <a:ext cx="8586226" cy="6001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b="1" i="0" dirty="0" err="1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ReentrantLock</a:t>
            </a:r>
            <a:r>
              <a:rPr lang="en-GB" sz="3200" b="0" i="0" dirty="0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 – </a:t>
            </a:r>
            <a:r>
              <a:rPr lang="ru-RU" sz="3200" dirty="0">
                <a:latin typeface="Tinkoff Sans" panose="02000506050000020004" pitchFamily="2" charset="77"/>
              </a:rPr>
              <a:t>высокоуровневый аналог мониторов, которые мы обсуждали на прошлом семинаре. Основное отличие (помимо реализации) – возможность прерывания попытки блокировки по таймауту.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 dirty="0">
                <a:latin typeface="Tinkoff Sans" panose="02000506050000020004" pitchFamily="2" charset="77"/>
              </a:rPr>
              <a:t>Де-факто является стандартной реализацией интерфейса </a:t>
            </a:r>
            <a:r>
              <a:rPr lang="en-US" sz="3200" dirty="0">
                <a:latin typeface="Tinkoff Sans" panose="02000506050000020004" pitchFamily="2" charset="77"/>
              </a:rPr>
              <a:t>Lock.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  <a:p>
            <a:pPr defTabSz="457200"/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Есть две реализации – </a:t>
            </a:r>
            <a:r>
              <a:rPr lang="en-GB" sz="3200" b="1" i="0" dirty="0" err="1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ReentrantLock</a:t>
            </a:r>
            <a:r>
              <a:rPr lang="ru-RU" sz="3200" b="1" i="0" dirty="0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 </a:t>
            </a:r>
            <a:r>
              <a:rPr lang="ru-RU" sz="3200" i="0" dirty="0">
                <a:solidFill>
                  <a:srgbClr val="000000"/>
                </a:solidFill>
                <a:effectLst/>
                <a:latin typeface="Tinkoff Sans" panose="02000506050000020004" pitchFamily="2" charset="77"/>
              </a:rPr>
              <a:t>и </a:t>
            </a:r>
            <a:r>
              <a:rPr lang="en-GB" sz="3200" b="1" dirty="0" err="1">
                <a:solidFill>
                  <a:srgbClr val="000000"/>
                </a:solidFill>
                <a:effectLst/>
              </a:rPr>
              <a:t>ReentrantReadWriteLock</a:t>
            </a:r>
            <a:r>
              <a:rPr lang="en-US" sz="3200" b="1" dirty="0"/>
              <a:t>, </a:t>
            </a:r>
            <a:r>
              <a:rPr lang="ru-RU" sz="3200" dirty="0"/>
              <a:t>который позволяет разделить блокировки на </a:t>
            </a:r>
            <a:r>
              <a:rPr lang="en-US" sz="3200" dirty="0"/>
              <a:t>read- </a:t>
            </a:r>
            <a:r>
              <a:rPr lang="ru-RU" sz="3200" dirty="0"/>
              <a:t>и </a:t>
            </a:r>
            <a:r>
              <a:rPr lang="en-US" sz="3200" dirty="0"/>
              <a:t>write- </a:t>
            </a:r>
            <a:r>
              <a:rPr lang="ru-RU" sz="3200" dirty="0"/>
              <a:t>операции. </a:t>
            </a:r>
            <a:endParaRPr lang="en-GB" sz="3200" dirty="0">
              <a:solidFill>
                <a:srgbClr val="08080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69073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ReentrantLock</a:t>
            </a:r>
            <a:r>
              <a:rPr lang="en-US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066C9AC-40B2-7F72-A15E-F83D990AF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3759" y="1721026"/>
            <a:ext cx="13671782" cy="836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9436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Посмотрим на примерах!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 descr="IntelliJ Light Theme Theme for JetBrains IDEs | JetBrains Marketplace">
            <a:extLst>
              <a:ext uri="{FF2B5EF4-FFF2-40B4-BE49-F238E27FC236}">
                <a16:creationId xmlns:a16="http://schemas.microsoft.com/office/drawing/2014/main" id="{9CBAA9F6-796A-8AD1-5B93-E219C9DF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B547A-A249-5A42-5E6C-D531BDD959F6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68795357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en-US" sz="5400" b="1" dirty="0">
                <a:latin typeface="Tinkoff Sans" panose="02000506050000020004" pitchFamily="2" charset="0"/>
              </a:rPr>
              <a:t>Executor Framework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1139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36102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Из чего состоит данный фреймворк?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1A8DF4F-598F-36A4-68D9-D4C29E16E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057" y="1705490"/>
            <a:ext cx="14289183" cy="882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7962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36102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Executor &amp; </a:t>
            </a:r>
            <a:r>
              <a:rPr lang="en-US" sz="6000" b="1" dirty="0" err="1">
                <a:latin typeface="Tinkoff Sans" panose="02000506050000020004" pitchFamily="2" charset="0"/>
              </a:rPr>
              <a:t>ExecutorService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DDA6B1-5D1E-8AB1-5D7D-42EE4481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095" y="1619250"/>
            <a:ext cx="58293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26138A-0AA5-1CD9-B214-CFA4ECF7D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612" y="3277872"/>
            <a:ext cx="11176130" cy="67524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176918-B892-19C0-FB07-CA0922F0524A}"/>
              </a:ext>
            </a:extLst>
          </p:cNvPr>
          <p:cNvSpPr txBox="1"/>
          <p:nvPr/>
        </p:nvSpPr>
        <p:spPr>
          <a:xfrm>
            <a:off x="719137" y="1619250"/>
            <a:ext cx="6964957" cy="64940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Согласно документации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: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200" dirty="0"/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/>
              <a:t>Executor</a:t>
            </a:r>
            <a:r>
              <a:rPr lang="en-US" sz="3200" dirty="0"/>
              <a:t> – </a:t>
            </a:r>
            <a:r>
              <a:rPr lang="ru-RU" sz="3200" dirty="0"/>
              <a:t>абстракция, призванная разделить логику отправки задачи на исполнение и логику их реальной обработки</a:t>
            </a:r>
            <a:r>
              <a:rPr lang="en-US" sz="3200" dirty="0"/>
              <a:t>;</a:t>
            </a:r>
            <a:endParaRPr lang="ru-RU" sz="3200" dirty="0"/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3200" dirty="0"/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 err="1"/>
              <a:t>ExecutorService</a:t>
            </a:r>
            <a:r>
              <a:rPr lang="en-US" sz="3200" dirty="0"/>
              <a:t> – </a:t>
            </a:r>
            <a:r>
              <a:rPr lang="ru-RU" sz="3200" dirty="0"/>
              <a:t>расширение </a:t>
            </a:r>
            <a:r>
              <a:rPr lang="en-US" sz="3200" b="1" dirty="0"/>
              <a:t>Executor’</a:t>
            </a:r>
            <a:r>
              <a:rPr lang="ru-RU" sz="3200" b="1" dirty="0"/>
              <a:t>а</a:t>
            </a:r>
            <a:r>
              <a:rPr lang="en-US" sz="3200" dirty="0"/>
              <a:t>, </a:t>
            </a:r>
            <a:r>
              <a:rPr lang="ru-RU" sz="3200" dirty="0"/>
              <a:t>которое предоставляет набор вспомогательных методов, предназначенных для управления и отслеживания процесса выполнения задач</a:t>
            </a:r>
            <a:r>
              <a:rPr lang="en-US" sz="3200" dirty="0"/>
              <a:t>;</a:t>
            </a:r>
            <a:endParaRPr kumimoji="0" lang="en-RU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43447772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7">
            <a:extLst>
              <a:ext uri="{FF2B5EF4-FFF2-40B4-BE49-F238E27FC236}">
                <a16:creationId xmlns:a16="http://schemas.microsoft.com/office/drawing/2014/main" id="{8C1A5A30-7EC7-944E-9B8F-8B81B8F8D92E}"/>
              </a:ext>
            </a:extLst>
          </p:cNvPr>
          <p:cNvSpPr txBox="1">
            <a:spLocks/>
          </p:cNvSpPr>
          <p:nvPr/>
        </p:nvSpPr>
        <p:spPr>
          <a:xfrm>
            <a:off x="719138" y="577303"/>
            <a:ext cx="5404519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Callable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87FD4996-2652-DAFF-C6AD-38E2C3FF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25</a:t>
            </a:fld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552011-B7A6-C524-C8A8-82B5963535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25" t="686" r="3280"/>
          <a:stretch/>
        </p:blipFill>
        <p:spPr>
          <a:xfrm>
            <a:off x="6640969" y="231992"/>
            <a:ext cx="8606118" cy="106961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F94F2E-7967-B1B0-9C1A-1F515D9E5DAA}"/>
              </a:ext>
            </a:extLst>
          </p:cNvPr>
          <p:cNvSpPr txBox="1"/>
          <p:nvPr/>
        </p:nvSpPr>
        <p:spPr>
          <a:xfrm>
            <a:off x="15247086" y="719138"/>
            <a:ext cx="3833076" cy="1692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Какие преимущества по сравнению с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Runnable </a:t>
            </a: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вы видите?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(</a:t>
            </a:r>
            <a:r>
              <a:rPr lang="ru-RU" sz="2000" dirty="0"/>
              <a:t>Спойлер – все написано в доке)</a:t>
            </a:r>
            <a:endParaRPr kumimoji="0" lang="en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01C899-1F73-4683-3322-0346BB768024}"/>
              </a:ext>
            </a:extLst>
          </p:cNvPr>
          <p:cNvSpPr/>
          <p:nvPr/>
        </p:nvSpPr>
        <p:spPr>
          <a:xfrm>
            <a:off x="6618109" y="9819060"/>
            <a:ext cx="71725" cy="1109072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ED7C1-2408-ACAC-284F-770688D65F8D}"/>
              </a:ext>
            </a:extLst>
          </p:cNvPr>
          <p:cNvSpPr/>
          <p:nvPr/>
        </p:nvSpPr>
        <p:spPr>
          <a:xfrm>
            <a:off x="6640969" y="9765463"/>
            <a:ext cx="48865" cy="675525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55853357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7">
            <a:extLst>
              <a:ext uri="{FF2B5EF4-FFF2-40B4-BE49-F238E27FC236}">
                <a16:creationId xmlns:a16="http://schemas.microsoft.com/office/drawing/2014/main" id="{8C1A5A30-7EC7-944E-9B8F-8B81B8F8D92E}"/>
              </a:ext>
            </a:extLst>
          </p:cNvPr>
          <p:cNvSpPr txBox="1">
            <a:spLocks/>
          </p:cNvSpPr>
          <p:nvPr/>
        </p:nvSpPr>
        <p:spPr>
          <a:xfrm>
            <a:off x="719138" y="577303"/>
            <a:ext cx="5404519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Future</a:t>
            </a:r>
            <a:endParaRPr lang="ru-RU" sz="6000" b="1" dirty="0">
              <a:latin typeface="Tinkoff Sans" panose="02000506050000020004" pitchFamily="2" charset="0"/>
            </a:endParaRPr>
          </a:p>
          <a:p>
            <a:pPr hangingPunct="1"/>
            <a:r>
              <a:rPr lang="ru-RU" sz="2800" b="1" dirty="0">
                <a:latin typeface="Tinkoff Sans" panose="02000506050000020004" pitchFamily="2" charset="0"/>
              </a:rPr>
              <a:t>(не путать с </a:t>
            </a:r>
            <a:r>
              <a:rPr lang="en-US" sz="2800" b="1" dirty="0">
                <a:latin typeface="Tinkoff Sans" panose="02000506050000020004" pitchFamily="2" charset="0"/>
              </a:rPr>
              <a:t>Promise)</a:t>
            </a:r>
            <a:endParaRPr lang="ru-RU" sz="2800" b="1" dirty="0">
              <a:latin typeface="Tinkoff Sans" panose="02000506050000020004" pitchFamily="2" charset="0"/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87FD4996-2652-DAFF-C6AD-38E2C3FF3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26</a:t>
            </a:fld>
            <a:endParaRPr lang="ru-RU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4C0AC51-7BEF-5094-CD96-944B05A13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9027" y="396135"/>
            <a:ext cx="12096502" cy="1019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3769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36102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Executor Framework </a:t>
            </a:r>
            <a:r>
              <a:rPr lang="ru-RU" sz="6000" b="1" dirty="0">
                <a:latin typeface="Tinkoff Sans" panose="02000506050000020004" pitchFamily="2" charset="0"/>
              </a:rPr>
              <a:t>на </a:t>
            </a:r>
            <a:r>
              <a:rPr lang="en-US" sz="6000" b="1" dirty="0">
                <a:latin typeface="Tinkoff Sans" panose="02000506050000020004" pitchFamily="2" charset="0"/>
              </a:rPr>
              <a:t>“</a:t>
            </a:r>
            <a:r>
              <a:rPr lang="ru-RU" sz="6000" b="1" dirty="0">
                <a:latin typeface="Tinkoff Sans" panose="02000506050000020004" pitchFamily="2" charset="0"/>
              </a:rPr>
              <a:t>примере</a:t>
            </a:r>
            <a:r>
              <a:rPr lang="en-US" sz="6000" b="1" dirty="0">
                <a:latin typeface="Tinkoff Sans" panose="02000506050000020004" pitchFamily="2" charset="0"/>
              </a:rPr>
              <a:t>”</a:t>
            </a:r>
            <a:r>
              <a:rPr lang="ru-RU" sz="6000" b="1" dirty="0">
                <a:latin typeface="Tinkoff Sans" panose="02000506050000020004" pitchFamily="2" charset="0"/>
              </a:rPr>
              <a:t>!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04CED5-F5DD-911E-747A-42932BB2F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4495" y="1619250"/>
            <a:ext cx="14650309" cy="880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6340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Посмотрим на примерах!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 descr="IntelliJ Light Theme Theme for JetBrains IDEs | JetBrains Marketplace">
            <a:extLst>
              <a:ext uri="{FF2B5EF4-FFF2-40B4-BE49-F238E27FC236}">
                <a16:creationId xmlns:a16="http://schemas.microsoft.com/office/drawing/2014/main" id="{9CBAA9F6-796A-8AD1-5B93-E219C9DF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B547A-A249-5A42-5E6C-D531BDD959F6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30278167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en-US" sz="5400" b="1" dirty="0" err="1">
                <a:latin typeface="Tinkoff Sans" panose="02000506050000020004" pitchFamily="2" charset="0"/>
              </a:rPr>
              <a:t>CompletableFuture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717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Что такое асинхронность?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BA8209C-BB28-9B52-3181-7B18E00AF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51" y="2222291"/>
            <a:ext cx="11437631" cy="267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0081040B-7AE6-E3EF-C942-3C26C6A1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067" y="6255885"/>
            <a:ext cx="11912600" cy="2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F86933-0903-F7DF-A0F1-DD55B3FCC3B9}"/>
              </a:ext>
            </a:extLst>
          </p:cNvPr>
          <p:cNvSpPr txBox="1"/>
          <p:nvPr/>
        </p:nvSpPr>
        <p:spPr>
          <a:xfrm>
            <a:off x="4785484" y="4822090"/>
            <a:ext cx="416716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Класси</a:t>
            </a:r>
            <a:r>
              <a:rPr lang="ru-RU" sz="2400" dirty="0"/>
              <a:t>ческая многопоточность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BBC57-F243-B479-76F6-B07A815F78E4}"/>
              </a:ext>
            </a:extLst>
          </p:cNvPr>
          <p:cNvSpPr txBox="1"/>
          <p:nvPr/>
        </p:nvSpPr>
        <p:spPr>
          <a:xfrm>
            <a:off x="11239517" y="9213497"/>
            <a:ext cx="41960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Асинхронное выполнение задач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6611B-9A41-A428-F3E0-C1BFC8D00607}"/>
              </a:ext>
            </a:extLst>
          </p:cNvPr>
          <p:cNvSpPr txBox="1"/>
          <p:nvPr/>
        </p:nvSpPr>
        <p:spPr>
          <a:xfrm>
            <a:off x="13072055" y="1945140"/>
            <a:ext cx="333563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Основная проблема – не 100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% </a:t>
            </a:r>
            <a:endParaRPr kumimoji="0" lang="ru-RU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утилизация ресурсов!</a:t>
            </a:r>
            <a:endParaRPr kumimoji="0" lang="en-RU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0910233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Пример оптимальной утилизации ресурсов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00A355A-C600-A326-BCEA-368456DBA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722951"/>
            <a:ext cx="10397630" cy="474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DE779C93-C85C-3F14-1032-994529FE3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02" y="5013584"/>
            <a:ext cx="10283848" cy="474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710CBB-4877-B89D-65FB-A8DBC83DD99C}"/>
              </a:ext>
            </a:extLst>
          </p:cNvPr>
          <p:cNvSpPr txBox="1"/>
          <p:nvPr/>
        </p:nvSpPr>
        <p:spPr>
          <a:xfrm>
            <a:off x="4516999" y="6472267"/>
            <a:ext cx="241187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Сервер на </a:t>
            </a:r>
            <a:r>
              <a:rPr lang="en-US" sz="2400" dirty="0"/>
              <a:t>NodeJS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57C49B-41F7-CF7A-BD62-F7D4FFCD54AD}"/>
              </a:ext>
            </a:extLst>
          </p:cNvPr>
          <p:cNvSpPr txBox="1"/>
          <p:nvPr/>
        </p:nvSpPr>
        <p:spPr>
          <a:xfrm>
            <a:off x="11571872" y="9807541"/>
            <a:ext cx="33897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/>
              <a:t>Сервер на </a:t>
            </a:r>
            <a:r>
              <a:rPr lang="en-US" sz="2400" dirty="0"/>
              <a:t>Java Servlet API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50877007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CompletableFuture</a:t>
            </a:r>
            <a:r>
              <a:rPr lang="en-US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ACFE6C-0041-E215-C1E2-301A6ED39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500" y="2410381"/>
            <a:ext cx="2948904" cy="5658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DE2804-68FA-FF3C-4A33-8A366538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270" y="2777750"/>
            <a:ext cx="7897324" cy="5290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8C3FC9-E9EF-B405-7773-45AEA8115796}"/>
              </a:ext>
            </a:extLst>
          </p:cNvPr>
          <p:cNvSpPr txBox="1"/>
          <p:nvPr/>
        </p:nvSpPr>
        <p:spPr>
          <a:xfrm>
            <a:off x="4071747" y="8164971"/>
            <a:ext cx="2714844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Future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(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 5+)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F682D-38F6-E418-C2EA-6DAEE06D5AED}"/>
              </a:ext>
            </a:extLst>
          </p:cNvPr>
          <p:cNvSpPr txBox="1"/>
          <p:nvPr/>
        </p:nvSpPr>
        <p:spPr>
          <a:xfrm>
            <a:off x="10867790" y="8200731"/>
            <a:ext cx="4782718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RU" sz="3200" dirty="0"/>
              <a:t>Completable</a:t>
            </a:r>
            <a:r>
              <a:rPr kumimoji="0" lang="en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Future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(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Java 8+)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17907173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>
                <a:latin typeface="Tinkoff Sans" panose="02000506050000020004" pitchFamily="2" charset="0"/>
              </a:rPr>
              <a:t>CompletableFuture</a:t>
            </a:r>
            <a:r>
              <a:rPr lang="en-US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07E971-F71E-31B5-D46D-F89FDDD85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1110" y="2194983"/>
            <a:ext cx="8782050" cy="6342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C4065C-1BD9-5339-2A94-C0300218ED36}"/>
              </a:ext>
            </a:extLst>
          </p:cNvPr>
          <p:cNvSpPr txBox="1"/>
          <p:nvPr/>
        </p:nvSpPr>
        <p:spPr>
          <a:xfrm>
            <a:off x="719138" y="2194983"/>
            <a:ext cx="6964957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CompletableFuture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реализует сразу два интерфейса – уже знакомый нам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Future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</a:t>
            </a:r>
            <a:r>
              <a:rPr kumimoji="0" lang="en-US" sz="3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CompletaionStage</a:t>
            </a: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A17FA-FDFE-A0EF-C9D8-F10CC662D925}"/>
              </a:ext>
            </a:extLst>
          </p:cNvPr>
          <p:cNvSpPr txBox="1"/>
          <p:nvPr/>
        </p:nvSpPr>
        <p:spPr>
          <a:xfrm>
            <a:off x="9833242" y="9856215"/>
            <a:ext cx="9507938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Давайте детальнее познакомимся с </a:t>
            </a:r>
            <a:r>
              <a:rPr kumimoji="0" lang="en-US" sz="3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CompletionStage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!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22862783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 err="1">
                <a:latin typeface="Tinkoff Sans" panose="02000506050000020004" pitchFamily="2" charset="0"/>
              </a:rPr>
              <a:t>CompletionStage</a:t>
            </a:r>
            <a:r>
              <a:rPr lang="ru-RU" sz="6000" b="1" baseline="-25000" dirty="0">
                <a:latin typeface="Tinkoff Sans" panose="02000506050000020004" pitchFamily="2" charset="0"/>
              </a:rPr>
              <a:t>1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C3F10B-FAF5-4C65-61D4-36C747602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659128"/>
            <a:ext cx="13171742" cy="8660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07F930-319D-58C5-D7B0-54433DD9CE39}"/>
              </a:ext>
            </a:extLst>
          </p:cNvPr>
          <p:cNvSpPr txBox="1"/>
          <p:nvPr/>
        </p:nvSpPr>
        <p:spPr>
          <a:xfrm>
            <a:off x="13377322" y="1913467"/>
            <a:ext cx="5815051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 dirty="0"/>
              <a:t>И это еще не финальный список!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Всего в интерфейсе </a:t>
            </a:r>
            <a:r>
              <a:rPr lang="ru-RU" sz="4000" b="1" dirty="0"/>
              <a:t>45</a:t>
            </a:r>
            <a:r>
              <a:rPr lang="ru-RU" sz="3200" dirty="0"/>
              <a:t> методов!</a:t>
            </a:r>
            <a:endParaRPr kumimoji="0" lang="en-RU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BC3153-CC37-A9C7-4FBD-7EB0E1CB2E3C}"/>
              </a:ext>
            </a:extLst>
          </p:cNvPr>
          <p:cNvSpPr txBox="1"/>
          <p:nvPr/>
        </p:nvSpPr>
        <p:spPr>
          <a:xfrm>
            <a:off x="7071292" y="10148310"/>
            <a:ext cx="467434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2935566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69440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en-US" sz="6000" b="1" dirty="0" err="1">
                <a:latin typeface="Tinkoff Sans" panose="02000506050000020004" pitchFamily="2" charset="0"/>
              </a:rPr>
              <a:t>CompletionStage</a:t>
            </a:r>
            <a:r>
              <a:rPr lang="ru-RU" sz="6000" b="1" baseline="-25000" dirty="0">
                <a:latin typeface="Tinkoff Sans" panose="02000506050000020004" pitchFamily="2" charset="0"/>
              </a:rPr>
              <a:t>2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7F930-319D-58C5-D7B0-54433DD9CE39}"/>
              </a:ext>
            </a:extLst>
          </p:cNvPr>
          <p:cNvSpPr txBox="1"/>
          <p:nvPr/>
        </p:nvSpPr>
        <p:spPr>
          <a:xfrm>
            <a:off x="719137" y="2178980"/>
            <a:ext cx="12770482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 dirty="0"/>
              <a:t>Все методы интерфейса можно разбить на несколько больших категорий</a:t>
            </a:r>
            <a:r>
              <a:rPr lang="en-US" sz="3200" dirty="0"/>
              <a:t>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6783A3-71D2-DDBB-BA90-5378C803F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491481"/>
              </p:ext>
            </p:extLst>
          </p:nvPr>
        </p:nvGraphicFramePr>
        <p:xfrm>
          <a:off x="719138" y="2836862"/>
          <a:ext cx="18361026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1263">
                  <a:extLst>
                    <a:ext uri="{9D8B030D-6E8A-4147-A177-3AD203B41FA5}">
                      <a16:colId xmlns:a16="http://schemas.microsoft.com/office/drawing/2014/main" val="3403991597"/>
                    </a:ext>
                  </a:extLst>
                </a:gridCol>
                <a:gridCol w="9529763">
                  <a:extLst>
                    <a:ext uri="{9D8B030D-6E8A-4147-A177-3AD203B41FA5}">
                      <a16:colId xmlns:a16="http://schemas.microsoft.com/office/drawing/2014/main" val="1302802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latin typeface="Tinkoff Sans" panose="02000506050000020004" pitchFamily="2" charset="77"/>
                        </a:rPr>
                        <a:t>Методы</a:t>
                      </a:r>
                      <a:endParaRPr lang="en-RU" sz="30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latin typeface="Tinkoff Sans" panose="02000506050000020004" pitchFamily="2" charset="77"/>
                        </a:rPr>
                        <a:t>Описание</a:t>
                      </a:r>
                      <a:endParaRPr lang="en-RU" sz="30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76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RU" sz="3200" dirty="0">
                          <a:latin typeface="Tinkoff Sans" panose="02000506050000020004" pitchFamily="2" charset="77"/>
                        </a:rPr>
                        <a:t>thenApply, thenAccept, thenRun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3200" dirty="0">
                          <a:latin typeface="Tinkoff Sans" panose="02000506050000020004" pitchFamily="2" charset="77"/>
                        </a:rPr>
                        <a:t>Методы, с помощью которых можно построить базовый </a:t>
                      </a:r>
                      <a:r>
                        <a:rPr lang="ru-RU" sz="3200" dirty="0" err="1">
                          <a:latin typeface="Tinkoff Sans" panose="02000506050000020004" pitchFamily="2" charset="77"/>
                        </a:rPr>
                        <a:t>пайплайн</a:t>
                      </a:r>
                      <a:r>
                        <a:rPr lang="ru-RU" sz="3200" dirty="0">
                          <a:latin typeface="Tinkoff Sans" panose="02000506050000020004" pitchFamily="2" charset="77"/>
                        </a:rPr>
                        <a:t> последовательной асинхронной обработки данных. </a:t>
                      </a:r>
                      <a:endParaRPr lang="en-RU" sz="32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57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acceptEither</a:t>
                      </a:r>
                      <a:r>
                        <a:rPr lang="en-US" sz="3200" dirty="0">
                          <a:latin typeface="Tinkoff Sans" panose="02000506050000020004" pitchFamily="2" charset="77"/>
                        </a:rPr>
                        <a:t>, </a:t>
                      </a:r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applyToEither</a:t>
                      </a:r>
                      <a:r>
                        <a:rPr lang="en-US" sz="3200" dirty="0">
                          <a:latin typeface="Tinkoff Sans" panose="02000506050000020004" pitchFamily="2" charset="77"/>
                        </a:rPr>
                        <a:t>, </a:t>
                      </a:r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thenCombine</a:t>
                      </a:r>
                      <a:r>
                        <a:rPr lang="en-US" sz="3200" dirty="0">
                          <a:latin typeface="Tinkoff Sans" panose="02000506050000020004" pitchFamily="2" charset="77"/>
                        </a:rPr>
                        <a:t>, </a:t>
                      </a:r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thenCompose</a:t>
                      </a:r>
                      <a:r>
                        <a:rPr lang="en-US" sz="3200" dirty="0">
                          <a:latin typeface="Tinkoff Sans" panose="02000506050000020004" pitchFamily="2" charset="77"/>
                        </a:rPr>
                        <a:t>, </a:t>
                      </a:r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thenAcceptBoth</a:t>
                      </a:r>
                      <a:r>
                        <a:rPr lang="en-US" sz="3200" dirty="0">
                          <a:latin typeface="Tinkoff Sans" panose="02000506050000020004" pitchFamily="2" charset="77"/>
                        </a:rPr>
                        <a:t>, </a:t>
                      </a:r>
                    </a:p>
                    <a:p>
                      <a:pPr algn="ctr"/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runAfterBoth</a:t>
                      </a:r>
                      <a:r>
                        <a:rPr lang="en-US" sz="3200" dirty="0">
                          <a:latin typeface="Tinkoff Sans" panose="02000506050000020004" pitchFamily="2" charset="77"/>
                        </a:rPr>
                        <a:t>, </a:t>
                      </a:r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runAfterEither</a:t>
                      </a:r>
                      <a:endParaRPr lang="en-RU" sz="32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3200" dirty="0">
                          <a:latin typeface="Tinkoff Sans" panose="02000506050000020004" pitchFamily="2" charset="77"/>
                        </a:rPr>
                        <a:t>Методы, которые в качестве аргументов принимают другие </a:t>
                      </a:r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CompletionStage</a:t>
                      </a:r>
                      <a:r>
                        <a:rPr lang="en-US" sz="3200" dirty="0">
                          <a:latin typeface="Tinkoff Sans" panose="02000506050000020004" pitchFamily="2" charset="77"/>
                        </a:rPr>
                        <a:t>, </a:t>
                      </a:r>
                      <a:r>
                        <a:rPr lang="ru-RU" sz="3200" dirty="0">
                          <a:latin typeface="Tinkoff Sans" panose="02000506050000020004" pitchFamily="2" charset="77"/>
                        </a:rPr>
                        <a:t>и позволяют организовывать порядок их исполнения. </a:t>
                      </a:r>
                      <a:endParaRPr lang="en-RU" sz="32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097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nkoff Sans" panose="02000506050000020004" pitchFamily="2" charset="77"/>
                        </a:rPr>
                        <a:t>handle*</a:t>
                      </a:r>
                      <a:endParaRPr lang="en-RU" sz="32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3200" dirty="0">
                          <a:latin typeface="Tinkoff Sans" panose="02000506050000020004" pitchFamily="2" charset="77"/>
                        </a:rPr>
                        <a:t>Методы, которые позволяют выполнить более низкоуровневую обработку результата текущего </a:t>
                      </a:r>
                      <a:r>
                        <a:rPr lang="en-US" sz="3200" dirty="0" err="1">
                          <a:latin typeface="Tinkoff Sans" panose="02000506050000020004" pitchFamily="2" charset="77"/>
                        </a:rPr>
                        <a:t>CompletionStage</a:t>
                      </a:r>
                      <a:r>
                        <a:rPr lang="ru-RU" sz="3200" dirty="0">
                          <a:latin typeface="Tinkoff Sans" panose="02000506050000020004" pitchFamily="2" charset="77"/>
                        </a:rPr>
                        <a:t>. </a:t>
                      </a:r>
                      <a:endParaRPr lang="en-RU" sz="32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57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nkoff Sans" panose="02000506050000020004" pitchFamily="2" charset="77"/>
                        </a:rPr>
                        <a:t>…Async</a:t>
                      </a:r>
                      <a:endParaRPr lang="en-RU" sz="32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3200" dirty="0">
                          <a:latin typeface="Tinkoff Sans" panose="02000506050000020004" pitchFamily="2" charset="77"/>
                        </a:rPr>
                        <a:t>Реально асинхронные аналоги методов выше. </a:t>
                      </a:r>
                      <a:endParaRPr lang="en-RU" sz="3200" dirty="0">
                        <a:latin typeface="Tinkoff Sans" panose="02000506050000020004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1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62782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Наконец-то посмотрим на примерах!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4" name="Picture 3" descr="IntelliJ Light Theme Theme for JetBrains IDEs | JetBrains Marketplace">
            <a:extLst>
              <a:ext uri="{FF2B5EF4-FFF2-40B4-BE49-F238E27FC236}">
                <a16:creationId xmlns:a16="http://schemas.microsoft.com/office/drawing/2014/main" id="{9CBAA9F6-796A-8AD1-5B93-E219C9DFF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97" y="1809344"/>
            <a:ext cx="11244571" cy="754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B547A-A249-5A42-5E6C-D531BDD959F6}"/>
              </a:ext>
            </a:extLst>
          </p:cNvPr>
          <p:cNvSpPr txBox="1"/>
          <p:nvPr/>
        </p:nvSpPr>
        <p:spPr>
          <a:xfrm>
            <a:off x="12110768" y="9350992"/>
            <a:ext cx="596252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исходному коду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91740770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en-US" sz="5400" b="1" dirty="0" err="1">
                <a:latin typeface="Tinkoff Sans" panose="02000506050000020004" pitchFamily="2" charset="0"/>
              </a:rPr>
              <a:t>ForkJoinPool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2251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8" y="562637"/>
            <a:ext cx="18016248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Кратко про то, что это такое</a:t>
            </a:r>
            <a:endParaRPr lang="en-US" sz="6000" b="1" dirty="0">
              <a:latin typeface="Tinkoff Sans" panose="02000506050000020004" pitchFamily="2" charset="0"/>
            </a:endParaRPr>
          </a:p>
        </p:txBody>
      </p:sp>
      <p:pic>
        <p:nvPicPr>
          <p:cNvPr id="6146" name="Picture 2" descr="Что такое ForkJoinPool? – Java">
            <a:extLst>
              <a:ext uri="{FF2B5EF4-FFF2-40B4-BE49-F238E27FC236}">
                <a16:creationId xmlns:a16="http://schemas.microsoft.com/office/drawing/2014/main" id="{4B2FD74D-3B51-E631-6E9A-71F448DE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1789577"/>
            <a:ext cx="11148484" cy="490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37302-2ABF-3961-A435-E22765F5999C}"/>
              </a:ext>
            </a:extLst>
          </p:cNvPr>
          <p:cNvSpPr txBox="1"/>
          <p:nvPr/>
        </p:nvSpPr>
        <p:spPr>
          <a:xfrm>
            <a:off x="3792706" y="6694910"/>
            <a:ext cx="368466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Структура компонентов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6148" name="Picture 4" descr="Java ForkJoinPool">
            <a:extLst>
              <a:ext uri="{FF2B5EF4-FFF2-40B4-BE49-F238E27FC236}">
                <a16:creationId xmlns:a16="http://schemas.microsoft.com/office/drawing/2014/main" id="{2531A5F6-7BBB-0172-DF47-612B0F52C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50" y="3663188"/>
            <a:ext cx="9031817" cy="606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11CCA0-E619-52FE-5B30-62285D975336}"/>
              </a:ext>
            </a:extLst>
          </p:cNvPr>
          <p:cNvSpPr txBox="1"/>
          <p:nvPr/>
        </p:nvSpPr>
        <p:spPr>
          <a:xfrm>
            <a:off x="11248346" y="9465023"/>
            <a:ext cx="6334424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Работает по принципу –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“</a:t>
            </a:r>
            <a:r>
              <a:rPr lang="en-GB" sz="2800" b="0" i="0" dirty="0">
                <a:solidFill>
                  <a:srgbClr val="040C28"/>
                </a:solidFill>
                <a:effectLst/>
                <a:latin typeface="Tinkoff Sans" panose="02000506050000020004" pitchFamily="2" charset="77"/>
              </a:rPr>
              <a:t>divide et </a:t>
            </a:r>
            <a:r>
              <a:rPr lang="en-GB" sz="2800" b="0" i="0" dirty="0" err="1">
                <a:solidFill>
                  <a:srgbClr val="040C28"/>
                </a:solidFill>
                <a:effectLst/>
                <a:latin typeface="Tinkoff Sans" panose="02000506050000020004" pitchFamily="2" charset="77"/>
              </a:rPr>
              <a:t>impera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 panose="02000506050000020004" pitchFamily="2" charset="77"/>
                <a:sym typeface="Tinkoff Sans"/>
              </a:rPr>
              <a:t>”</a:t>
            </a:r>
            <a:endParaRPr kumimoji="0" lang="ru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>
                <a:latin typeface="Tinkoff Sans" panose="02000506050000020004" pitchFamily="2" charset="77"/>
              </a:rPr>
              <a:t>(</a:t>
            </a:r>
            <a:r>
              <a:rPr lang="en-US" sz="2800" dirty="0">
                <a:latin typeface="Tinkoff Sans" panose="02000506050000020004" pitchFamily="2" charset="77"/>
              </a:rPr>
              <a:t>“</a:t>
            </a:r>
            <a:r>
              <a:rPr lang="ru-RU" sz="2800" dirty="0">
                <a:latin typeface="Tinkoff Sans" panose="02000506050000020004" pitchFamily="2" charset="77"/>
              </a:rPr>
              <a:t>Разделяй и властвуй</a:t>
            </a:r>
            <a:r>
              <a:rPr lang="en-US" sz="2800" dirty="0">
                <a:latin typeface="Tinkoff Sans" panose="02000506050000020004" pitchFamily="2" charset="77"/>
              </a:rPr>
              <a:t>”</a:t>
            </a:r>
            <a:r>
              <a:rPr lang="ru-RU" sz="2800" dirty="0">
                <a:latin typeface="Tinkoff Sans" panose="02000506050000020004" pitchFamily="2" charset="77"/>
              </a:rPr>
              <a:t>)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 panose="02000506050000020004" pitchFamily="2" charset="77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25033293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>
          <a:xfrm>
            <a:off x="5536692" y="4504064"/>
            <a:ext cx="12126468" cy="222058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</a:pPr>
            <a:r>
              <a:rPr lang="ru-RU" sz="5400" b="1" dirty="0">
                <a:latin typeface="Tinkoff Sans" panose="02000506050000020004" pitchFamily="2" charset="0"/>
              </a:rPr>
              <a:t>Бонус!</a:t>
            </a:r>
            <a:endParaRPr sz="5400" b="1" dirty="0">
              <a:latin typeface="Tinkoff Sans" panose="02000506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3592C-188F-5818-FDD5-F2F3FE7F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368"/>
          <a:stretch/>
        </p:blipFill>
        <p:spPr>
          <a:xfrm>
            <a:off x="429391" y="719138"/>
            <a:ext cx="3747299" cy="135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BCF10F-EA36-E511-0636-41887B90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91" y="278503"/>
            <a:ext cx="374729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3902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B49B6BCC-F49E-7E93-43C9-B3D7CD78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72234" y="10319999"/>
            <a:ext cx="1068946" cy="426062"/>
          </a:xfrm>
        </p:spPr>
        <p:txBody>
          <a:bodyPr/>
          <a:lstStyle/>
          <a:p>
            <a:fld id="{86CB4B4D-7CA3-9044-876B-883B54F8677D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2" name="Текст 17">
            <a:extLst>
              <a:ext uri="{FF2B5EF4-FFF2-40B4-BE49-F238E27FC236}">
                <a16:creationId xmlns:a16="http://schemas.microsoft.com/office/drawing/2014/main" id="{12A20E46-8A24-3742-5969-7AFB9A042AAE}"/>
              </a:ext>
            </a:extLst>
          </p:cNvPr>
          <p:cNvSpPr txBox="1">
            <a:spLocks/>
          </p:cNvSpPr>
          <p:nvPr/>
        </p:nvSpPr>
        <p:spPr>
          <a:xfrm>
            <a:off x="719137" y="562637"/>
            <a:ext cx="1821396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11443" algn="l" defTabSz="411479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5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20000" marR="0" indent="-445133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40000" marR="0" indent="-52606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60000" marR="0" indent="-598627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617794" marR="0" indent="-598628" algn="l" defTabSz="1509582" rtl="0" latinLnBrk="0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72585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127377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882168" marR="0" indent="-598628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636960" marR="0" indent="-598627" algn="l" defTabSz="1509582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600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/>
            <a:r>
              <a:rPr lang="ru-RU" sz="6000" b="1" dirty="0">
                <a:latin typeface="Tinkoff Sans" panose="02000506050000020004" pitchFamily="2" charset="0"/>
              </a:rPr>
              <a:t>Работа с профайлерами на примере</a:t>
            </a:r>
            <a:r>
              <a:rPr lang="en-US" sz="6000" b="1" dirty="0">
                <a:latin typeface="Tinkoff Sans" panose="02000506050000020004" pitchFamily="2" charset="0"/>
              </a:rPr>
              <a:t> </a:t>
            </a:r>
            <a:r>
              <a:rPr lang="en-US" sz="6000" b="1" dirty="0" err="1">
                <a:latin typeface="Tinkoff Sans" panose="02000506050000020004" pitchFamily="2" charset="0"/>
              </a:rPr>
              <a:t>VisualVM</a:t>
            </a:r>
            <a:endParaRPr lang="ru-RU" sz="6000" b="1" dirty="0">
              <a:latin typeface="Tinkoff Sans" panose="0200050605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188809-6097-DEDD-5966-F23F15A25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21" y="1930659"/>
            <a:ext cx="11642195" cy="7298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052A13-DA81-6A93-F81D-600E94893F39}"/>
              </a:ext>
            </a:extLst>
          </p:cNvPr>
          <p:cNvSpPr txBox="1"/>
          <p:nvPr/>
        </p:nvSpPr>
        <p:spPr>
          <a:xfrm>
            <a:off x="6900959" y="9150939"/>
            <a:ext cx="5850317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800" dirty="0"/>
              <a:t>Пример работы профайлера </a:t>
            </a:r>
            <a:r>
              <a:rPr lang="en-US" sz="2800" dirty="0"/>
              <a:t>Visual VM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430EC-4033-C813-09A1-278A07A4E0D9}"/>
              </a:ext>
            </a:extLst>
          </p:cNvPr>
          <p:cNvSpPr txBox="1"/>
          <p:nvPr/>
        </p:nvSpPr>
        <p:spPr>
          <a:xfrm>
            <a:off x="14882541" y="9917770"/>
            <a:ext cx="4197622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Обратимся к профайлеру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534391359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B92C54D0-457E-F14E-8808-733AED77E2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8593" y="9089865"/>
            <a:ext cx="8226425" cy="1351123"/>
          </a:xfrm>
          <a:prstGeom prst="rect">
            <a:avLst/>
          </a:prstGeom>
        </p:spPr>
        <p:txBody>
          <a:bodyPr lIns="0" tIns="0" rIns="0" bIns="0" anchor="b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0" b="0" i="0">
                <a:solidFill>
                  <a:srgbClr val="1A1919"/>
                </a:solidFill>
                <a:latin typeface="Tinkoff Sans"/>
                <a:cs typeface="Tinkoff Sans"/>
              </a:defRPr>
            </a:lvl1pPr>
          </a:lstStyle>
          <a:p>
            <a:pPr marL="12498" defTabSz="899880">
              <a:spcBef>
                <a:spcPts val="0"/>
              </a:spcBef>
              <a:defRPr/>
            </a:pPr>
            <a:r>
              <a:rPr lang="ru-RU" sz="9000" b="1" dirty="0">
                <a:latin typeface="Tinkoff Sans" panose="02000506050000020004" pitchFamily="2" charset="0"/>
              </a:rPr>
              <a:t>Спасибо!</a:t>
            </a:r>
            <a:endParaRPr sz="9000" b="1" dirty="0"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686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47150</TotalTime>
  <Words>1084</Words>
  <Application>Microsoft Macintosh PowerPoint</Application>
  <PresentationFormat>Custom</PresentationFormat>
  <Paragraphs>177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Tinkoff Sans</vt:lpstr>
      <vt:lpstr>Calibri</vt:lpstr>
      <vt:lpstr>Wingdings</vt:lpstr>
      <vt:lpstr>TINKOFFSANS-MEDIUM</vt:lpstr>
      <vt:lpstr>Arial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897</cp:revision>
  <dcterms:modified xsi:type="dcterms:W3CDTF">2024-11-27T15:59:39Z</dcterms:modified>
</cp:coreProperties>
</file>