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751" r:id="rId2"/>
    <p:sldId id="833" r:id="rId3"/>
    <p:sldId id="755" r:id="rId4"/>
    <p:sldId id="756" r:id="rId5"/>
    <p:sldId id="844" r:id="rId6"/>
    <p:sldId id="848" r:id="rId7"/>
    <p:sldId id="845" r:id="rId8"/>
    <p:sldId id="849" r:id="rId9"/>
    <p:sldId id="851" r:id="rId10"/>
    <p:sldId id="850" r:id="rId11"/>
    <p:sldId id="846" r:id="rId12"/>
    <p:sldId id="825" r:id="rId13"/>
    <p:sldId id="859" r:id="rId14"/>
    <p:sldId id="861" r:id="rId15"/>
    <p:sldId id="862" r:id="rId16"/>
    <p:sldId id="864" r:id="rId17"/>
    <p:sldId id="865" r:id="rId18"/>
    <p:sldId id="866" r:id="rId19"/>
    <p:sldId id="779" r:id="rId20"/>
  </p:sldIdLst>
  <p:sldSz cx="19799300" cy="11160125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Tinkoff Sans" panose="02000506050000020004" pitchFamily="2" charset="77"/>
      <p:regular r:id="rId27"/>
      <p:bold r:id="rId28"/>
    </p:embeddedFont>
    <p:embeddedFont>
      <p:font typeface="TINKOFFSANS-MEDIUM" panose="02000806050000020004" pitchFamily="2" charset="77"/>
      <p:regular r:id="rId29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3514" userDrawn="1">
          <p15:clr>
            <a:srgbClr val="A4A3A4"/>
          </p15:clr>
        </p15:guide>
        <p15:guide id="2" orient="horz" pos="10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A242"/>
    <a:srgbClr val="E2611D"/>
    <a:srgbClr val="E5ECFF"/>
    <a:srgbClr val="F5F5F6"/>
    <a:srgbClr val="458BF9"/>
    <a:srgbClr val="F5F5F8"/>
    <a:srgbClr val="F9F9F9"/>
    <a:srgbClr val="D87FE4"/>
    <a:srgbClr val="FFDD2C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8"/>
    <p:restoredTop sz="97059"/>
  </p:normalViewPr>
  <p:slideViewPr>
    <p:cSldViewPr snapToGrid="0" snapToObjects="1" showGuides="1">
      <p:cViewPr varScale="1">
        <p:scale>
          <a:sx n="61" d="100"/>
          <a:sy n="61" d="100"/>
        </p:scale>
        <p:origin x="240" y="904"/>
      </p:cViewPr>
      <p:guideLst>
        <p:guide pos="3514"/>
        <p:guide orient="horz" pos="1043"/>
      </p:guideLst>
    </p:cSldViewPr>
  </p:slideViewPr>
  <p:outlineViewPr>
    <p:cViewPr>
      <p:scale>
        <a:sx n="33" d="100"/>
        <a:sy n="33" d="100"/>
      </p:scale>
      <p:origin x="0" y="-3620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09" d="100"/>
          <a:sy n="109" d="100"/>
        </p:scale>
        <p:origin x="342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/>
              <a:t>04.12.2024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highlight>
          <a:srgbClr val="FFFF00"/>
        </a:highlight>
        <a:latin typeface="Tinkoff Sans" panose="02000506050000020004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7052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381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3387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367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2473408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2652590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2724006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3588817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510618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3093480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3012516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Слайд разделитель тем с </a:t>
            </a:r>
            <a:r>
              <a:rPr lang="ru-RU" dirty="0" err="1"/>
              <a:t>фирменымм</a:t>
            </a:r>
            <a:r>
              <a:rPr lang="ru-RU" dirty="0"/>
              <a:t> цветом и лого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Если необходимо поставить лого </a:t>
            </a:r>
            <a:r>
              <a:rPr lang="ru-RU" dirty="0" err="1"/>
              <a:t>суббренда</a:t>
            </a:r>
            <a:r>
              <a:rPr lang="ru-RU" dirty="0"/>
              <a:t> обратитесь к </a:t>
            </a:r>
            <a:r>
              <a:rPr lang="en" sz="1378" b="0" i="0" dirty="0" err="1">
                <a:solidFill>
                  <a:srgbClr val="458BF9"/>
                </a:solidFill>
                <a:effectLst/>
                <a:highlight>
                  <a:srgbClr val="FFFF00"/>
                </a:highlight>
                <a:latin typeface="Tinkoff Sans" panose="02000506050000020004" pitchFamily="2" charset="0"/>
                <a:ea typeface="+mj-ea"/>
                <a:cs typeface="+mj-cs"/>
                <a:sym typeface="Calibri"/>
              </a:rPr>
              <a:t>k.yashkina</a:t>
            </a:r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180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42255257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2777587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4145091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466835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Слайд разделитель тем с </a:t>
            </a:r>
            <a:r>
              <a:rPr lang="ru-RU" dirty="0" err="1"/>
              <a:t>фирменымм</a:t>
            </a:r>
            <a:r>
              <a:rPr lang="ru-RU" dirty="0"/>
              <a:t> цветом и лого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Если необходимо поставить лого </a:t>
            </a:r>
            <a:r>
              <a:rPr lang="ru-RU" dirty="0" err="1"/>
              <a:t>суббренда</a:t>
            </a:r>
            <a:r>
              <a:rPr lang="ru-RU" dirty="0"/>
              <a:t> обратитесь к </a:t>
            </a:r>
            <a:r>
              <a:rPr lang="en" sz="1378" b="0" i="0" dirty="0" err="1">
                <a:solidFill>
                  <a:srgbClr val="458BF9"/>
                </a:solidFill>
                <a:effectLst/>
                <a:highlight>
                  <a:srgbClr val="FFFF00"/>
                </a:highlight>
                <a:latin typeface="Tinkoff Sans" panose="02000506050000020004" pitchFamily="2" charset="0"/>
                <a:ea typeface="+mj-ea"/>
                <a:cs typeface="+mj-cs"/>
                <a:sym typeface="Calibri"/>
              </a:rPr>
              <a:t>k.yashkina</a:t>
            </a:r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352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33791925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5008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995965-FCC0-F0BF-8CE3-2A85BF3ED5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>
            <a:extLst>
              <a:ext uri="{FF2B5EF4-FFF2-40B4-BE49-F238E27FC236}">
                <a16:creationId xmlns:a16="http://schemas.microsoft.com/office/drawing/2014/main" id="{4FE4236F-2DEA-12BF-C5E2-0CB81B917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 panose="02000506050000020004" pitchFamily="2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949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390C7A8-CC92-BCD7-41CC-6B4A3773CAD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8003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7F778333-59A3-2642-BE91-04276F1F75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968"/>
            </a:lvl1pPr>
          </a:lstStyle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E6F39FC-2939-B6FC-5A41-54D0CC824EB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9475933-2594-4AEB-86E0-731D1D9BF899}"/>
              </a:ext>
            </a:extLst>
          </p:cNvPr>
          <p:cNvSpPr txBox="1">
            <a:spLocks/>
          </p:cNvSpPr>
          <p:nvPr userDrawn="1"/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0" marR="0" indent="450029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0" marR="0" indent="90006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0" marR="0" indent="135008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0" marR="0" indent="180012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0" marR="0" indent="225014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0" marR="0" indent="270017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0" marR="0" indent="315020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0" marR="0" indent="360023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41360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7F778333-59A3-2642-BE91-04276F1F75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968"/>
            </a:lvl1pPr>
          </a:lstStyle>
          <a:p>
            <a:r>
              <a:rPr lang="en-US" dirty="0"/>
              <a:t>1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FD1F63-EE09-18B7-1F6B-E87CE498A3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5" b="12816"/>
          <a:stretch/>
        </p:blipFill>
        <p:spPr>
          <a:xfrm>
            <a:off x="0" y="-1"/>
            <a:ext cx="19823463" cy="1116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067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>
            <a:extLst>
              <a:ext uri="{FF2B5EF4-FFF2-40B4-BE49-F238E27FC236}">
                <a16:creationId xmlns:a16="http://schemas.microsoft.com/office/drawing/2014/main" id="{75D008F1-66DD-C004-C478-B7AB4B727785}"/>
              </a:ext>
            </a:extLst>
          </p:cNvPr>
          <p:cNvSpPr/>
          <p:nvPr userDrawn="1"/>
        </p:nvSpPr>
        <p:spPr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3" name="Прямоугольник с одним скругленным углом 2">
            <a:extLst>
              <a:ext uri="{FF2B5EF4-FFF2-40B4-BE49-F238E27FC236}">
                <a16:creationId xmlns:a16="http://schemas.microsoft.com/office/drawing/2014/main" id="{6427A52A-A170-AD6C-355A-D28719B9B96F}"/>
              </a:ext>
            </a:extLst>
          </p:cNvPr>
          <p:cNvSpPr/>
          <p:nvPr userDrawn="1"/>
        </p:nvSpPr>
        <p:spPr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C4B22B15-9CD3-0A0E-6673-06A97918B7B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564417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CF900DCD-3DB9-C21F-8EE7-2A4B133EF24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383893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21524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23EA6E-2B43-084D-A39B-6FBBD0525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00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>
            <a:extLst>
              <a:ext uri="{FF2B5EF4-FFF2-40B4-BE49-F238E27FC236}">
                <a16:creationId xmlns:a16="http://schemas.microsoft.com/office/drawing/2014/main" id="{CC64711E-108F-6C69-B85E-DEBE2D8361B9}"/>
              </a:ext>
            </a:extLst>
          </p:cNvPr>
          <p:cNvSpPr/>
          <p:nvPr userDrawn="1"/>
        </p:nvSpPr>
        <p:spPr>
          <a:xfrm rot="10800000" flipH="1">
            <a:off x="10520490" y="0"/>
            <a:ext cx="9287822" cy="10458916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/>
            <a:endParaRPr lang="ru-RU" sz="1796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9059ADDE-EB1D-5FB1-1DB0-8992C3CB57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6899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244505-F7EC-F646-85E0-A42DEF51D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692"/>
          <a:stretch/>
        </p:blipFill>
        <p:spPr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>
            <a:extLst>
              <a:ext uri="{FF2B5EF4-FFF2-40B4-BE49-F238E27FC236}">
                <a16:creationId xmlns:a16="http://schemas.microsoft.com/office/drawing/2014/main" id="{77CD4A8F-DEA6-AEF2-9388-7CF41EDEFFD1}"/>
              </a:ext>
            </a:extLst>
          </p:cNvPr>
          <p:cNvSpPr/>
          <p:nvPr userDrawn="1"/>
        </p:nvSpPr>
        <p:spPr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/>
            <a:endParaRPr lang="ru-RU" sz="1796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85E07B2-C0E4-7A4B-23C2-A00ED9EBC14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6546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990E6B97-9591-7743-A53E-03339621AA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B46C4C-1034-10A7-9D85-BA384285E2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502827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B46C4582-C7E9-4148-8884-41BD35BD10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0" rIns="0"/>
          <a:lstStyle>
            <a:lvl1pPr>
              <a:defRPr>
                <a:noFill/>
              </a:defRPr>
            </a:lvl1pPr>
          </a:lstStyle>
          <a:p>
            <a:endParaRPr lang="ru-RU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8075107F-80DE-B50D-C61F-B6BD51331F9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704337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7">
            <a:extLst>
              <a:ext uri="{FF2B5EF4-FFF2-40B4-BE49-F238E27FC236}">
                <a16:creationId xmlns:a16="http://schemas.microsoft.com/office/drawing/2014/main" id="{FE972032-6100-9715-A133-BC54EDE512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 panose="0200050605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6EB488C-C959-31E5-22D5-64CE6C93BD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9353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 pitchFamily="2" charset="2"/>
              <a:buNone/>
              <a:tabLst>
                <a:tab pos="4711865" algn="l"/>
              </a:tabLst>
              <a:defRPr sz="2756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5pPr>
          </a:lstStyle>
          <a:p>
            <a:r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 pitchFamily="2" charset="2"/>
              <a:buNone/>
              <a:defRPr sz="5905"/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7CECC76-94C9-30F4-A0F6-8F4201CD711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6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5pPr>
          </a:lstStyle>
          <a:p>
            <a:r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7" spc="-97">
                <a:solidFill>
                  <a:srgbClr val="282828"/>
                </a:solidFill>
              </a:defRPr>
            </a:lvl1pPr>
          </a:lstStyle>
          <a:p>
            <a:r>
              <a:t>Таким образом постоянное информационно-пропагандистское  обеспечение нашей деятельности играет важную роль</a:t>
            </a:r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7" spc="-97">
                <a:solidFill>
                  <a:srgbClr val="282828"/>
                </a:solidFill>
              </a:defRPr>
            </a:lvl1pPr>
          </a:lstStyle>
          <a:p>
            <a:r>
              <a:t>Консультация	с широким активом</a:t>
            </a:r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5"/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238F5AD3-F762-7697-4634-D1BE6EAC44E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>
            <a:extLst>
              <a:ext uri="{FF2B5EF4-FFF2-40B4-BE49-F238E27FC236}">
                <a16:creationId xmlns:a16="http://schemas.microsoft.com/office/drawing/2014/main" id="{6F862D36-75F5-734D-B2BD-3B1AD33DD12E}"/>
              </a:ext>
            </a:extLst>
          </p:cNvPr>
          <p:cNvSpPr/>
          <p:nvPr userDrawn="1"/>
        </p:nvSpPr>
        <p:spPr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6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8E37AE35-2B96-3BF8-42DE-2E13E8395D8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167496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A09AFDF4-B415-7049-1D9A-3437F04E05C2}"/>
              </a:ext>
            </a:extLst>
          </p:cNvPr>
          <p:cNvSpPr/>
          <p:nvPr userDrawn="1"/>
        </p:nvSpPr>
        <p:spPr>
          <a:xfrm rot="16200000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62AA2099-DA1E-9EB9-91DB-61067B0895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531927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B85A017-193B-B346-A6A8-D35AFF7654BB}"/>
              </a:ext>
            </a:extLst>
          </p:cNvPr>
          <p:cNvSpPr/>
          <p:nvPr userDrawn="1"/>
        </p:nvSpPr>
        <p:spPr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D767E0E-239F-ECF8-7702-D740AA94F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08416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1126161-E8DB-AE4A-B93F-7680CA78E8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968"/>
            </a:lvl1pPr>
          </a:lstStyle>
          <a:p>
            <a:fld id="{86CB4B4D-7CA3-9044-876B-883B54F8677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0106480-AD69-C24B-9D63-9A432F463E77}"/>
              </a:ext>
            </a:extLst>
          </p:cNvPr>
          <p:cNvSpPr/>
          <p:nvPr userDrawn="1"/>
        </p:nvSpPr>
        <p:spPr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94C479B-8287-A554-C925-77FDC6E56631}"/>
              </a:ext>
            </a:extLst>
          </p:cNvPr>
          <p:cNvSpPr txBox="1">
            <a:spLocks/>
          </p:cNvSpPr>
          <p:nvPr userDrawn="1"/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0" marR="0" indent="450029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0" marR="0" indent="90006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0" marR="0" indent="135008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0" marR="0" indent="180012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0" marR="0" indent="225014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0" marR="0" indent="270017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0" marR="0" indent="315020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0" marR="0" indent="360023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441808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3515" userDrawn="1">
          <p15:clr>
            <a:srgbClr val="FBAE40"/>
          </p15:clr>
        </p15:guide>
        <p15:guide id="2" pos="623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0106480-AD69-C24B-9D63-9A432F463E77}"/>
              </a:ext>
            </a:extLst>
          </p:cNvPr>
          <p:cNvSpPr/>
          <p:nvPr userDrawn="1"/>
        </p:nvSpPr>
        <p:spPr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3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673694B7-2C77-28AC-8CAF-B798852D7084}"/>
              </a:ext>
            </a:extLst>
          </p:cNvPr>
          <p:cNvSpPr/>
          <p:nvPr userDrawn="1"/>
        </p:nvSpPr>
        <p:spPr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07682F18-8DFA-8B45-AC66-2469D8713F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611441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B09A6F8-A775-8715-407E-C69332CBC5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44131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6956256C-48F3-269E-DA0B-F9F36FC0D7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9634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415926E-81EF-1466-7D52-DAD555E2414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287615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C6B8652C-FA1B-2FC2-99D3-787F0C4EBE7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641696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229569A8-7A8E-3D0A-16C6-4155BC32BCE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D836DD8A-88BD-8A42-80E4-A7C2F04B7310}"/>
              </a:ext>
            </a:extLst>
          </p:cNvPr>
          <p:cNvSpPr/>
          <p:nvPr userDrawn="1"/>
        </p:nvSpPr>
        <p:spPr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5" name="Рисунок 8">
            <a:extLst>
              <a:ext uri="{FF2B5EF4-FFF2-40B4-BE49-F238E27FC236}">
                <a16:creationId xmlns:a16="http://schemas.microsoft.com/office/drawing/2014/main" id="{25DE1B06-3FF2-5ADB-6D74-35914AC912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951E70BA-05EB-F336-3056-93940562B4E6}"/>
              </a:ext>
            </a:extLst>
          </p:cNvPr>
          <p:cNvSpPr/>
          <p:nvPr userDrawn="1"/>
        </p:nvSpPr>
        <p:spPr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B84B1957-28B5-8D21-744F-F897A0D9E75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205054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823704E-EFE0-CB52-4796-7B56DAC6A2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E1284951-4FA0-549A-DB8B-17E874F7259B}"/>
              </a:ext>
            </a:extLst>
          </p:cNvPr>
          <p:cNvSpPr/>
          <p:nvPr userDrawn="1"/>
        </p:nvSpPr>
        <p:spPr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5" name="Рисунок 8">
            <a:extLst>
              <a:ext uri="{FF2B5EF4-FFF2-40B4-BE49-F238E27FC236}">
                <a16:creationId xmlns:a16="http://schemas.microsoft.com/office/drawing/2014/main" id="{CC0A6812-B280-5295-0583-309E15E5FF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01A1CA1B-2CEB-A7AA-005B-F864380D4AA7}"/>
              </a:ext>
            </a:extLst>
          </p:cNvPr>
          <p:cNvSpPr/>
          <p:nvPr userDrawn="1"/>
        </p:nvSpPr>
        <p:spPr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5986BE78-CABD-8A4C-1A7A-B89AC087E58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860526FA-B0DF-F38D-500D-99931D181914}"/>
              </a:ext>
            </a:extLst>
          </p:cNvPr>
          <p:cNvSpPr/>
          <p:nvPr userDrawn="1"/>
        </p:nvSpPr>
        <p:spPr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CA5CBEC2-5501-3A45-7BA0-FB9966037A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368694916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19ED438-C155-D7D1-A71E-4CF48940737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866B1C34-2642-3861-B25A-6D89741AFC8B}"/>
              </a:ext>
            </a:extLst>
          </p:cNvPr>
          <p:cNvSpPr/>
          <p:nvPr userDrawn="1"/>
        </p:nvSpPr>
        <p:spPr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5" name="Рисунок 8">
            <a:extLst>
              <a:ext uri="{FF2B5EF4-FFF2-40B4-BE49-F238E27FC236}">
                <a16:creationId xmlns:a16="http://schemas.microsoft.com/office/drawing/2014/main" id="{8B1A7973-D2AA-1AE6-F6FF-AF9582D91C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2098FCED-FF7D-5260-17DA-7B47498D6323}"/>
              </a:ext>
            </a:extLst>
          </p:cNvPr>
          <p:cNvSpPr/>
          <p:nvPr userDrawn="1"/>
        </p:nvSpPr>
        <p:spPr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275BE649-A240-5BF8-CA73-F88A2E76B5A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4766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F9EECE99-41F0-A950-305B-B592909EEE1F}"/>
              </a:ext>
            </a:extLst>
          </p:cNvPr>
          <p:cNvSpPr/>
          <p:nvPr userDrawn="1"/>
        </p:nvSpPr>
        <p:spPr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61E8FA02-2B73-F06B-B08E-E0124115192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369497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B02D0100-CFAF-4DDB-3D1F-B434992E4A3D}"/>
              </a:ext>
            </a:extLst>
          </p:cNvPr>
          <p:cNvSpPr/>
          <p:nvPr userDrawn="1"/>
        </p:nvSpPr>
        <p:spPr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2" name="Рисунок 8">
            <a:extLst>
              <a:ext uri="{FF2B5EF4-FFF2-40B4-BE49-F238E27FC236}">
                <a16:creationId xmlns:a16="http://schemas.microsoft.com/office/drawing/2014/main" id="{0A0D914A-D415-0922-3C8B-9AE3EE97A2A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3E84AB2C-372D-4351-5172-09F9FFBB7AF4}"/>
              </a:ext>
            </a:extLst>
          </p:cNvPr>
          <p:cNvSpPr/>
          <p:nvPr userDrawn="1"/>
        </p:nvSpPr>
        <p:spPr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4" name="Рисунок 8">
            <a:extLst>
              <a:ext uri="{FF2B5EF4-FFF2-40B4-BE49-F238E27FC236}">
                <a16:creationId xmlns:a16="http://schemas.microsoft.com/office/drawing/2014/main" id="{74B8F810-A681-B94B-F40B-C6351E3E0F7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424602004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36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22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5pPr>
          </a:lstStyle>
          <a:p>
            <a:r>
              <a:t>Заголовок слайда вашей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A59BAAE-503F-636C-D1D4-89E57770C7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0934803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32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22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5pPr>
          </a:lstStyle>
          <a:p>
            <a:r>
              <a:t>Заголовок слайда вашей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0CD8ABAC-5583-3BA9-0E9F-37251C23D9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098989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00853" y="5377809"/>
            <a:ext cx="13859510" cy="4134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1FF158A-7454-495D-9C21-F46587E7F9F6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49598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 pitchFamily="2" charset="2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r>
              <a:rPr dirty="0" err="1"/>
              <a:t>Заголовок</a:t>
            </a:r>
            <a:r>
              <a:rPr dirty="0"/>
              <a:t> </a:t>
            </a:r>
            <a:r>
              <a:rPr dirty="0" err="1"/>
              <a:t>слайда</a:t>
            </a:r>
            <a:r>
              <a:rPr dirty="0"/>
              <a:t>  </a:t>
            </a:r>
            <a:r>
              <a:rPr dirty="0" err="1"/>
              <a:t>вашей</a:t>
            </a:r>
            <a:r>
              <a:rPr dirty="0"/>
              <a:t> </a:t>
            </a:r>
            <a:r>
              <a:rPr dirty="0" err="1"/>
              <a:t>презентации</a:t>
            </a:r>
            <a:endParaRPr dirty="0"/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endParaRPr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EF9D6109-D4B5-CF31-E3BC-50D39DECFAF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5067083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С заголовок в 4 стро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3">
            <a:extLst>
              <a:ext uri="{FF2B5EF4-FFF2-40B4-BE49-F238E27FC236}">
                <a16:creationId xmlns:a16="http://schemas.microsoft.com/office/drawing/2014/main" id="{B9D98041-F04C-AD4D-9D86-5350C763691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AD63D9-72CC-414C-8513-FEC94A6659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07423" y="10027798"/>
            <a:ext cx="3092077" cy="4258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marR="0" indent="0" algn="r" defTabSz="1485609" rtl="0" eaLnBrk="1" fontAlgn="auto" latinLnBrk="0" hangingPunct="1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000" spc="0"/>
            </a:lvl1pPr>
          </a:lstStyle>
          <a:p>
            <a:pPr lvl="0"/>
            <a:r>
              <a:rPr lang="ru-RU" dirty="0"/>
              <a:t>01.01.2024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F920E21F-7837-BF45-A411-A34ACF1444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2491" y="10031915"/>
            <a:ext cx="3065519" cy="421746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12498" marR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0"/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116" b="0" i="0" u="none" strike="noStrike" kern="0" cap="none" spc="8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Автор</a:t>
            </a:r>
            <a:r>
              <a:rPr kumimoji="0" lang="ru-RU" sz="2116" b="0" i="0" u="none" strike="noStrike" kern="0" cap="none" spc="1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2116" b="0" i="0" u="none" strike="noStrike" kern="0" cap="none" spc="10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211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16" name="Текст 11">
            <a:extLst>
              <a:ext uri="{FF2B5EF4-FFF2-40B4-BE49-F238E27FC236}">
                <a16:creationId xmlns:a16="http://schemas.microsoft.com/office/drawing/2014/main" id="{00C10E39-A010-D24C-8F69-F5D1B7344A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2491" y="6298655"/>
            <a:ext cx="11134605" cy="686421"/>
          </a:xfrm>
          <a:prstGeom prst="rect">
            <a:avLst/>
          </a:prstGeom>
        </p:spPr>
        <p:txBody>
          <a:bodyPr lIns="0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51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Место</a:t>
            </a:r>
            <a:r>
              <a:rPr kumimoji="0" lang="ru-RU" sz="3298" b="0" i="0" u="none" strike="noStrike" kern="0" cap="none" spc="112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3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для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дополнительного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текста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329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15" name="Текст 12">
            <a:extLst>
              <a:ext uri="{FF2B5EF4-FFF2-40B4-BE49-F238E27FC236}">
                <a16:creationId xmlns:a16="http://schemas.microsoft.com/office/drawing/2014/main" id="{9C6A0592-1DA6-C945-8964-3F4C0640AD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491" y="4642973"/>
            <a:ext cx="16949403" cy="111959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 sz="5905" b="1" i="0">
                <a:latin typeface="Tinkoff Sans" panose="02000506050000020004" pitchFamily="2" charset="0"/>
                <a:ea typeface="Tinkoff Sans" panose="02000506050000020004" pitchFamily="2" charset="0"/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Заголовок</a:t>
            </a:r>
            <a:r>
              <a:rPr kumimoji="0" lang="ru-RU" sz="8758" b="0" i="0" u="none" strike="noStrike" kern="0" cap="none" spc="-24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8758" b="0" i="0" u="none" strike="noStrike" kern="0" cap="none" spc="-19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875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34B313-4500-52E7-39B4-1BF9C0A64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96" y="351064"/>
            <a:ext cx="3888000" cy="15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23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С заголовок в 4 стро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2">
            <a:extLst>
              <a:ext uri="{FF2B5EF4-FFF2-40B4-BE49-F238E27FC236}">
                <a16:creationId xmlns:a16="http://schemas.microsoft.com/office/drawing/2014/main" id="{32C52016-2FCD-DC51-371F-5F24F23813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07423" y="10027798"/>
            <a:ext cx="3092077" cy="4258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marR="0" indent="0" algn="r" defTabSz="1485609" rtl="0" eaLnBrk="1" fontAlgn="auto" latinLnBrk="0" hangingPunct="1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000" spc="0"/>
            </a:lvl1pPr>
          </a:lstStyle>
          <a:p>
            <a:pPr lvl="0"/>
            <a:r>
              <a:rPr lang="ru-RU" dirty="0"/>
              <a:t>01.01.2024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D5C0269-6787-5153-8D07-2A0E1BE199A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2491" y="10031915"/>
            <a:ext cx="3065519" cy="421746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12498" marR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0"/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116" b="0" i="0" u="none" strike="noStrike" kern="0" cap="none" spc="8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Автор</a:t>
            </a:r>
            <a:r>
              <a:rPr kumimoji="0" lang="ru-RU" sz="2116" b="0" i="0" u="none" strike="noStrike" kern="0" cap="none" spc="1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2116" b="0" i="0" u="none" strike="noStrike" kern="0" cap="none" spc="10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211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7" name="Текст 11">
            <a:extLst>
              <a:ext uri="{FF2B5EF4-FFF2-40B4-BE49-F238E27FC236}">
                <a16:creationId xmlns:a16="http://schemas.microsoft.com/office/drawing/2014/main" id="{81AB60AE-97F3-0612-173B-22103BC6C4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2491" y="6298655"/>
            <a:ext cx="11134605" cy="686421"/>
          </a:xfrm>
          <a:prstGeom prst="rect">
            <a:avLst/>
          </a:prstGeom>
        </p:spPr>
        <p:txBody>
          <a:bodyPr lIns="0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51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Место</a:t>
            </a:r>
            <a:r>
              <a:rPr kumimoji="0" lang="ru-RU" sz="3298" b="0" i="0" u="none" strike="noStrike" kern="0" cap="none" spc="112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3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для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дополнительного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текста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329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A14D1FD4-A5D0-84DB-3720-AD43E7EE5B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491" y="4642973"/>
            <a:ext cx="16949403" cy="111959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 sz="5905" b="1" i="0">
                <a:latin typeface="Tinkoff Sans" panose="02000506050000020004" pitchFamily="2" charset="0"/>
                <a:ea typeface="Tinkoff Sans" panose="02000506050000020004" pitchFamily="2" charset="0"/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Заголовок</a:t>
            </a:r>
            <a:r>
              <a:rPr kumimoji="0" lang="ru-RU" sz="8758" b="0" i="0" u="none" strike="noStrike" kern="0" cap="none" spc="-24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8758" b="0" i="0" u="none" strike="noStrike" kern="0" cap="none" spc="-19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875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56CB65-E335-D753-910A-07442C20AA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96" y="351064"/>
            <a:ext cx="3888000" cy="15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385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AC0BBD-4A82-07C1-CB42-7414BA855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56" b="18588"/>
          <a:stretch/>
        </p:blipFill>
        <p:spPr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B36A0A8-5760-D751-4C2F-0C41A33D84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96" y="351064"/>
            <a:ext cx="3888000" cy="15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4562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>
            <a:extLst>
              <a:ext uri="{FF2B5EF4-FFF2-40B4-BE49-F238E27FC236}">
                <a16:creationId xmlns:a16="http://schemas.microsoft.com/office/drawing/2014/main" id="{C1618829-6C19-D941-9BE2-7A4E7212C8D8}"/>
              </a:ext>
            </a:extLst>
          </p:cNvPr>
          <p:cNvSpPr/>
          <p:nvPr userDrawn="1"/>
        </p:nvSpPr>
        <p:spPr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6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00C85B-1962-984B-B3CB-F6A1E121D3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D8A51F22-6493-824D-9F2C-E966B7B9253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ru-RU" dirty="0"/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BA4C55EF-F38E-EC4C-89E2-F8C67C54952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0576834-494C-37F1-95CC-CF3C3979FD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7160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EDC63EE5-58DC-1F60-4B8D-9AA757219A2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77433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72"/>
            </a:lvl1pPr>
            <a:lvl2pPr marL="914219" indent="-171416">
              <a:buFontTx/>
              <a:defRPr sz="1772"/>
            </a:lvl2pPr>
            <a:lvl3pPr marL="1688192" indent="-202584">
              <a:buFontTx/>
              <a:defRPr sz="1772"/>
            </a:lvl3pPr>
            <a:lvl4pPr marL="2458939" indent="-230524">
              <a:buFontTx/>
              <a:defRPr sz="1772"/>
            </a:lvl4pPr>
            <a:lvl5pPr marL="3201744" indent="-230524">
              <a:buFontTx/>
              <a:defRPr sz="1772"/>
            </a:lvl5pPr>
          </a:lstStyle>
          <a:p>
            <a:r>
              <a:t>Разнообразный и богатый опыт рамки  и место обучения кадров позволяет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>
          <a:xfrm>
            <a:off x="15447896" y="5582374"/>
            <a:ext cx="3587374" cy="1473099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  и место обучения кадров позволяет выполнить важные задания по разработке</a:t>
            </a:r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
и место обучения кадров позволяет</a:t>
            </a:r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 и место обучения кадров позволяет</a:t>
            </a:r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
и место обучения кадров позволяет</a:t>
            </a:r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557D1B9-4244-912E-0ABA-A5E2815994A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319602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A5E55C7B-9DB4-1FFD-89DD-4554FF4928D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6275148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2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FB5BC020-4F3E-662D-E779-7340409B0BE0}"/>
              </a:ext>
            </a:extLst>
          </p:cNvPr>
          <p:cNvSpPr/>
          <p:nvPr userDrawn="1"/>
        </p:nvSpPr>
        <p:spPr>
          <a:xfrm rot="10800000">
            <a:off x="-6352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161697" y="4167873"/>
            <a:ext cx="11037111" cy="1809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отбивочном</a:t>
            </a:r>
            <a:r>
              <a:rPr dirty="0"/>
              <a:t> </a:t>
            </a:r>
            <a:r>
              <a:rPr dirty="0" err="1"/>
              <a:t>слайде</a:t>
            </a:r>
            <a:r>
              <a:rPr dirty="0"/>
              <a:t> </a:t>
            </a:r>
            <a:r>
              <a:rPr dirty="0" err="1"/>
              <a:t>вашей</a:t>
            </a:r>
            <a:r>
              <a:rPr dirty="0"/>
              <a:t>  </a:t>
            </a:r>
            <a:r>
              <a:rPr dirty="0" err="1"/>
              <a:t>презентации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6CBB9F-F512-06BB-429B-E3A2BAD7F7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4" y="223840"/>
            <a:ext cx="3914906" cy="232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091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9242A4D8-F08A-AAAE-B492-D5F2DD5F5AD9}"/>
              </a:ext>
            </a:extLst>
          </p:cNvPr>
          <p:cNvSpPr/>
          <p:nvPr userDrawn="1"/>
        </p:nvSpPr>
        <p:spPr>
          <a:xfrm rot="10800000">
            <a:off x="-18662" y="-18661"/>
            <a:ext cx="6665512" cy="1116012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6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5pPr>
          </a:lstStyle>
          <a:p>
            <a:r>
              <a:rPr dirty="0" err="1"/>
              <a:t>Разнообразный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богатый</a:t>
            </a:r>
            <a:r>
              <a:rPr dirty="0"/>
              <a:t> </a:t>
            </a:r>
            <a:r>
              <a:rPr dirty="0" err="1"/>
              <a:t>опыт</a:t>
            </a:r>
            <a:r>
              <a:rPr dirty="0"/>
              <a:t> </a:t>
            </a:r>
            <a:r>
              <a:rPr dirty="0" err="1"/>
              <a:t>рамки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разработке</a:t>
            </a:r>
            <a:r>
              <a:rPr dirty="0"/>
              <a:t> </a:t>
            </a:r>
            <a:r>
              <a:rPr dirty="0" err="1"/>
              <a:t>позиций</a:t>
            </a:r>
            <a:r>
              <a:rPr dirty="0"/>
              <a:t>, </a:t>
            </a:r>
            <a:r>
              <a:rPr dirty="0" err="1"/>
              <a:t>занимаемых</a:t>
            </a:r>
            <a:r>
              <a:rPr dirty="0"/>
              <a:t> </a:t>
            </a:r>
            <a:r>
              <a:rPr dirty="0" err="1"/>
              <a:t>участниками</a:t>
            </a:r>
            <a:r>
              <a:rPr dirty="0"/>
              <a:t> 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отношении</a:t>
            </a:r>
            <a:r>
              <a:rPr dirty="0"/>
              <a:t> </a:t>
            </a:r>
            <a:r>
              <a:rPr dirty="0" err="1"/>
              <a:t>поставленных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 </a:t>
            </a:r>
            <a:r>
              <a:rPr dirty="0" err="1"/>
              <a:t>Таким</a:t>
            </a:r>
            <a:r>
              <a:rPr dirty="0"/>
              <a:t> </a:t>
            </a:r>
            <a:r>
              <a:rPr dirty="0" err="1"/>
              <a:t>образом</a:t>
            </a:r>
            <a:r>
              <a:rPr dirty="0"/>
              <a:t> </a:t>
            </a:r>
            <a:r>
              <a:rPr dirty="0" err="1"/>
              <a:t>дальнейшее</a:t>
            </a:r>
            <a:r>
              <a:rPr dirty="0"/>
              <a:t> </a:t>
            </a:r>
            <a:r>
              <a:rPr dirty="0" err="1"/>
              <a:t>развитие</a:t>
            </a:r>
            <a:r>
              <a:rPr dirty="0"/>
              <a:t>  </a:t>
            </a:r>
            <a:r>
              <a:rPr dirty="0" err="1"/>
              <a:t>различных</a:t>
            </a:r>
            <a:r>
              <a:rPr dirty="0"/>
              <a:t> </a:t>
            </a:r>
            <a:r>
              <a:rPr dirty="0" err="1"/>
              <a:t>форм</a:t>
            </a:r>
            <a:r>
              <a:rPr dirty="0"/>
              <a:t> </a:t>
            </a:r>
            <a:r>
              <a:rPr dirty="0" err="1"/>
              <a:t>деятельности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нас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 </a:t>
            </a:r>
            <a:r>
              <a:rPr dirty="0" err="1"/>
              <a:t>кадров</a:t>
            </a:r>
            <a:r>
              <a:rPr dirty="0"/>
              <a:t>, </a:t>
            </a:r>
            <a:r>
              <a:rPr dirty="0" err="1"/>
              <a:t>соответствует</a:t>
            </a:r>
            <a:r>
              <a:rPr dirty="0"/>
              <a:t> </a:t>
            </a:r>
            <a:r>
              <a:rPr dirty="0" err="1"/>
              <a:t>насущным</a:t>
            </a:r>
            <a:r>
              <a:rPr dirty="0"/>
              <a:t> </a:t>
            </a:r>
            <a:r>
              <a:rPr dirty="0" err="1"/>
              <a:t>потребностям</a:t>
            </a:r>
            <a:r>
              <a:rPr dirty="0"/>
              <a:t>.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стороны</a:t>
            </a:r>
            <a:r>
              <a:rPr dirty="0"/>
              <a:t>  </a:t>
            </a:r>
            <a:r>
              <a:rPr dirty="0" err="1"/>
              <a:t>консультация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широким</a:t>
            </a:r>
            <a:r>
              <a:rPr dirty="0"/>
              <a:t> </a:t>
            </a:r>
            <a:r>
              <a:rPr dirty="0" err="1"/>
              <a:t>активом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 </a:t>
            </a:r>
            <a:r>
              <a:rPr dirty="0" err="1"/>
              <a:t>массового</a:t>
            </a:r>
            <a:r>
              <a:rPr dirty="0"/>
              <a:t> </a:t>
            </a:r>
            <a:r>
              <a:rPr dirty="0" err="1"/>
              <a:t>участия</a:t>
            </a:r>
            <a:r>
              <a:rPr dirty="0"/>
              <a:t>.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стороны</a:t>
            </a:r>
            <a:r>
              <a:rPr dirty="0"/>
              <a:t> </a:t>
            </a:r>
            <a:r>
              <a:rPr dirty="0" err="1"/>
              <a:t>рамки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нас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</a:t>
            </a:r>
            <a:r>
              <a:rPr dirty="0" err="1"/>
              <a:t>массового</a:t>
            </a:r>
            <a:r>
              <a:rPr dirty="0"/>
              <a:t> </a:t>
            </a:r>
            <a:r>
              <a:rPr dirty="0" err="1"/>
              <a:t>участия</a:t>
            </a:r>
            <a:r>
              <a:rPr dirty="0"/>
              <a:t>. </a:t>
            </a:r>
            <a:r>
              <a:rPr dirty="0" err="1"/>
              <a:t>Таким</a:t>
            </a:r>
            <a:r>
              <a:rPr dirty="0"/>
              <a:t> </a:t>
            </a:r>
            <a:r>
              <a:rPr dirty="0" err="1"/>
              <a:t>образом</a:t>
            </a:r>
            <a:r>
              <a:rPr dirty="0"/>
              <a:t> </a:t>
            </a:r>
            <a:r>
              <a:rPr dirty="0" err="1"/>
              <a:t>постоянное</a:t>
            </a:r>
            <a:r>
              <a:rPr dirty="0"/>
              <a:t>  </a:t>
            </a:r>
            <a:r>
              <a:rPr dirty="0" err="1"/>
              <a:t>информационно-пропагандистское</a:t>
            </a:r>
            <a:r>
              <a:rPr dirty="0"/>
              <a:t> </a:t>
            </a:r>
            <a:r>
              <a:rPr dirty="0" err="1"/>
              <a:t>обеспечение</a:t>
            </a:r>
            <a:r>
              <a:rPr dirty="0"/>
              <a:t> </a:t>
            </a:r>
            <a:r>
              <a:rPr dirty="0" err="1"/>
              <a:t>нашей</a:t>
            </a:r>
            <a:r>
              <a:rPr dirty="0"/>
              <a:t> </a:t>
            </a:r>
            <a:r>
              <a:rPr dirty="0" err="1"/>
              <a:t>деятельности</a:t>
            </a:r>
            <a:r>
              <a:rPr dirty="0"/>
              <a:t> </a:t>
            </a:r>
            <a:r>
              <a:rPr dirty="0" err="1"/>
              <a:t>играет</a:t>
            </a:r>
            <a:r>
              <a:rPr dirty="0"/>
              <a:t>  </a:t>
            </a:r>
            <a:r>
              <a:rPr dirty="0" err="1"/>
              <a:t>важную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формировании</a:t>
            </a:r>
            <a:r>
              <a:rPr dirty="0"/>
              <a:t> </a:t>
            </a:r>
            <a:r>
              <a:rPr dirty="0" err="1"/>
              <a:t>позиций</a:t>
            </a:r>
            <a:r>
              <a:rPr dirty="0"/>
              <a:t>, </a:t>
            </a:r>
            <a:r>
              <a:rPr dirty="0" err="1"/>
              <a:t>занимаемых</a:t>
            </a:r>
            <a:r>
              <a:rPr dirty="0"/>
              <a:t> </a:t>
            </a:r>
            <a:r>
              <a:rPr dirty="0" err="1"/>
              <a:t>участниками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отношении</a:t>
            </a:r>
            <a:r>
              <a:rPr dirty="0"/>
              <a:t> </a:t>
            </a:r>
            <a:r>
              <a:rPr dirty="0" err="1"/>
              <a:t>поставленных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1">
                <a:solidFill>
                  <a:srgbClr val="282828"/>
                </a:solidFill>
              </a:defRPr>
            </a:lvl1pPr>
          </a:lstStyle>
          <a:p>
            <a:r>
              <a:t>С другой стороны рамки и место обучения кадров  требуют от нас анализа систем массового участия.</a:t>
            </a:r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22"/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053D5FA-5B6D-88B1-F501-A11E87DCB46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04404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FEA020A-297F-4949-8B2C-7A5BFA96861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17" r:id="rId2"/>
    <p:sldLayoutId id="2147483770" r:id="rId3"/>
    <p:sldLayoutId id="2147483769" r:id="rId4"/>
    <p:sldLayoutId id="2147483766" r:id="rId5"/>
    <p:sldLayoutId id="2147483752" r:id="rId6"/>
    <p:sldLayoutId id="2147483768" r:id="rId7"/>
    <p:sldLayoutId id="2147483758" r:id="rId8"/>
    <p:sldLayoutId id="2147483764" r:id="rId9"/>
    <p:sldLayoutId id="2147483753" r:id="rId10"/>
    <p:sldLayoutId id="2147483751" r:id="rId11"/>
    <p:sldLayoutId id="2147483742" r:id="rId12"/>
    <p:sldLayoutId id="2147483658" r:id="rId13"/>
    <p:sldLayoutId id="2147483659" r:id="rId14"/>
    <p:sldLayoutId id="2147483709" r:id="rId15"/>
    <p:sldLayoutId id="2147483741" r:id="rId16"/>
    <p:sldLayoutId id="2147483745" r:id="rId17"/>
    <p:sldLayoutId id="2147483744" r:id="rId18"/>
    <p:sldLayoutId id="2147483767" r:id="rId19"/>
    <p:sldLayoutId id="2147483754" r:id="rId20"/>
    <p:sldLayoutId id="2147483757" r:id="rId21"/>
    <p:sldLayoutId id="2147483750" r:id="rId22"/>
    <p:sldLayoutId id="2147483712" r:id="rId23"/>
    <p:sldLayoutId id="2147483761" r:id="rId24"/>
    <p:sldLayoutId id="2147483762" r:id="rId25"/>
    <p:sldLayoutId id="2147483763" r:id="rId26"/>
    <p:sldLayoutId id="2147483760" r:id="rId27"/>
    <p:sldLayoutId id="2147483756" r:id="rId28"/>
    <p:sldLayoutId id="2147483706" r:id="rId29"/>
    <p:sldLayoutId id="2147483711" r:id="rId30"/>
    <p:sldLayoutId id="2147483713" r:id="rId31"/>
    <p:sldLayoutId id="2147483716" r:id="rId32"/>
    <p:sldLayoutId id="2147483714" r:id="rId33"/>
    <p:sldLayoutId id="2147483743" r:id="rId34"/>
    <p:sldLayoutId id="2147483755" r:id="rId35"/>
    <p:sldLayoutId id="2147483748" r:id="rId36"/>
    <p:sldLayoutId id="2147483749" r:id="rId37"/>
    <p:sldLayoutId id="2147483772" r:id="rId38"/>
    <p:sldLayoutId id="2147483774" r:id="rId39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453" userDrawn="1">
          <p15:clr>
            <a:srgbClr val="F26B43"/>
          </p15:clr>
        </p15:guide>
        <p15:guide id="2" orient="horz" pos="453" userDrawn="1">
          <p15:clr>
            <a:srgbClr val="F26B43"/>
          </p15:clr>
        </p15:guide>
        <p15:guide id="3" pos="12019" userDrawn="1">
          <p15:clr>
            <a:srgbClr val="F26B43"/>
          </p15:clr>
        </p15:guide>
        <p15:guide id="4" orient="horz" pos="657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09A5AF8E-5F21-4E42-8D26-E6CDC47842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995589" y="10061174"/>
            <a:ext cx="3092077" cy="389048"/>
          </a:xfrm>
        </p:spPr>
        <p:txBody>
          <a:bodyPr anchor="b"/>
          <a:lstStyle/>
          <a:p>
            <a:pPr>
              <a:lnSpc>
                <a:spcPct val="100000"/>
              </a:lnSpc>
            </a:pPr>
            <a:r>
              <a:rPr lang="en-US" spc="31" dirty="0">
                <a:latin typeface="TINKOFFSANS-MEDIUM" panose="02000506050000020004" pitchFamily="2" charset="0"/>
              </a:rPr>
              <a:t>04</a:t>
            </a:r>
            <a:r>
              <a:rPr lang="ru-RU" sz="2000" spc="31" dirty="0">
                <a:latin typeface="TINKOFFSANS-MEDIUM" panose="02000506050000020004" pitchFamily="2" charset="0"/>
              </a:rPr>
              <a:t>.</a:t>
            </a:r>
            <a:r>
              <a:rPr lang="en-US" sz="2000" spc="31" dirty="0">
                <a:latin typeface="TINKOFFSANS-MEDIUM" panose="02000506050000020004" pitchFamily="2" charset="0"/>
              </a:rPr>
              <a:t>1</a:t>
            </a:r>
            <a:r>
              <a:rPr lang="ru-RU" sz="2000" spc="31" dirty="0">
                <a:latin typeface="TINKOFFSANS-MEDIUM" panose="02000506050000020004" pitchFamily="2" charset="0"/>
              </a:rPr>
              <a:t>2.2024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11D16811-92A2-3E44-9FD3-4216458C737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25196" y="10061174"/>
            <a:ext cx="2958178" cy="389048"/>
          </a:xfrm>
        </p:spPr>
        <p:txBody>
          <a:bodyPr lIns="0" tIns="0" rIns="0" bIns="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50" dirty="0">
                <a:latin typeface="TINKOFFSANS-MEDIUM" panose="02000506050000020004" pitchFamily="2" charset="0"/>
              </a:rPr>
              <a:t>Хватов Сергей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D7A02457-DA76-A84A-8D19-AD087EDEB02F}"/>
              </a:ext>
            </a:extLst>
          </p:cNvPr>
          <p:cNvSpPr txBox="1">
            <a:spLocks/>
          </p:cNvSpPr>
          <p:nvPr/>
        </p:nvSpPr>
        <p:spPr>
          <a:xfrm>
            <a:off x="592224" y="5580062"/>
            <a:ext cx="16949403" cy="111959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 sz="5905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>
              <a:lnSpc>
                <a:spcPts val="8200"/>
              </a:lnSpc>
            </a:pPr>
            <a:r>
              <a:rPr lang="ru-RU" sz="7200" b="1" dirty="0">
                <a:latin typeface="Tinkoff Sans" panose="02000506050000020004" pitchFamily="2" charset="0"/>
              </a:rPr>
              <a:t>Реактивное программирование и виртуальные потоки</a:t>
            </a:r>
            <a:endParaRPr lang="en-US" sz="7200" b="1" dirty="0">
              <a:latin typeface="Tinkoff Sans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9888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2457715" y="494014"/>
            <a:ext cx="15737900" cy="92333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algn="ctr" hangingPunct="1"/>
            <a:r>
              <a:rPr lang="ru-RU" sz="6000" b="1" dirty="0">
                <a:latin typeface="Tinkoff Sans" panose="02000506050000020004" pitchFamily="2" charset="0"/>
              </a:rPr>
              <a:t>Что нас ждет на ближайших семинарах?</a:t>
            </a:r>
          </a:p>
        </p:txBody>
      </p:sp>
      <p:pic>
        <p:nvPicPr>
          <p:cNvPr id="8" name="Picture 2" descr="Reactive Programming in Java: How, Why, and Is It Worth Doing? Part II.  Reactivity | Reactive Programming in Java: How, Why, and Is It Worth Doing?  Part II. Reactivity">
            <a:extLst>
              <a:ext uri="{FF2B5EF4-FFF2-40B4-BE49-F238E27FC236}">
                <a16:creationId xmlns:a16="http://schemas.microsoft.com/office/drawing/2014/main" id="{7083B7B1-F253-34E7-57A3-5FCB9377E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612" y="3334341"/>
            <a:ext cx="12103683" cy="615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4E4558-429F-BBDD-24FA-E4E8B1F6D2CE}"/>
              </a:ext>
            </a:extLst>
          </p:cNvPr>
          <p:cNvCxnSpPr>
            <a:cxnSpLocks/>
          </p:cNvCxnSpPr>
          <p:nvPr/>
        </p:nvCxnSpPr>
        <p:spPr>
          <a:xfrm flipV="1">
            <a:off x="4391085" y="2382592"/>
            <a:ext cx="0" cy="6986789"/>
          </a:xfrm>
          <a:prstGeom prst="straightConnector1">
            <a:avLst/>
          </a:prstGeom>
          <a:noFill/>
          <a:ln w="76200" cap="flat">
            <a:solidFill>
              <a:schemeClr val="bg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B3EAD5B-9F10-73CC-2356-3FC07B0A102C}"/>
              </a:ext>
            </a:extLst>
          </p:cNvPr>
          <p:cNvSpPr txBox="1"/>
          <p:nvPr/>
        </p:nvSpPr>
        <p:spPr>
          <a:xfrm>
            <a:off x="719138" y="4456678"/>
            <a:ext cx="3478816" cy="2246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Ход развития наших познаний в области многопоточности </a:t>
            </a:r>
            <a:r>
              <a:rPr lang="ru-RU" sz="2800" dirty="0"/>
              <a:t>с каждым последующим семинаром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B67761-FF87-A9AD-3112-B086A9925FD6}"/>
              </a:ext>
            </a:extLst>
          </p:cNvPr>
          <p:cNvSpPr/>
          <p:nvPr/>
        </p:nvSpPr>
        <p:spPr>
          <a:xfrm>
            <a:off x="4700790" y="2382592"/>
            <a:ext cx="11500834" cy="811369"/>
          </a:xfrm>
          <a:prstGeom prst="rect">
            <a:avLst/>
          </a:prstGeom>
          <a:solidFill>
            <a:srgbClr val="92D050">
              <a:alpha val="19000"/>
            </a:srgbClr>
          </a:solidFill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     </a:t>
            </a:r>
            <a:r>
              <a:rPr kumimoji="0" lang="en-RU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Java 19 					</a:t>
            </a:r>
            <a:r>
              <a:rPr lang="en-RU" sz="2000" dirty="0"/>
              <a:t>      </a:t>
            </a:r>
            <a:r>
              <a:rPr kumimoji="0" lang="en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Green Threads &amp; Project Loom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38FDDF54-2CD1-F706-E330-52AEEEF2EAE3}"/>
              </a:ext>
            </a:extLst>
          </p:cNvPr>
          <p:cNvSpPr/>
          <p:nvPr/>
        </p:nvSpPr>
        <p:spPr>
          <a:xfrm>
            <a:off x="16507295" y="8462355"/>
            <a:ext cx="434043" cy="907026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8A6DC-92F7-5A2B-5AAB-3B1A63046A19}"/>
              </a:ext>
            </a:extLst>
          </p:cNvPr>
          <p:cNvSpPr txBox="1"/>
          <p:nvPr/>
        </p:nvSpPr>
        <p:spPr>
          <a:xfrm>
            <a:off x="16941338" y="8731203"/>
            <a:ext cx="156388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11-ый семинар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7417A2D-A874-9BF7-DBD6-0E6C2271C6D4}"/>
              </a:ext>
            </a:extLst>
          </p:cNvPr>
          <p:cNvSpPr/>
          <p:nvPr/>
        </p:nvSpPr>
        <p:spPr>
          <a:xfrm>
            <a:off x="16507294" y="4788131"/>
            <a:ext cx="434043" cy="3334942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1A75DA-A7F3-C20A-90B8-6152550935D5}"/>
              </a:ext>
            </a:extLst>
          </p:cNvPr>
          <p:cNvSpPr txBox="1"/>
          <p:nvPr/>
        </p:nvSpPr>
        <p:spPr>
          <a:xfrm>
            <a:off x="16941338" y="6270937"/>
            <a:ext cx="156388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12-ый семинар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0D45382F-FE25-6FA1-54A0-58D506A04E9D}"/>
              </a:ext>
            </a:extLst>
          </p:cNvPr>
          <p:cNvSpPr/>
          <p:nvPr/>
        </p:nvSpPr>
        <p:spPr>
          <a:xfrm>
            <a:off x="16507293" y="2382592"/>
            <a:ext cx="434043" cy="2135600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5A7C9-A69A-E993-325B-077B60467986}"/>
              </a:ext>
            </a:extLst>
          </p:cNvPr>
          <p:cNvSpPr txBox="1"/>
          <p:nvPr/>
        </p:nvSpPr>
        <p:spPr>
          <a:xfrm>
            <a:off x="16941336" y="3149683"/>
            <a:ext cx="159755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200" dirty="0"/>
              <a:t>Сегодня!</a:t>
            </a:r>
            <a:endParaRPr kumimoji="0" lang="en-RU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4795844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Уровень текста 1…">
            <a:extLst>
              <a:ext uri="{FF2B5EF4-FFF2-40B4-BE49-F238E27FC236}">
                <a16:creationId xmlns:a16="http://schemas.microsoft.com/office/drawing/2014/main" id="{9DEEC648-0998-3F41-96D2-4F8794EBD374}"/>
              </a:ext>
            </a:extLst>
          </p:cNvPr>
          <p:cNvSpPr txBox="1">
            <a:spLocks/>
          </p:cNvSpPr>
          <p:nvPr/>
        </p:nvSpPr>
        <p:spPr>
          <a:xfrm>
            <a:off x="7079418" y="719138"/>
            <a:ext cx="12000744" cy="8363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rIns="44997" numCol="1" spcCol="1080000"/>
          <a:lstStyle>
            <a:lvl1pPr marL="0" marR="0" indent="0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sz="4800" b="1" dirty="0"/>
              <a:t>Сегодня мы с вами</a:t>
            </a:r>
            <a:r>
              <a:rPr lang="en-US" sz="4800" b="1" dirty="0"/>
              <a:t>:</a:t>
            </a:r>
          </a:p>
          <a:p>
            <a:pPr marL="571500" indent="-571500" hangingPunct="1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ru-RU" sz="4400" dirty="0"/>
              <a:t>обсудим, что такое реактивное программирование – как оно связано с асинхронным, каковы его основные концепции, преимущества и недостатки</a:t>
            </a:r>
          </a:p>
          <a:p>
            <a:pPr marL="571500" indent="-571500" hangingPunct="1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ru-RU" sz="4400" dirty="0"/>
              <a:t>поговорим про </a:t>
            </a:r>
            <a:r>
              <a:rPr lang="en-US" sz="4400" dirty="0"/>
              <a:t>“</a:t>
            </a:r>
            <a:r>
              <a:rPr lang="ru-RU" sz="4400" dirty="0"/>
              <a:t>будущее</a:t>
            </a:r>
            <a:r>
              <a:rPr lang="en-US" sz="4400" dirty="0"/>
              <a:t>”</a:t>
            </a:r>
            <a:r>
              <a:rPr lang="ru-RU" sz="4400" dirty="0"/>
              <a:t> многопоточности в </a:t>
            </a:r>
            <a:r>
              <a:rPr lang="en-US" sz="4400" dirty="0"/>
              <a:t>Java, </a:t>
            </a:r>
            <a:r>
              <a:rPr lang="ru-RU" sz="4400" dirty="0"/>
              <a:t>а также посмотрим, как это </a:t>
            </a:r>
            <a:r>
              <a:rPr lang="en-US" sz="4400" dirty="0"/>
              <a:t>“</a:t>
            </a:r>
            <a:r>
              <a:rPr lang="ru-RU" sz="4400" dirty="0"/>
              <a:t>будущее</a:t>
            </a:r>
            <a:r>
              <a:rPr lang="en-US" sz="4400" dirty="0"/>
              <a:t>”</a:t>
            </a:r>
            <a:r>
              <a:rPr lang="ru-RU" sz="4400" dirty="0"/>
              <a:t> уже достаточно давно реализовано в других языках программирования</a:t>
            </a:r>
          </a:p>
        </p:txBody>
      </p:sp>
      <p:sp>
        <p:nvSpPr>
          <p:cNvPr id="5" name="Текст 17">
            <a:extLst>
              <a:ext uri="{FF2B5EF4-FFF2-40B4-BE49-F238E27FC236}">
                <a16:creationId xmlns:a16="http://schemas.microsoft.com/office/drawing/2014/main" id="{8C1A5A30-7EC7-944E-9B8F-8B81B8F8D92E}"/>
              </a:ext>
            </a:extLst>
          </p:cNvPr>
          <p:cNvSpPr txBox="1">
            <a:spLocks/>
          </p:cNvSpPr>
          <p:nvPr/>
        </p:nvSpPr>
        <p:spPr>
          <a:xfrm>
            <a:off x="719138" y="577303"/>
            <a:ext cx="5404519" cy="1846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Что нас ждет сегодня?</a:t>
            </a: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87FD4996-2652-DAFF-C6AD-38E2C3FF3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60372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12646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ru-RU" sz="5400" b="1" dirty="0">
                <a:latin typeface="Tinkoff Sans" panose="02000506050000020004" pitchFamily="2" charset="0"/>
              </a:rPr>
              <a:t>Реактивное программирование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8725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“</a:t>
            </a:r>
            <a:r>
              <a:rPr lang="ru-RU" sz="6000" b="1" dirty="0">
                <a:latin typeface="Tinkoff Sans" panose="02000506050000020004" pitchFamily="2" charset="0"/>
              </a:rPr>
              <a:t>Реактивная</a:t>
            </a:r>
            <a:r>
              <a:rPr lang="en-US" sz="6000" b="1" dirty="0">
                <a:latin typeface="Tinkoff Sans" panose="02000506050000020004" pitchFamily="2" charset="0"/>
              </a:rPr>
              <a:t>” </a:t>
            </a:r>
            <a:r>
              <a:rPr lang="ru-RU" sz="6000" b="1" dirty="0">
                <a:latin typeface="Tinkoff Sans" panose="02000506050000020004" pitchFamily="2" charset="0"/>
              </a:rPr>
              <a:t>многопоточность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ACFE6C-0041-E215-C1E2-301A6ED39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034" y="2207181"/>
            <a:ext cx="2948904" cy="5658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DE2804-68FA-FF3C-4A33-8A3665381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2938" y="2468738"/>
            <a:ext cx="7897324" cy="52906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8C3FC9-E9EF-B405-7773-45AEA8115796}"/>
              </a:ext>
            </a:extLst>
          </p:cNvPr>
          <p:cNvSpPr txBox="1"/>
          <p:nvPr/>
        </p:nvSpPr>
        <p:spPr>
          <a:xfrm>
            <a:off x="1812251" y="8020432"/>
            <a:ext cx="188448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Future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(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Java 5)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FF682D-38F6-E418-C2EA-6DAEE06D5AED}"/>
              </a:ext>
            </a:extLst>
          </p:cNvPr>
          <p:cNvSpPr txBox="1"/>
          <p:nvPr/>
        </p:nvSpPr>
        <p:spPr>
          <a:xfrm>
            <a:off x="7956708" y="8020432"/>
            <a:ext cx="342978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RU" sz="2400" dirty="0"/>
              <a:t>Completable</a:t>
            </a:r>
            <a:r>
              <a:rPr kumimoji="0" lang="en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Future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(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Java 8)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142286-3BC6-AEA1-63C0-467EEA581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4511" y="1871990"/>
            <a:ext cx="4137755" cy="59932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5D81D3-6EC1-DF68-11A4-E7D8D0E8A413}"/>
              </a:ext>
            </a:extLst>
          </p:cNvPr>
          <p:cNvSpPr txBox="1"/>
          <p:nvPr/>
        </p:nvSpPr>
        <p:spPr>
          <a:xfrm>
            <a:off x="15215652" y="8020432"/>
            <a:ext cx="2195471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Reactive Streams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F0BD5C-149E-9A52-1C30-0F280C1331DB}"/>
              </a:ext>
            </a:extLst>
          </p:cNvPr>
          <p:cNvSpPr txBox="1"/>
          <p:nvPr/>
        </p:nvSpPr>
        <p:spPr>
          <a:xfrm>
            <a:off x="1417034" y="9219471"/>
            <a:ext cx="7854071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b="1" dirty="0"/>
              <a:t>Реактивное программирование – это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b="1" dirty="0"/>
              <a:t>подмножество асинхронного программирования!</a:t>
            </a:r>
            <a:endParaRPr kumimoji="0" lang="en-RU" sz="2800" b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417907173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Picture 6" descr="GitHub - smallrye/smallrye-mutiny: An Intuitive Event-Driven ...">
            <a:extLst>
              <a:ext uri="{FF2B5EF4-FFF2-40B4-BE49-F238E27FC236}">
                <a16:creationId xmlns:a16="http://schemas.microsoft.com/office/drawing/2014/main" id="{D3FF059F-EF4C-2C8F-0FCF-06327D4F5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8533" y="2091578"/>
            <a:ext cx="6051549" cy="302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Библиотеки и фреймворки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14338" name="Picture 2" descr="Introduction to Project Reactor - Knoldus Blogs">
            <a:extLst>
              <a:ext uri="{FF2B5EF4-FFF2-40B4-BE49-F238E27FC236}">
                <a16:creationId xmlns:a16="http://schemas.microsoft.com/office/drawing/2014/main" id="{AD637672-6F6E-C944-0C3C-B9BC705EF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49" y="2535042"/>
            <a:ext cx="9398985" cy="351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RxJava: что это за фреймворк от ReactiveX для Java-программирования на  android">
            <a:extLst>
              <a:ext uri="{FF2B5EF4-FFF2-40B4-BE49-F238E27FC236}">
                <a16:creationId xmlns:a16="http://schemas.microsoft.com/office/drawing/2014/main" id="{CFCB4A04-1D33-826A-A18D-C13FE7F41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9394" y="6660467"/>
            <a:ext cx="4690688" cy="222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R2DBC">
            <a:extLst>
              <a:ext uri="{FF2B5EF4-FFF2-40B4-BE49-F238E27FC236}">
                <a16:creationId xmlns:a16="http://schemas.microsoft.com/office/drawing/2014/main" id="{02506AFA-0B8E-566C-8D8E-24B0B9C3B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6790" y="1470469"/>
            <a:ext cx="4494561" cy="94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6" name="Picture 10" descr="My Guice Integration Adventures: Building a Server from scratch with Netty  – Ctrl+P">
            <a:extLst>
              <a:ext uri="{FF2B5EF4-FFF2-40B4-BE49-F238E27FC236}">
                <a16:creationId xmlns:a16="http://schemas.microsoft.com/office/drawing/2014/main" id="{702D86DE-7F36-C470-A858-354618605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800" y="4727324"/>
            <a:ext cx="3431041" cy="170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5279B0-D1B6-F99C-DBAD-F9B81CA6D1D1}"/>
              </a:ext>
            </a:extLst>
          </p:cNvPr>
          <p:cNvSpPr txBox="1"/>
          <p:nvPr/>
        </p:nvSpPr>
        <p:spPr>
          <a:xfrm>
            <a:off x="13513633" y="9187677"/>
            <a:ext cx="5019962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Другие наиболее часто используемые 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библиотеки и фреймворки 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B1F4A-2863-FCDD-3B8A-6110AADA68BD}"/>
              </a:ext>
            </a:extLst>
          </p:cNvPr>
          <p:cNvSpPr txBox="1"/>
          <p:nvPr/>
        </p:nvSpPr>
        <p:spPr>
          <a:xfrm>
            <a:off x="1924491" y="7025129"/>
            <a:ext cx="786849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Project Reactor – </a:t>
            </a:r>
            <a:r>
              <a:rPr lang="ru-RU" sz="2400" dirty="0"/>
              <a:t>фреймворк, о котором сегодня пойдет речь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429419085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Reactive Streams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E2FC34-E1CF-D44A-267C-7F808062A2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665" r="5745" b="8743"/>
          <a:stretch/>
        </p:blipFill>
        <p:spPr>
          <a:xfrm>
            <a:off x="719138" y="1485968"/>
            <a:ext cx="7999859" cy="37557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ED2529-CC95-3C4B-E622-C848BC553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804" y="1485967"/>
            <a:ext cx="8545359" cy="8783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9032D9-E3F0-A6AE-272F-DD42F0A6A9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0167"/>
          <a:stretch/>
        </p:blipFill>
        <p:spPr>
          <a:xfrm>
            <a:off x="719138" y="5423788"/>
            <a:ext cx="7999859" cy="490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0821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Reactive Streams Flow</a:t>
            </a:r>
          </a:p>
        </p:txBody>
      </p:sp>
      <p:pic>
        <p:nvPicPr>
          <p:cNvPr id="17410" name="Picture 2" descr="Let's Play with Reactive Streams on Armeria - Part 1">
            <a:extLst>
              <a:ext uri="{FF2B5EF4-FFF2-40B4-BE49-F238E27FC236}">
                <a16:creationId xmlns:a16="http://schemas.microsoft.com/office/drawing/2014/main" id="{BC1BD66F-BD81-8EB6-FF87-F8F43373F4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42"/>
          <a:stretch/>
        </p:blipFill>
        <p:spPr bwMode="auto">
          <a:xfrm>
            <a:off x="1365660" y="2160720"/>
            <a:ext cx="17067979" cy="753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254351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Модели </a:t>
            </a:r>
            <a:r>
              <a:rPr lang="ru-RU" sz="6000" b="1" dirty="0" err="1">
                <a:latin typeface="Tinkoff Sans" panose="02000506050000020004" pitchFamily="2" charset="0"/>
              </a:rPr>
              <a:t>пропагирования</a:t>
            </a:r>
            <a:r>
              <a:rPr lang="ru-RU" sz="6000" b="1" dirty="0">
                <a:latin typeface="Tinkoff Sans" panose="02000506050000020004" pitchFamily="2" charset="0"/>
              </a:rPr>
              <a:t> данных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FA1F993-8235-A4B7-B139-E176C50A8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8561" y="1655763"/>
            <a:ext cx="14862177" cy="8044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3F3C9-92BC-5D70-FDB5-05C5265682C8}"/>
              </a:ext>
            </a:extLst>
          </p:cNvPr>
          <p:cNvSpPr txBox="1"/>
          <p:nvPr/>
        </p:nvSpPr>
        <p:spPr>
          <a:xfrm>
            <a:off x="13066996" y="10025490"/>
            <a:ext cx="5173850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К какой модели относятся реактивные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</a:t>
            </a:r>
            <a:endParaRPr lang="ru-RU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а к</a:t>
            </a:r>
            <a:r>
              <a:rPr lang="ru-RU" sz="2400" dirty="0"/>
              <a:t> какой классические стримы</a:t>
            </a:r>
            <a:r>
              <a:rPr lang="en-US" sz="2400" dirty="0"/>
              <a:t>?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9168631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Reactor Pattern</a:t>
            </a:r>
          </a:p>
        </p:txBody>
      </p:sp>
      <p:pic>
        <p:nvPicPr>
          <p:cNvPr id="4" name="Google Shape;660;p37">
            <a:extLst>
              <a:ext uri="{FF2B5EF4-FFF2-40B4-BE49-F238E27FC236}">
                <a16:creationId xmlns:a16="http://schemas.microsoft.com/office/drawing/2014/main" id="{B2A7AFB6-7EE5-383A-0309-CBA075C9B9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818" r="7070"/>
          <a:stretch/>
        </p:blipFill>
        <p:spPr>
          <a:xfrm>
            <a:off x="2468377" y="1655763"/>
            <a:ext cx="13445544" cy="791642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61A2E1-8CDD-FC78-F43F-F5200008AAC5}"/>
              </a:ext>
            </a:extLst>
          </p:cNvPr>
          <p:cNvSpPr txBox="1"/>
          <p:nvPr/>
        </p:nvSpPr>
        <p:spPr>
          <a:xfrm>
            <a:off x="12891845" y="9979325"/>
            <a:ext cx="618831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Какие реализации данного шаблона вы знаете?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170328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21396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Примеры работы с </a:t>
            </a:r>
            <a:r>
              <a:rPr lang="en-US" sz="6000" b="1" dirty="0">
                <a:latin typeface="Tinkoff Sans" panose="02000506050000020004" pitchFamily="2" charset="0"/>
              </a:rPr>
              <a:t>Project Reactor</a:t>
            </a:r>
          </a:p>
        </p:txBody>
      </p:sp>
      <p:pic>
        <p:nvPicPr>
          <p:cNvPr id="5" name="Picture 4" descr="IntelliJ Light Theme Theme for JetBrains IDEs | JetBrains Marketplace">
            <a:extLst>
              <a:ext uri="{FF2B5EF4-FFF2-40B4-BE49-F238E27FC236}">
                <a16:creationId xmlns:a16="http://schemas.microsoft.com/office/drawing/2014/main" id="{E224E865-D5B4-0556-F436-CD146FBC1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97" y="1809344"/>
            <a:ext cx="11244571" cy="754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9786B4-457A-B211-EB16-EE7B7C503B3E}"/>
              </a:ext>
            </a:extLst>
          </p:cNvPr>
          <p:cNvSpPr txBox="1"/>
          <p:nvPr/>
        </p:nvSpPr>
        <p:spPr>
          <a:xfrm>
            <a:off x="12110768" y="9350992"/>
            <a:ext cx="596252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Обратимся к исходному коду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29604497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03502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en-US" sz="6600" b="1" dirty="0">
                <a:latin typeface="Tinkoff Sans" panose="02000506050000020004" pitchFamily="2" charset="0"/>
              </a:rPr>
              <a:t>“</a:t>
            </a:r>
            <a:r>
              <a:rPr lang="ru-RU" sz="6600" b="1" dirty="0">
                <a:latin typeface="Tinkoff Sans" panose="02000506050000020004" pitchFamily="2" charset="0"/>
              </a:rPr>
              <a:t>Будущее</a:t>
            </a:r>
            <a:r>
              <a:rPr lang="en-US" sz="6600" b="1" dirty="0">
                <a:latin typeface="Tinkoff Sans" panose="02000506050000020004" pitchFamily="2" charset="0"/>
              </a:rPr>
              <a:t>”</a:t>
            </a:r>
            <a:r>
              <a:rPr lang="ru-RU" sz="5400" b="1" dirty="0">
                <a:latin typeface="Tinkoff Sans" panose="02000506050000020004" pitchFamily="2" charset="0"/>
              </a:rPr>
              <a:t> многопоточности в </a:t>
            </a:r>
            <a:r>
              <a:rPr lang="en-US" sz="5400" b="1" dirty="0">
                <a:latin typeface="Tinkoff Sans" panose="02000506050000020004" pitchFamily="2" charset="0"/>
              </a:rPr>
              <a:t>Java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903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21396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Project Loom </a:t>
            </a:r>
            <a:r>
              <a:rPr lang="ru-RU" sz="6000" b="1" dirty="0">
                <a:latin typeface="Tinkoff Sans" panose="02000506050000020004" pitchFamily="2" charset="0"/>
              </a:rPr>
              <a:t>и виртуальные потоки</a:t>
            </a:r>
          </a:p>
        </p:txBody>
      </p:sp>
      <p:pic>
        <p:nvPicPr>
          <p:cNvPr id="20482" name="Picture 2" descr="Project Loom - NashTech Insights">
            <a:extLst>
              <a:ext uri="{FF2B5EF4-FFF2-40B4-BE49-F238E27FC236}">
                <a16:creationId xmlns:a16="http://schemas.microsoft.com/office/drawing/2014/main" id="{D05DF332-7E3B-9450-6F81-C2A19DB1D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2762" y="17673"/>
            <a:ext cx="1646538" cy="185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Virtual Threads in Java (Project Loom) - HappyCoders.eu">
            <a:extLst>
              <a:ext uri="{FF2B5EF4-FFF2-40B4-BE49-F238E27FC236}">
                <a16:creationId xmlns:a16="http://schemas.microsoft.com/office/drawing/2014/main" id="{500613ED-2C29-9E30-95BC-4C2AD3C29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1685381"/>
            <a:ext cx="10943210" cy="4910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 descr="Virtual Threads in Java (Project Loom) - HappyCoders.eu">
            <a:extLst>
              <a:ext uri="{FF2B5EF4-FFF2-40B4-BE49-F238E27FC236}">
                <a16:creationId xmlns:a16="http://schemas.microsoft.com/office/drawing/2014/main" id="{E8AF5466-412E-F03E-5B6F-70FEA747A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297" y="6143029"/>
            <a:ext cx="9238416" cy="4480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E989A-D02E-A839-AB3C-693E1BB0D9B5}"/>
              </a:ext>
            </a:extLst>
          </p:cNvPr>
          <p:cNvSpPr txBox="1"/>
          <p:nvPr/>
        </p:nvSpPr>
        <p:spPr>
          <a:xfrm>
            <a:off x="898012" y="7065572"/>
            <a:ext cx="431856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b="1" dirty="0"/>
              <a:t>Модель потоков в </a:t>
            </a:r>
            <a:r>
              <a:rPr lang="en-RU" sz="2400" b="1" dirty="0"/>
              <a:t>Project Loom</a:t>
            </a:r>
            <a:endParaRPr kumimoji="0" lang="en-RU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A28AD-C2C4-DFE2-8585-25BA93DF7010}"/>
              </a:ext>
            </a:extLst>
          </p:cNvPr>
          <p:cNvSpPr txBox="1"/>
          <p:nvPr/>
        </p:nvSpPr>
        <p:spPr>
          <a:xfrm>
            <a:off x="12092733" y="5789797"/>
            <a:ext cx="684998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Взаимодействие виртуальных и реальных потоков</a:t>
            </a:r>
            <a:endParaRPr kumimoji="0" lang="en-RU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64444872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21396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Примеры работы с виртуальными потоками…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Picture 4" descr="IntelliJ Light Theme Theme for JetBrains IDEs | JetBrains Marketplace">
            <a:extLst>
              <a:ext uri="{FF2B5EF4-FFF2-40B4-BE49-F238E27FC236}">
                <a16:creationId xmlns:a16="http://schemas.microsoft.com/office/drawing/2014/main" id="{E224E865-D5B4-0556-F436-CD146FBC1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97" y="1809344"/>
            <a:ext cx="11244571" cy="754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9786B4-457A-B211-EB16-EE7B7C503B3E}"/>
              </a:ext>
            </a:extLst>
          </p:cNvPr>
          <p:cNvSpPr txBox="1"/>
          <p:nvPr/>
        </p:nvSpPr>
        <p:spPr>
          <a:xfrm>
            <a:off x="12110768" y="9350992"/>
            <a:ext cx="596252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Обратимся к исходному коду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64462748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21396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Kotlin Coroutines</a:t>
            </a:r>
            <a:endParaRPr lang="ru-RU" sz="6000" b="1" dirty="0">
              <a:latin typeface="Tinkoff Sans" panose="02000506050000020004" pitchFamily="2" charset="0"/>
            </a:endParaRPr>
          </a:p>
        </p:txBody>
      </p:sp>
      <p:pic>
        <p:nvPicPr>
          <p:cNvPr id="22530" name="Picture 2" descr="GitHub - Kotlin/kotlinx.coroutines: Library support for Kotlin coroutines">
            <a:extLst>
              <a:ext uri="{FF2B5EF4-FFF2-40B4-BE49-F238E27FC236}">
                <a16:creationId xmlns:a16="http://schemas.microsoft.com/office/drawing/2014/main" id="{85E623C4-DD7B-4B33-9C2D-5795169D5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550" y="0"/>
            <a:ext cx="2399750" cy="119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A2FA13-AB6B-DC61-8985-AE5B98EE6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38" y="1949761"/>
            <a:ext cx="12212691" cy="84912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EF8DAD-2DFA-B976-51D4-8948E3F1C6D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501" r="6216"/>
          <a:stretch/>
        </p:blipFill>
        <p:spPr>
          <a:xfrm>
            <a:off x="10554744" y="1949761"/>
            <a:ext cx="8525418" cy="18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5776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21396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Kotlin Coroutines “</a:t>
            </a:r>
            <a:r>
              <a:rPr lang="ru-RU" sz="6000" b="1" dirty="0">
                <a:latin typeface="Tinkoff Sans" panose="02000506050000020004" pitchFamily="2" charset="0"/>
              </a:rPr>
              <a:t>под капотом</a:t>
            </a:r>
            <a:r>
              <a:rPr lang="en-US" sz="6000" b="1" dirty="0">
                <a:latin typeface="Tinkoff Sans" panose="02000506050000020004" pitchFamily="2" charset="0"/>
              </a:rPr>
              <a:t>”</a:t>
            </a:r>
            <a:endParaRPr lang="ru-RU" sz="6000" b="1" dirty="0">
              <a:latin typeface="Tinkoff Sans" panose="02000506050000020004" pitchFamily="2" charset="0"/>
            </a:endParaRPr>
          </a:p>
        </p:txBody>
      </p:sp>
      <p:pic>
        <p:nvPicPr>
          <p:cNvPr id="22530" name="Picture 2" descr="GitHub - Kotlin/kotlinx.coroutines: Library support for Kotlin coroutines">
            <a:extLst>
              <a:ext uri="{FF2B5EF4-FFF2-40B4-BE49-F238E27FC236}">
                <a16:creationId xmlns:a16="http://schemas.microsoft.com/office/drawing/2014/main" id="{85E623C4-DD7B-4B33-9C2D-5795169D5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550" y="0"/>
            <a:ext cx="2399750" cy="119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8" name="Picture 2" descr="Coroutines: Suspending State Machines | by Garima Jain | Google Developer  Experts | Medium">
            <a:extLst>
              <a:ext uri="{FF2B5EF4-FFF2-40B4-BE49-F238E27FC236}">
                <a16:creationId xmlns:a16="http://schemas.microsoft.com/office/drawing/2014/main" id="{E6CE7792-93F7-B6B2-7247-E8D7E438A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" y="2203555"/>
            <a:ext cx="8723597" cy="64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 descr="Coroutines: Suspending State Machines | by Garima Jain | Google Developer  Experts | Medium">
            <a:extLst>
              <a:ext uri="{FF2B5EF4-FFF2-40B4-BE49-F238E27FC236}">
                <a16:creationId xmlns:a16="http://schemas.microsoft.com/office/drawing/2014/main" id="{868E3759-CA51-0BD3-56EB-070E4A996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4494" y="1902923"/>
            <a:ext cx="9458608" cy="8706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75724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03502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ru-RU" sz="6600" b="1" dirty="0">
                <a:latin typeface="Tinkoff Sans" panose="02000506050000020004" pitchFamily="2" charset="0"/>
              </a:rPr>
              <a:t>Подведем итоги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0407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21396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Итоги</a:t>
            </a:r>
          </a:p>
        </p:txBody>
      </p:sp>
    </p:spTree>
    <p:extLst>
      <p:ext uri="{BB962C8B-B14F-4D97-AF65-F5344CB8AC3E}">
        <p14:creationId xmlns:p14="http://schemas.microsoft.com/office/powerpoint/2010/main" val="182375450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B92C54D0-457E-F14E-8808-733AED77E2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8593" y="9089865"/>
            <a:ext cx="8226425" cy="1351123"/>
          </a:xfrm>
          <a:prstGeom prst="rect">
            <a:avLst/>
          </a:prstGeom>
        </p:spPr>
        <p:txBody>
          <a:bodyPr lIns="0" tIns="0" rIns="0" bIns="0" anchor="b"/>
          <a:lstStyle>
            <a:lvl1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00" b="0" i="0">
                <a:solidFill>
                  <a:srgbClr val="1A1919"/>
                </a:solidFill>
                <a:latin typeface="Tinkoff Sans"/>
                <a:cs typeface="Tinkoff Sans"/>
              </a:defRPr>
            </a:lvl1pPr>
          </a:lstStyle>
          <a:p>
            <a:pPr marL="12498" defTabSz="899880">
              <a:spcBef>
                <a:spcPts val="0"/>
              </a:spcBef>
              <a:defRPr/>
            </a:pPr>
            <a:r>
              <a:rPr lang="ru-RU" sz="9000" b="1" dirty="0">
                <a:latin typeface="Tinkoff Sans" panose="02000506050000020004" pitchFamily="2" charset="0"/>
              </a:rPr>
              <a:t>Спасибо!</a:t>
            </a:r>
            <a:endParaRPr sz="9000" b="1" dirty="0">
              <a:latin typeface="Tinkoff Sans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6865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46004</TotalTime>
  <Words>466</Words>
  <Application>Microsoft Macintosh PowerPoint</Application>
  <PresentationFormat>Custom</PresentationFormat>
  <Paragraphs>86</Paragraphs>
  <Slides>19</Slides>
  <Notes>19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TINKOFFSANS-MEDIUM</vt:lpstr>
      <vt:lpstr>Calibri</vt:lpstr>
      <vt:lpstr>Wingdings</vt:lpstr>
      <vt:lpstr>Tinkoff Sans</vt:lpstr>
      <vt:lpstr>Arial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866</cp:revision>
  <dcterms:modified xsi:type="dcterms:W3CDTF">2024-12-04T15:29:07Z</dcterms:modified>
</cp:coreProperties>
</file>