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Inter"/>
      <p:bold r:id="rId33"/>
      <p:boldItalic r:id="rId34"/>
    </p:embeddedFont>
    <p:embeddedFont>
      <p:font typeface="Inter ExtraBold"/>
      <p:bold r:id="rId35"/>
      <p:boldItalic r:id="rId36"/>
    </p:embeddedFont>
    <p:embeddedFont>
      <p:font typeface="Courier Prime"/>
      <p:bold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nterExtraBold-bold.fntdata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37" Type="http://schemas.openxmlformats.org/officeDocument/2006/relationships/font" Target="fonts/CourierPrime-bold.fntdata"/><Relationship Id="rId14" Type="http://schemas.openxmlformats.org/officeDocument/2006/relationships/slide" Target="slides/slide9.xml"/><Relationship Id="rId36" Type="http://schemas.openxmlformats.org/officeDocument/2006/relationships/font" Target="fonts/InterExtra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CourierPrim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9b2d14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9b2d14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9b2d147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89b2d147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89b2d1475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89b2d1475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9b2d1475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9b2d1475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9b2d1475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89b2d1475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9b2d1475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89b2d1475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89b2d1475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89b2d1475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9b2d1475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89b2d1475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9b2d1475_0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89b2d1475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89b2d1475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89b2d1475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9b2d1475_0_1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89b2d1475_0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9b2d1475_0_2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89b2d1475_0_2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89b2d1475_0_2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89b2d1475_0_2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89b2d1475_0_2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89b2d1475_0_2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89b2d1475_0_2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89b2d1475_0_2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89b2d1475_0_3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f89b2d1475_0_3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89c1c4e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f89c1c4e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89c1c4ed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f89c1c4ed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89c1c4ed5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89c1c4ed5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89c1c4ed5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f89c1c4ed5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89c1c4ed5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f89c1c4ed5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89c1c4ed5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f89c1c4ed5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89c1c4ed5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89c1c4ed5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89c1c4ed5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f89c1c4ed5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89c1c4ed5_0_1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f89c1c4ed5_0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89c1c4ed5_0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f89c1c4ed5_0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9b2d1475_34_0)">
  <p:cSld name="Generated (g3f89b2d1475_34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9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Академия Бэкенда</a:t>
            </a:r>
            <a:endParaRPr b="1"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Давайте познакомимся!</a:t>
            </a:r>
            <a:endParaRPr/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Тут вставить слайд с краткой информацией о семинаристе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/>
        </p:nvSpPr>
        <p:spPr>
          <a:xfrm>
            <a:off x="476250" y="476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 нас с вами ждет?</a:t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6"/>
          <p:cNvGrpSpPr/>
          <p:nvPr/>
        </p:nvGrpSpPr>
        <p:grpSpPr>
          <a:xfrm>
            <a:off x="476250" y="1428750"/>
            <a:ext cx="2571900" cy="3048000"/>
            <a:chOff x="476250" y="1428750"/>
            <a:chExt cx="2571900" cy="3048000"/>
          </a:xfrm>
        </p:grpSpPr>
        <p:sp>
          <p:nvSpPr>
            <p:cNvPr id="69" name="Google Shape;69;p16"/>
            <p:cNvSpPr/>
            <p:nvPr/>
          </p:nvSpPr>
          <p:spPr>
            <a:xfrm>
              <a:off x="476250" y="1428750"/>
              <a:ext cx="2571900" cy="3048000"/>
            </a:xfrm>
            <a:prstGeom prst="roundRect">
              <a:avLst>
                <a:gd fmla="val 2962" name="adj"/>
              </a:avLst>
            </a:prstGeom>
            <a:solidFill>
              <a:srgbClr val="F9FAFB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6"/>
            <p:cNvSpPr txBox="1"/>
            <p:nvPr/>
          </p:nvSpPr>
          <p:spPr>
            <a:xfrm>
              <a:off x="666750" y="16192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calendar_today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Формат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Каждую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среду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в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19:00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Онлайн-встречи в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Толке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ru" sz="1200">
                  <a:solidFill>
                    <a:srgbClr val="374151"/>
                  </a:solidFill>
                </a:rPr>
                <a:t>Будет как </a:t>
              </a:r>
              <a:r>
                <a:rPr b="1" lang="ru" sz="1200">
                  <a:solidFill>
                    <a:srgbClr val="374151"/>
                  </a:solidFill>
                </a:rPr>
                <a:t>теория</a:t>
              </a:r>
              <a:r>
                <a:rPr lang="ru" sz="1200">
                  <a:solidFill>
                    <a:srgbClr val="374151"/>
                  </a:solidFill>
                </a:rPr>
                <a:t>, так и </a:t>
              </a:r>
              <a:r>
                <a:rPr b="1" lang="ru" sz="1200">
                  <a:solidFill>
                    <a:srgbClr val="374151"/>
                  </a:solidFill>
                </a:rPr>
                <a:t>практика</a:t>
              </a:r>
              <a:r>
                <a:rPr lang="ru" sz="1200">
                  <a:solidFill>
                    <a:srgbClr val="374151"/>
                  </a:solidFill>
                </a:rPr>
                <a:t>, </a:t>
              </a:r>
              <a:r>
                <a:rPr lang="ru" sz="1200">
                  <a:solidFill>
                    <a:srgbClr val="374151"/>
                  </a:solidFill>
                </a:rPr>
                <a:t>поэтому </a:t>
              </a:r>
              <a:r>
                <a:rPr i="1" lang="ru" sz="1200">
                  <a:solidFill>
                    <a:srgbClr val="374151"/>
                  </a:solidFill>
                </a:rPr>
                <a:t>хорошо бы</a:t>
              </a:r>
              <a:r>
                <a:rPr lang="ru" sz="1200">
                  <a:solidFill>
                    <a:srgbClr val="374151"/>
                  </a:solidFill>
                </a:rPr>
                <a:t> иметь ПК под рукой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16"/>
          <p:cNvGrpSpPr/>
          <p:nvPr/>
        </p:nvGrpSpPr>
        <p:grpSpPr>
          <a:xfrm>
            <a:off x="3286125" y="1428750"/>
            <a:ext cx="2571900" cy="3048000"/>
            <a:chOff x="3286125" y="1428750"/>
            <a:chExt cx="2571900" cy="3048000"/>
          </a:xfrm>
        </p:grpSpPr>
        <p:sp>
          <p:nvSpPr>
            <p:cNvPr id="72" name="Google Shape;72;p16"/>
            <p:cNvSpPr/>
            <p:nvPr/>
          </p:nvSpPr>
          <p:spPr>
            <a:xfrm>
              <a:off x="3286125" y="1428750"/>
              <a:ext cx="2571900" cy="3048000"/>
            </a:xfrm>
            <a:prstGeom prst="roundRect">
              <a:avLst>
                <a:gd fmla="val 2962" name="adj"/>
              </a:avLst>
            </a:prstGeom>
            <a:solidFill>
              <a:srgbClr val="F9FAFB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6"/>
            <p:cNvSpPr txBox="1"/>
            <p:nvPr/>
          </p:nvSpPr>
          <p:spPr>
            <a:xfrm>
              <a:off x="3476625" y="16192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Программа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В этом семестре — только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ванильная Java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От базы </a:t>
              </a:r>
              <a:r>
                <a:rPr lang="ru" sz="1200">
                  <a:solidFill>
                    <a:srgbClr val="374151"/>
                  </a:solidFill>
                </a:rPr>
                <a:t>вроде </a:t>
              </a:r>
              <a:r>
                <a:rPr i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ООП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и </a:t>
              </a:r>
              <a:r>
                <a:rPr i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ФП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до </a:t>
              </a:r>
              <a:r>
                <a:rPr b="1" lang="ru" sz="1200">
                  <a:solidFill>
                    <a:srgbClr val="374151"/>
                  </a:solidFill>
                </a:rPr>
                <a:t>многопоточности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и </a:t>
              </a:r>
              <a:r>
                <a:rPr b="1" lang="ru" sz="1200">
                  <a:solidFill>
                    <a:srgbClr val="374151"/>
                  </a:solidFill>
                </a:rPr>
                <a:t>сет</a:t>
              </a:r>
              <a:r>
                <a:rPr b="1" lang="ru" sz="1200">
                  <a:solidFill>
                    <a:srgbClr val="374151"/>
                  </a:solidFill>
                </a:rPr>
                <a:t>евого взаимодействия</a:t>
              </a:r>
              <a:endParaRPr b="1" sz="1200">
                <a:solidFill>
                  <a:srgbClr val="374151"/>
                </a:solidFill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</a:rPr>
                <a:t>Всего будет </a:t>
              </a:r>
              <a:r>
                <a:rPr b="1" lang="ru" sz="1200">
                  <a:solidFill>
                    <a:srgbClr val="374151"/>
                  </a:solidFill>
                </a:rPr>
                <a:t>15 семинаров</a:t>
              </a:r>
              <a:endParaRPr b="1" sz="1200">
                <a:solidFill>
                  <a:srgbClr val="374151"/>
                </a:solidFill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Всеми </a:t>
              </a:r>
              <a:r>
                <a:rPr lang="ru" sz="1200">
                  <a:solidFill>
                    <a:srgbClr val="374151"/>
                  </a:solidFill>
                </a:rPr>
                <a:t>л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юбимый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Spring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начнется во 2-м семестре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16"/>
          <p:cNvGrpSpPr/>
          <p:nvPr/>
        </p:nvGrpSpPr>
        <p:grpSpPr>
          <a:xfrm>
            <a:off x="6096000" y="1428750"/>
            <a:ext cx="2571900" cy="3048000"/>
            <a:chOff x="6096000" y="1428750"/>
            <a:chExt cx="2571900" cy="3048000"/>
          </a:xfrm>
        </p:grpSpPr>
        <p:sp>
          <p:nvSpPr>
            <p:cNvPr id="75" name="Google Shape;75;p16"/>
            <p:cNvSpPr/>
            <p:nvPr/>
          </p:nvSpPr>
          <p:spPr>
            <a:xfrm>
              <a:off x="6096000" y="1428750"/>
              <a:ext cx="2571900" cy="3048000"/>
            </a:xfrm>
            <a:prstGeom prst="roundRect">
              <a:avLst>
                <a:gd fmla="val 2962" name="adj"/>
              </a:avLst>
            </a:prstGeom>
            <a:solidFill>
              <a:srgbClr val="F9FAFB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6286500" y="16192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Проект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75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Совместная разработка реального </a:t>
              </a:r>
              <a:r>
                <a:rPr lang="ru" sz="1200">
                  <a:solidFill>
                    <a:srgbClr val="374151"/>
                  </a:solidFill>
                </a:rPr>
                <a:t>проекте - 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CLI-утилиты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Market Pulse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фон должен быть чисто белым, не серым"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8300" y="0"/>
            <a:ext cx="1195700" cy="11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476250" y="428625"/>
            <a:ext cx="819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мы </a:t>
            </a:r>
            <a:r>
              <a:rPr b="1" lang="ru" sz="2800">
                <a:latin typeface="Arial"/>
                <a:ea typeface="Arial"/>
                <a:cs typeface="Arial"/>
                <a:sym typeface="Arial"/>
              </a:rPr>
              <a:t>будем </a:t>
            </a:r>
            <a:r>
              <a:rPr b="1" lang="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обща</a:t>
            </a:r>
            <a:r>
              <a:rPr b="1" lang="ru" sz="2800">
                <a:latin typeface="Arial"/>
                <a:ea typeface="Arial"/>
                <a:cs typeface="Arial"/>
                <a:sym typeface="Arial"/>
              </a:rPr>
              <a:t>ться</a:t>
            </a:r>
            <a:r>
              <a:rPr b="1" lang="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17"/>
          <p:cNvGrpSpPr/>
          <p:nvPr/>
        </p:nvGrpSpPr>
        <p:grpSpPr>
          <a:xfrm>
            <a:off x="476250" y="1238250"/>
            <a:ext cx="2667000" cy="3048000"/>
            <a:chOff x="476250" y="1238250"/>
            <a:chExt cx="2667000" cy="3048000"/>
          </a:xfrm>
        </p:grpSpPr>
        <p:sp>
          <p:nvSpPr>
            <p:cNvPr id="84" name="Google Shape;84;p17"/>
            <p:cNvSpPr/>
            <p:nvPr/>
          </p:nvSpPr>
          <p:spPr>
            <a:xfrm>
              <a:off x="476250" y="12382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7"/>
            <p:cNvSpPr txBox="1"/>
            <p:nvPr/>
          </p:nvSpPr>
          <p:spPr>
            <a:xfrm>
              <a:off x="666750" y="1469644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8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" name="Google Shape;86;p17"/>
            <p:cNvSpPr txBox="1"/>
            <p:nvPr/>
          </p:nvSpPr>
          <p:spPr>
            <a:xfrm>
              <a:off x="666750" y="185737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На семинаре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7"/>
            <p:cNvSpPr txBox="1"/>
            <p:nvPr/>
          </p:nvSpPr>
          <p:spPr>
            <a:xfrm>
              <a:off x="666750" y="2286000"/>
              <a:ext cx="228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Вопросы всегда можно писать в </a:t>
              </a: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чат </a:t>
              </a:r>
              <a:r>
                <a:rPr b="1" lang="ru" sz="1150">
                  <a:latin typeface="Arial"/>
                  <a:ea typeface="Arial"/>
                  <a:cs typeface="Arial"/>
                  <a:sym typeface="Arial"/>
                </a:rPr>
                <a:t>в Толке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Хотите </a:t>
              </a: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сказать</a:t>
              </a: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голосом? </a:t>
              </a: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Поднимите руку</a:t>
              </a: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в Толке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Задавайте вопрос после того, как вам </a:t>
              </a: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дадут слово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17"/>
          <p:cNvGrpSpPr/>
          <p:nvPr/>
        </p:nvGrpSpPr>
        <p:grpSpPr>
          <a:xfrm>
            <a:off x="3333750" y="1238250"/>
            <a:ext cx="2667000" cy="3048000"/>
            <a:chOff x="3333750" y="1238250"/>
            <a:chExt cx="2667000" cy="3048000"/>
          </a:xfrm>
        </p:grpSpPr>
        <p:sp>
          <p:nvSpPr>
            <p:cNvPr id="89" name="Google Shape;89;p17"/>
            <p:cNvSpPr/>
            <p:nvPr/>
          </p:nvSpPr>
          <p:spPr>
            <a:xfrm>
              <a:off x="3333750" y="12382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7"/>
            <p:cNvSpPr txBox="1"/>
            <p:nvPr/>
          </p:nvSpPr>
          <p:spPr>
            <a:xfrm>
              <a:off x="3524250" y="1469644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send</a:t>
              </a:r>
              <a:endParaRPr sz="28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1" name="Google Shape;91;p17"/>
            <p:cNvSpPr txBox="1"/>
            <p:nvPr/>
          </p:nvSpPr>
          <p:spPr>
            <a:xfrm>
              <a:off x="3524250" y="185737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Вне занятий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3524250" y="2286000"/>
              <a:ext cx="228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Группа в Telegram</a:t>
              </a: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анонсы, вопросы и полезные ссылки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Личные вопросы можно писать мне в ТГ: </a:t>
              </a: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&lt;никнейм&gt;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7"/>
          <p:cNvGrpSpPr/>
          <p:nvPr/>
        </p:nvGrpSpPr>
        <p:grpSpPr>
          <a:xfrm>
            <a:off x="6286500" y="1238250"/>
            <a:ext cx="2381400" cy="3048000"/>
            <a:chOff x="0" y="0"/>
            <a:chExt cx="2381400" cy="3048000"/>
          </a:xfrm>
        </p:grpSpPr>
        <p:sp>
          <p:nvSpPr>
            <p:cNvPr id="94" name="Google Shape;94;p17"/>
            <p:cNvSpPr/>
            <p:nvPr/>
          </p:nvSpPr>
          <p:spPr>
            <a:xfrm>
              <a:off x="0" y="0"/>
              <a:ext cx="2381400" cy="3048000"/>
            </a:xfrm>
            <a:prstGeom prst="roundRect">
              <a:avLst>
                <a:gd fmla="val 4800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tylized dark minimalistic abstract graphic with soft neon or modern shapes, symbolizing feedback, rating, review or communication, professional tech aesthetic." id="95" name="Google Shape;95;p17"/>
            <p:cNvPicPr preferRelativeResize="0"/>
            <p:nvPr/>
          </p:nvPicPr>
          <p:blipFill rotWithShape="1">
            <a:blip r:embed="rId3">
              <a:alphaModFix/>
            </a:blip>
            <a:srcRect b="2006" l="0" r="0" t="1997"/>
            <a:stretch/>
          </p:blipFill>
          <p:spPr>
            <a:xfrm>
              <a:off x="0" y="0"/>
              <a:ext cx="2381400" cy="30480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96" name="Google Shape;96;p17"/>
            <p:cNvSpPr/>
            <p:nvPr/>
          </p:nvSpPr>
          <p:spPr>
            <a:xfrm>
              <a:off x="0" y="0"/>
              <a:ext cx="2381400" cy="3048000"/>
            </a:xfrm>
            <a:prstGeom prst="roundRect">
              <a:avLst>
                <a:gd fmla="val 4800" name="adj"/>
              </a:avLst>
            </a:pr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190500" y="279019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rate_review</a:t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190500" y="66675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Обратная связь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190500" y="1095375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В конце каждого семинара будет </a:t>
              </a:r>
              <a:r>
                <a:rPr b="1" lang="ru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сбор ОС</a:t>
              </a:r>
              <a:r>
                <a:rPr b="0" lang="ru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 Она действительно очень важна для курса.</a:t>
              </a:r>
              <a:endParaRPr b="0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ru" sz="115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Сделаем семинары снова великими!</a:t>
              </a:r>
              <a:endParaRPr b="0" i="1" sz="11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476250" y="428625"/>
            <a:ext cx="819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latin typeface="Arial"/>
                <a:ea typeface="Arial"/>
                <a:cs typeface="Arial"/>
                <a:sym typeface="Arial"/>
              </a:rPr>
              <a:t>CLI-утилита </a:t>
            </a:r>
            <a:r>
              <a:rPr b="1" lang="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Pulse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18"/>
          <p:cNvGrpSpPr/>
          <p:nvPr/>
        </p:nvGrpSpPr>
        <p:grpSpPr>
          <a:xfrm>
            <a:off x="476250" y="1238250"/>
            <a:ext cx="2571900" cy="3048000"/>
            <a:chOff x="476250" y="1238250"/>
            <a:chExt cx="2571900" cy="3048000"/>
          </a:xfrm>
        </p:grpSpPr>
        <p:sp>
          <p:nvSpPr>
            <p:cNvPr id="107" name="Google Shape;107;p18"/>
            <p:cNvSpPr/>
            <p:nvPr/>
          </p:nvSpPr>
          <p:spPr>
            <a:xfrm>
              <a:off x="476250" y="1238250"/>
              <a:ext cx="2571900" cy="3048000"/>
            </a:xfrm>
            <a:prstGeom prst="roundRect">
              <a:avLst>
                <a:gd fmla="val 4444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8"/>
            <p:cNvSpPr txBox="1"/>
            <p:nvPr/>
          </p:nvSpPr>
          <p:spPr>
            <a:xfrm>
              <a:off x="666750" y="1501902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1111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sz="2400">
                <a:solidFill>
                  <a:srgbClr val="11111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9" name="Google Shape;109;p18"/>
            <p:cNvSpPr txBox="1"/>
            <p:nvPr/>
          </p:nvSpPr>
          <p:spPr>
            <a:xfrm>
              <a:off x="666750" y="18573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Предыстория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8"/>
            <p:cNvSpPr txBox="1"/>
            <p:nvPr/>
          </p:nvSpPr>
          <p:spPr>
            <a:xfrm>
              <a:off x="666750" y="2286000"/>
              <a:ext cx="2190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Мечты об инвестициях</a:t>
              </a:r>
              <a:endParaRPr b="1" sz="10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Программист Сережа живет в общаге и хочет подняться на акциях Илона Макса, чтобы купить квартиру.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1064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Купил Т-Технологий «на дне» и теперь ждет, когда же это дно закончится.</a:t>
              </a:r>
              <a:endParaRPr b="0" i="1" sz="1064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8"/>
          <p:cNvGrpSpPr/>
          <p:nvPr/>
        </p:nvGrpSpPr>
        <p:grpSpPr>
          <a:xfrm>
            <a:off x="3286125" y="1238250"/>
            <a:ext cx="2571900" cy="3048000"/>
            <a:chOff x="3286125" y="1238250"/>
            <a:chExt cx="2571900" cy="3048000"/>
          </a:xfrm>
        </p:grpSpPr>
        <p:sp>
          <p:nvSpPr>
            <p:cNvPr id="112" name="Google Shape;112;p18"/>
            <p:cNvSpPr/>
            <p:nvPr/>
          </p:nvSpPr>
          <p:spPr>
            <a:xfrm>
              <a:off x="3286125" y="1238250"/>
              <a:ext cx="2571900" cy="3048000"/>
            </a:xfrm>
            <a:prstGeom prst="roundRect">
              <a:avLst>
                <a:gd fmla="val 4444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8"/>
            <p:cNvSpPr txBox="1"/>
            <p:nvPr/>
          </p:nvSpPr>
          <p:spPr>
            <a:xfrm>
              <a:off x="3476625" y="1501902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1111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400">
                <a:solidFill>
                  <a:srgbClr val="11111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4" name="Google Shape;114;p18"/>
            <p:cNvSpPr txBox="1"/>
            <p:nvPr/>
          </p:nvSpPr>
          <p:spPr>
            <a:xfrm>
              <a:off x="3476625" y="18573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Проблема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3476625" y="2286000"/>
              <a:ext cx="2190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Информационный хаос</a:t>
              </a:r>
              <a:endParaRPr b="1" sz="10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Сережа устал постоянно переключаться между вкладками, сложными графиками и сомнительными сигналами анонимов в Telegram.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1064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Решение очевидно: нужен лаконичный и быстрый терминал прямо в консоли.</a:t>
              </a:r>
              <a:endParaRPr b="0" i="1" sz="1064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8"/>
          <p:cNvGrpSpPr/>
          <p:nvPr/>
        </p:nvGrpSpPr>
        <p:grpSpPr>
          <a:xfrm>
            <a:off x="6096000" y="1238250"/>
            <a:ext cx="2571900" cy="3048000"/>
            <a:chOff x="6096000" y="1238250"/>
            <a:chExt cx="2571900" cy="3048000"/>
          </a:xfrm>
        </p:grpSpPr>
        <p:sp>
          <p:nvSpPr>
            <p:cNvPr id="117" name="Google Shape;117;p18"/>
            <p:cNvSpPr/>
            <p:nvPr/>
          </p:nvSpPr>
          <p:spPr>
            <a:xfrm>
              <a:off x="6096000" y="1238250"/>
              <a:ext cx="2571900" cy="3048000"/>
            </a:xfrm>
            <a:prstGeom prst="roundRect">
              <a:avLst>
                <a:gd fmla="val 4444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quality dark futuristic minimal terminal interface with financial charts and neon glowing accents, programming and stock trading concept, professional tech aesthetic"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 b="0" l="7813" r="14062" t="0"/>
            <a:stretch/>
          </p:blipFill>
          <p:spPr>
            <a:xfrm>
              <a:off x="6096000" y="1238250"/>
              <a:ext cx="2381400" cy="30480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119" name="Google Shape;119;p18"/>
            <p:cNvSpPr/>
            <p:nvPr/>
          </p:nvSpPr>
          <p:spPr>
            <a:xfrm>
              <a:off x="6096000" y="1238250"/>
              <a:ext cx="2571900" cy="3048000"/>
            </a:xfrm>
            <a:prstGeom prst="roundRect">
              <a:avLst>
                <a:gd fmla="val 4444" name="adj"/>
              </a:avLst>
            </a:pr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6286500" y="1501902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1" name="Google Shape;121;p18"/>
            <p:cNvSpPr txBox="1"/>
            <p:nvPr/>
          </p:nvSpPr>
          <p:spPr>
            <a:xfrm>
              <a:off x="6286500" y="18573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Наша цель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8"/>
            <p:cNvSpPr txBox="1"/>
            <p:nvPr/>
          </p:nvSpPr>
          <p:spPr>
            <a:xfrm>
              <a:off x="6286500" y="2286000"/>
              <a:ext cx="2190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6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Помочь Сереже</a:t>
              </a:r>
              <a:endParaRPr b="1" sz="10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06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Написать удобную консольную утилиту, которая будет в реальном времени следить за рынком вместо него.</a:t>
              </a:r>
              <a:endParaRPr b="0" sz="10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1064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Создадим идеальный CLI-инструмент аналитика!</a:t>
              </a:r>
              <a:endParaRPr b="0" i="1" sz="1064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476250" y="42862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Функциональные возможности утилиты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19"/>
          <p:cNvGrpSpPr/>
          <p:nvPr/>
        </p:nvGrpSpPr>
        <p:grpSpPr>
          <a:xfrm>
            <a:off x="476250" y="1095375"/>
            <a:ext cx="5238900" cy="1428900"/>
            <a:chOff x="476250" y="1095375"/>
            <a:chExt cx="5238900" cy="1428900"/>
          </a:xfrm>
        </p:grpSpPr>
        <p:sp>
          <p:nvSpPr>
            <p:cNvPr id="129" name="Google Shape;129;p19"/>
            <p:cNvSpPr/>
            <p:nvPr/>
          </p:nvSpPr>
          <p:spPr>
            <a:xfrm>
              <a:off x="476250" y="1095375"/>
              <a:ext cx="5238900" cy="1428900"/>
            </a:xfrm>
            <a:prstGeom prst="roundRect">
              <a:avLst>
                <a:gd fmla="val 8000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 txBox="1"/>
            <p:nvPr/>
          </p:nvSpPr>
          <p:spPr>
            <a:xfrm>
              <a:off x="714375" y="1285875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Консольное приложение на Java</a:t>
              </a:r>
              <a:endPara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Работает с реальными биржевыми данными через </a:t>
              </a:r>
              <a:r>
                <a:rPr b="1" lang="ru" sz="1100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T-Invest API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. К концу семестра у каждого студента будет готовый рабочий инструмент, который можно смело положить в портфолио.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19"/>
          <p:cNvSpPr txBox="1"/>
          <p:nvPr/>
        </p:nvSpPr>
        <p:spPr>
          <a:xfrm>
            <a:off x="476250" y="2714625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Функциональные возможности</a:t>
            </a:r>
            <a:endParaRPr b="1" sz="1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9"/>
          <p:cNvGrpSpPr/>
          <p:nvPr/>
        </p:nvGrpSpPr>
        <p:grpSpPr>
          <a:xfrm>
            <a:off x="476250" y="3095625"/>
            <a:ext cx="2571900" cy="809700"/>
            <a:chOff x="476250" y="3095625"/>
            <a:chExt cx="2571900" cy="809700"/>
          </a:xfrm>
        </p:grpSpPr>
        <p:sp>
          <p:nvSpPr>
            <p:cNvPr id="133" name="Google Shape;133;p19"/>
            <p:cNvSpPr/>
            <p:nvPr/>
          </p:nvSpPr>
          <p:spPr>
            <a:xfrm>
              <a:off x="476250" y="30956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 txBox="1"/>
            <p:nvPr/>
          </p:nvSpPr>
          <p:spPr>
            <a:xfrm>
              <a:off x="619125" y="32099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🔍 Поиск инструментов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Поиск по тикеру или названию. Вывод полной информации, биржи и валюты торгов.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9"/>
          <p:cNvGrpSpPr/>
          <p:nvPr/>
        </p:nvGrpSpPr>
        <p:grpSpPr>
          <a:xfrm>
            <a:off x="3286125" y="3095625"/>
            <a:ext cx="2571900" cy="809700"/>
            <a:chOff x="3286125" y="3095625"/>
            <a:chExt cx="2571900" cy="809700"/>
          </a:xfrm>
        </p:grpSpPr>
        <p:sp>
          <p:nvSpPr>
            <p:cNvPr id="136" name="Google Shape;136;p19"/>
            <p:cNvSpPr/>
            <p:nvPr/>
          </p:nvSpPr>
          <p:spPr>
            <a:xfrm>
              <a:off x="3286125" y="30956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 txBox="1"/>
            <p:nvPr/>
          </p:nvSpPr>
          <p:spPr>
            <a:xfrm>
              <a:off x="3429000" y="32099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💵 Текущие котировки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Актуальные цены, изменения за день в %, цены покупки/продажи и статус торгов.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9"/>
          <p:cNvGrpSpPr/>
          <p:nvPr/>
        </p:nvGrpSpPr>
        <p:grpSpPr>
          <a:xfrm>
            <a:off x="6096000" y="3095625"/>
            <a:ext cx="2571900" cy="809700"/>
            <a:chOff x="6096000" y="3095625"/>
            <a:chExt cx="2571900" cy="809700"/>
          </a:xfrm>
        </p:grpSpPr>
        <p:sp>
          <p:nvSpPr>
            <p:cNvPr id="139" name="Google Shape;139;p19"/>
            <p:cNvSpPr/>
            <p:nvPr/>
          </p:nvSpPr>
          <p:spPr>
            <a:xfrm>
              <a:off x="6096000" y="30956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6238875" y="32099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📊 История и графики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Загрузка исторических данных и отрисовка графика с осями прямо в консоли.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476250" y="4048125"/>
            <a:ext cx="2571900" cy="809700"/>
            <a:chOff x="476250" y="4048125"/>
            <a:chExt cx="2571900" cy="809700"/>
          </a:xfrm>
        </p:grpSpPr>
        <p:sp>
          <p:nvSpPr>
            <p:cNvPr id="142" name="Google Shape;142;p19"/>
            <p:cNvSpPr/>
            <p:nvPr/>
          </p:nvSpPr>
          <p:spPr>
            <a:xfrm>
              <a:off x="476250" y="40481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619125" y="41624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⚖️ Сравнение активов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Расчет доходности за период по списку тикеров и вывод в виде таблицы.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9"/>
          <p:cNvGrpSpPr/>
          <p:nvPr/>
        </p:nvGrpSpPr>
        <p:grpSpPr>
          <a:xfrm>
            <a:off x="3286125" y="4048125"/>
            <a:ext cx="2571900" cy="809700"/>
            <a:chOff x="3286125" y="4048125"/>
            <a:chExt cx="2571900" cy="809700"/>
          </a:xfrm>
        </p:grpSpPr>
        <p:sp>
          <p:nvSpPr>
            <p:cNvPr id="145" name="Google Shape;145;p19"/>
            <p:cNvSpPr/>
            <p:nvPr/>
          </p:nvSpPr>
          <p:spPr>
            <a:xfrm>
              <a:off x="3286125" y="40481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 txBox="1"/>
            <p:nvPr/>
          </p:nvSpPr>
          <p:spPr>
            <a:xfrm>
              <a:off x="3429000" y="41624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⭐ Список избранного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Сохранение списка между запусками, быстрый вывод сводки текущих котировок.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6096000" y="4048125"/>
            <a:ext cx="2571900" cy="809700"/>
            <a:chOff x="6096000" y="4048125"/>
            <a:chExt cx="2571900" cy="809700"/>
          </a:xfrm>
        </p:grpSpPr>
        <p:sp>
          <p:nvSpPr>
            <p:cNvPr id="148" name="Google Shape;148;p19"/>
            <p:cNvSpPr/>
            <p:nvPr/>
          </p:nvSpPr>
          <p:spPr>
            <a:xfrm>
              <a:off x="6096000" y="40481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6238875" y="41624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⚡ Real-Time</a:t>
              </a:r>
              <a:endParaRPr b="1" sz="11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Автообновление котировок без блокировки командной строк</a:t>
              </a:r>
              <a:r>
                <a:rPr lang="ru" sz="879">
                  <a:solidFill>
                    <a:srgbClr val="CCCCCC"/>
                  </a:solidFill>
                </a:rPr>
                <a:t>и в режиме реального времени.</a:t>
              </a:r>
              <a:endParaRPr b="0" sz="879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Консольное приложение с графиками акций в формате ASCII"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7800" y="895675"/>
            <a:ext cx="1828300" cy="18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ООП в Java</a:t>
            </a:r>
            <a:endParaRPr b="1"/>
          </a:p>
        </p:txBody>
      </p:sp>
      <p:sp>
        <p:nvSpPr>
          <p:cNvPr id="156" name="Google Shape;156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476250" y="42862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Что такое ООП?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476250" y="1095375"/>
            <a:ext cx="5238900" cy="1047900"/>
            <a:chOff x="476250" y="1095375"/>
            <a:chExt cx="5238900" cy="1047900"/>
          </a:xfrm>
        </p:grpSpPr>
        <p:sp>
          <p:nvSpPr>
            <p:cNvPr id="164" name="Google Shape;164;p21"/>
            <p:cNvSpPr/>
            <p:nvPr/>
          </p:nvSpPr>
          <p:spPr>
            <a:xfrm>
              <a:off x="476250" y="1095375"/>
              <a:ext cx="5238900" cy="1047900"/>
            </a:xfrm>
            <a:prstGeom prst="roundRect">
              <a:avLst>
                <a:gd fmla="val 10909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714375" y="1238250"/>
              <a:ext cx="4762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95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Парадигма программирования</a:t>
              </a:r>
              <a:endParaRPr b="1" sz="129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ООП</a:t>
              </a: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парадигма проектирования, в центре которой стоят </a:t>
              </a: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объекты</a:t>
              </a: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: сущности, объединяющие </a:t>
              </a: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состояние</a:t>
              </a: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(данные) и </a:t>
              </a: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поведение</a:t>
              </a: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(методы, работающие с этими данными).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21"/>
          <p:cNvGrpSpPr/>
          <p:nvPr/>
        </p:nvGrpSpPr>
        <p:grpSpPr>
          <a:xfrm>
            <a:off x="476250" y="2333625"/>
            <a:ext cx="1619100" cy="2238300"/>
            <a:chOff x="476250" y="2333625"/>
            <a:chExt cx="1619100" cy="2238300"/>
          </a:xfrm>
        </p:grpSpPr>
        <p:sp>
          <p:nvSpPr>
            <p:cNvPr id="167" name="Google Shape;167;p21"/>
            <p:cNvSpPr/>
            <p:nvPr/>
          </p:nvSpPr>
          <p:spPr>
            <a:xfrm>
              <a:off x="47625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 txBox="1"/>
            <p:nvPr/>
          </p:nvSpPr>
          <p:spPr>
            <a:xfrm>
              <a:off x="619125" y="25173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9" name="Google Shape;169;p21"/>
            <p:cNvSpPr txBox="1"/>
            <p:nvPr/>
          </p:nvSpPr>
          <p:spPr>
            <a:xfrm>
              <a:off x="61912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Инкапсуляция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61912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Сокрытие деталей реализации и данных от внешнего пользователя для безопасности и простоты.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71;p21"/>
          <p:cNvGrpSpPr/>
          <p:nvPr/>
        </p:nvGrpSpPr>
        <p:grpSpPr>
          <a:xfrm>
            <a:off x="2286000" y="2333625"/>
            <a:ext cx="1619100" cy="2238300"/>
            <a:chOff x="2286000" y="2333625"/>
            <a:chExt cx="1619100" cy="2238300"/>
          </a:xfrm>
        </p:grpSpPr>
        <p:sp>
          <p:nvSpPr>
            <p:cNvPr id="172" name="Google Shape;172;p21"/>
            <p:cNvSpPr/>
            <p:nvPr/>
          </p:nvSpPr>
          <p:spPr>
            <a:xfrm>
              <a:off x="228600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1"/>
            <p:cNvSpPr txBox="1"/>
            <p:nvPr/>
          </p:nvSpPr>
          <p:spPr>
            <a:xfrm>
              <a:off x="2428875" y="25173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242887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Наследование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1"/>
            <p:cNvSpPr txBox="1"/>
            <p:nvPr/>
          </p:nvSpPr>
          <p:spPr>
            <a:xfrm>
              <a:off x="242887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Переиспользование готового кода и построение иерархий от общего к частному.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21"/>
          <p:cNvGrpSpPr/>
          <p:nvPr/>
        </p:nvGrpSpPr>
        <p:grpSpPr>
          <a:xfrm>
            <a:off x="4095750" y="2333625"/>
            <a:ext cx="1619100" cy="2238300"/>
            <a:chOff x="4095750" y="2333625"/>
            <a:chExt cx="1619100" cy="2238300"/>
          </a:xfrm>
        </p:grpSpPr>
        <p:sp>
          <p:nvSpPr>
            <p:cNvPr id="177" name="Google Shape;177;p21"/>
            <p:cNvSpPr/>
            <p:nvPr/>
          </p:nvSpPr>
          <p:spPr>
            <a:xfrm>
              <a:off x="409575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1"/>
            <p:cNvSpPr txBox="1"/>
            <p:nvPr/>
          </p:nvSpPr>
          <p:spPr>
            <a:xfrm>
              <a:off x="4238625" y="25173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9" name="Google Shape;179;p21"/>
            <p:cNvSpPr txBox="1"/>
            <p:nvPr/>
          </p:nvSpPr>
          <p:spPr>
            <a:xfrm>
              <a:off x="423862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Полиморфизм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423862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Возможность работы с разными типами данных через единый общий интерфейс.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21"/>
          <p:cNvGrpSpPr/>
          <p:nvPr/>
        </p:nvGrpSpPr>
        <p:grpSpPr>
          <a:xfrm>
            <a:off x="6286500" y="1095375"/>
            <a:ext cx="2381400" cy="3476700"/>
            <a:chOff x="6286500" y="1095375"/>
            <a:chExt cx="2381400" cy="3476700"/>
          </a:xfrm>
        </p:grpSpPr>
        <p:sp>
          <p:nvSpPr>
            <p:cNvPr id="182" name="Google Shape;182;p21"/>
            <p:cNvSpPr/>
            <p:nvPr/>
          </p:nvSpPr>
          <p:spPr>
            <a:xfrm>
              <a:off x="6286500" y="1095375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minimal high-tech dark design concept with glowing clean geometric shapes and nodes representing programming structures, objects, and OOP paradigms, professional tech aesthetic." id="183" name="Google Shape;183;p21"/>
            <p:cNvPicPr preferRelativeResize="0"/>
            <p:nvPr/>
          </p:nvPicPr>
          <p:blipFill rotWithShape="1">
            <a:blip r:embed="rId3">
              <a:alphaModFix/>
            </a:blip>
            <a:srcRect b="12327" l="4338" r="4338" t="0"/>
            <a:stretch/>
          </p:blipFill>
          <p:spPr>
            <a:xfrm>
              <a:off x="6286500" y="1095375"/>
              <a:ext cx="2381400" cy="30480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184" name="Google Shape;184;p21"/>
            <p:cNvSpPr/>
            <p:nvPr/>
          </p:nvSpPr>
          <p:spPr>
            <a:xfrm>
              <a:off x="6286500" y="1095375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000000">
                <a:alpha val="4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 txBox="1"/>
            <p:nvPr/>
          </p:nvSpPr>
          <p:spPr>
            <a:xfrm>
              <a:off x="6524625" y="1333500"/>
              <a:ext cx="1905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Три кита ООП</a:t>
              </a:r>
              <a:endParaRPr b="1" sz="13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ru" sz="105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Именно на этих трех концепциях — инкапсуляции, наследовании и полиморфизме — сосредоточен весь дальнейший материал курса.</a:t>
              </a:r>
              <a:endParaRPr b="0" sz="10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476250" y="42862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ООП в концепции Алана Кея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22"/>
          <p:cNvGrpSpPr/>
          <p:nvPr/>
        </p:nvGrpSpPr>
        <p:grpSpPr>
          <a:xfrm>
            <a:off x="476250" y="1095375"/>
            <a:ext cx="5238900" cy="1047900"/>
            <a:chOff x="476250" y="1095375"/>
            <a:chExt cx="5238900" cy="1047900"/>
          </a:xfrm>
        </p:grpSpPr>
        <p:sp>
          <p:nvSpPr>
            <p:cNvPr id="193" name="Google Shape;193;p22"/>
            <p:cNvSpPr/>
            <p:nvPr/>
          </p:nvSpPr>
          <p:spPr>
            <a:xfrm>
              <a:off x="476250" y="1095375"/>
              <a:ext cx="5238900" cy="1047900"/>
            </a:xfrm>
            <a:prstGeom prst="roundRect">
              <a:avLst>
                <a:gd fmla="val 10909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714375" y="1238250"/>
              <a:ext cx="4762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95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Биологическая аналогия</a:t>
              </a:r>
              <a:endParaRPr b="1" sz="129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Алан Кей рассматривал объекты не как структуры данных, а как </a:t>
              </a:r>
              <a:r>
                <a:rPr b="1" lang="ru" sz="10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живые клетки</a:t>
              </a: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, которые общаются между собой, передавая сообщения. Главная идея — </a:t>
              </a:r>
              <a:r>
                <a:rPr b="1" lang="ru" sz="1060">
                  <a:solidFill>
                    <a:srgbClr val="333333"/>
                  </a:solidFill>
                </a:rPr>
                <a:t>изоляция</a:t>
              </a: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внутренней структуры для масштабируемости.</a:t>
              </a:r>
              <a:endParaRPr b="0" sz="10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476250" y="2333625"/>
            <a:ext cx="1619100" cy="2238300"/>
            <a:chOff x="476250" y="2333625"/>
            <a:chExt cx="1619100" cy="2238300"/>
          </a:xfrm>
        </p:grpSpPr>
        <p:sp>
          <p:nvSpPr>
            <p:cNvPr id="196" name="Google Shape;196;p22"/>
            <p:cNvSpPr/>
            <p:nvPr/>
          </p:nvSpPr>
          <p:spPr>
            <a:xfrm>
              <a:off x="47625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 txBox="1"/>
            <p:nvPr/>
          </p:nvSpPr>
          <p:spPr>
            <a:xfrm>
              <a:off x="619125" y="25554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8" name="Google Shape;198;p22"/>
            <p:cNvSpPr txBox="1"/>
            <p:nvPr/>
          </p:nvSpPr>
          <p:spPr>
            <a:xfrm>
              <a:off x="61912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Сообщения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2"/>
            <p:cNvSpPr txBox="1"/>
            <p:nvPr/>
          </p:nvSpPr>
          <p:spPr>
            <a:xfrm>
              <a:off x="61912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Взаимодействие через передачу сообщений, а не прямой вызов методов или изменение свойств.</a:t>
              </a:r>
              <a:endParaRPr b="0" sz="10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22"/>
          <p:cNvGrpSpPr/>
          <p:nvPr/>
        </p:nvGrpSpPr>
        <p:grpSpPr>
          <a:xfrm>
            <a:off x="2286000" y="2333625"/>
            <a:ext cx="1619100" cy="2238300"/>
            <a:chOff x="2286000" y="2333625"/>
            <a:chExt cx="1619100" cy="2238300"/>
          </a:xfrm>
        </p:grpSpPr>
        <p:sp>
          <p:nvSpPr>
            <p:cNvPr id="201" name="Google Shape;201;p22"/>
            <p:cNvSpPr/>
            <p:nvPr/>
          </p:nvSpPr>
          <p:spPr>
            <a:xfrm>
              <a:off x="228600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2428875" y="25554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3" name="Google Shape;203;p22"/>
            <p:cNvSpPr txBox="1"/>
            <p:nvPr/>
          </p:nvSpPr>
          <p:spPr>
            <a:xfrm>
              <a:off x="242887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Изоляция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2"/>
            <p:cNvSpPr txBox="1"/>
            <p:nvPr/>
          </p:nvSpPr>
          <p:spPr>
            <a:xfrm>
              <a:off x="242887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Полное скрытие внутреннего состояния. Объект сам решает, как реагировать на внешнее воздействие.</a:t>
              </a:r>
              <a:endParaRPr b="0" sz="10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22"/>
          <p:cNvGrpSpPr/>
          <p:nvPr/>
        </p:nvGrpSpPr>
        <p:grpSpPr>
          <a:xfrm>
            <a:off x="4095750" y="2333625"/>
            <a:ext cx="1619100" cy="2238300"/>
            <a:chOff x="4095750" y="2333625"/>
            <a:chExt cx="1619100" cy="2238300"/>
          </a:xfrm>
        </p:grpSpPr>
        <p:sp>
          <p:nvSpPr>
            <p:cNvPr id="206" name="Google Shape;206;p22"/>
            <p:cNvSpPr/>
            <p:nvPr/>
          </p:nvSpPr>
          <p:spPr>
            <a:xfrm>
              <a:off x="409575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2"/>
            <p:cNvSpPr txBox="1"/>
            <p:nvPr/>
          </p:nvSpPr>
          <p:spPr>
            <a:xfrm>
              <a:off x="4238625" y="25554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8" name="Google Shape;208;p22"/>
            <p:cNvSpPr txBox="1"/>
            <p:nvPr/>
          </p:nvSpPr>
          <p:spPr>
            <a:xfrm>
              <a:off x="423862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Динамизм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2"/>
            <p:cNvSpPr txBox="1"/>
            <p:nvPr/>
          </p:nvSpPr>
          <p:spPr>
            <a:xfrm>
              <a:off x="423862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Позднее связывание и динамическая интерпретация сообщений прямо во время работы программы.</a:t>
              </a:r>
              <a:endParaRPr b="0" sz="10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22"/>
          <p:cNvGrpSpPr/>
          <p:nvPr/>
        </p:nvGrpSpPr>
        <p:grpSpPr>
          <a:xfrm>
            <a:off x="6286500" y="1095375"/>
            <a:ext cx="2381400" cy="3476700"/>
            <a:chOff x="6286500" y="1095375"/>
            <a:chExt cx="2381400" cy="3476700"/>
          </a:xfrm>
        </p:grpSpPr>
        <p:sp>
          <p:nvSpPr>
            <p:cNvPr id="211" name="Google Shape;211;p22"/>
            <p:cNvSpPr/>
            <p:nvPr/>
          </p:nvSpPr>
          <p:spPr>
            <a:xfrm>
              <a:off x="6286500" y="1095375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tylized dark minimalistic background with glowing cells, neurons and interconnected communication lines, representing organic object-oriented programming concept, tech aesthetic." id="212" name="Google Shape;212;p22"/>
            <p:cNvPicPr preferRelativeResize="0"/>
            <p:nvPr/>
          </p:nvPicPr>
          <p:blipFill rotWithShape="1">
            <a:blip r:embed="rId3">
              <a:alphaModFix/>
            </a:blip>
            <a:srcRect b="0" l="10938" r="10937" t="0"/>
            <a:stretch/>
          </p:blipFill>
          <p:spPr>
            <a:xfrm>
              <a:off x="6286500" y="1095375"/>
              <a:ext cx="2381400" cy="30480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213" name="Google Shape;213;p22"/>
            <p:cNvSpPr/>
            <p:nvPr/>
          </p:nvSpPr>
          <p:spPr>
            <a:xfrm>
              <a:off x="6286500" y="1095375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000000">
                <a:alpha val="5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6524625" y="1333500"/>
              <a:ext cx="1905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Суть концепции</a:t>
              </a:r>
              <a:endParaRPr b="1" sz="13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Для Алана Кея ООП заключалось не в классах и наследовании, а в передаче сообщений, локальном удержании состояния и полной защите от внешних изменений.</a:t>
              </a:r>
              <a:endParaRPr b="0" sz="10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23"/>
          <p:cNvGrpSpPr/>
          <p:nvPr/>
        </p:nvGrpSpPr>
        <p:grpSpPr>
          <a:xfrm>
            <a:off x="476250" y="381000"/>
            <a:ext cx="8191500" cy="666825"/>
            <a:chOff x="476250" y="381000"/>
            <a:chExt cx="8191500" cy="666825"/>
          </a:xfrm>
        </p:grpSpPr>
        <p:sp>
          <p:nvSpPr>
            <p:cNvPr id="221" name="Google Shape;221;p23"/>
            <p:cNvSpPr txBox="1"/>
            <p:nvPr/>
          </p:nvSpPr>
          <p:spPr>
            <a:xfrm>
              <a:off x="476250" y="38100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Инкапсуляция</a:t>
              </a:r>
              <a:endPara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476250" y="809625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5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Главное заблуждение в ООП: сокрытие деталей реализации путают с банальным доступом к полям</a:t>
              </a:r>
              <a:endParaRPr b="1" sz="125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3"/>
          <p:cNvGrpSpPr/>
          <p:nvPr/>
        </p:nvGrpSpPr>
        <p:grpSpPr>
          <a:xfrm>
            <a:off x="476250" y="1190625"/>
            <a:ext cx="3952800" cy="1476300"/>
            <a:chOff x="476250" y="1190625"/>
            <a:chExt cx="3952800" cy="1476300"/>
          </a:xfrm>
        </p:grpSpPr>
        <p:sp>
          <p:nvSpPr>
            <p:cNvPr id="224" name="Google Shape;224;p23"/>
            <p:cNvSpPr/>
            <p:nvPr/>
          </p:nvSpPr>
          <p:spPr>
            <a:xfrm>
              <a:off x="476250" y="1190625"/>
              <a:ext cx="3952800" cy="1476300"/>
            </a:xfrm>
            <a:prstGeom prst="roundRect">
              <a:avLst>
                <a:gd fmla="val 7741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 txBox="1"/>
            <p:nvPr/>
          </p:nvSpPr>
          <p:spPr>
            <a:xfrm>
              <a:off x="714375" y="1381125"/>
              <a:ext cx="3476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8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Суть инкапсуляции</a:t>
              </a:r>
              <a:endParaRPr b="1" sz="100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Это проектирование системы через </a:t>
              </a:r>
              <a:r>
                <a:rPr b="1" lang="ru" sz="81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контракты</a:t>
              </a: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. Объект строго разделяет то, что он делает, от того, как именно он это делает внутри.</a:t>
              </a:r>
              <a:endParaRPr b="0" sz="814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Геттеры и сеттеры, открывающие прямой доступ к полям, часто нарушают этот принцип, обнажая структуру данных.</a:t>
              </a:r>
              <a:endParaRPr b="0" sz="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3"/>
          <p:cNvGrpSpPr/>
          <p:nvPr/>
        </p:nvGrpSpPr>
        <p:grpSpPr>
          <a:xfrm>
            <a:off x="476250" y="2809875"/>
            <a:ext cx="3952800" cy="1905000"/>
            <a:chOff x="476250" y="2809875"/>
            <a:chExt cx="3952800" cy="1905000"/>
          </a:xfrm>
        </p:grpSpPr>
        <p:sp>
          <p:nvSpPr>
            <p:cNvPr id="227" name="Google Shape;227;p23"/>
            <p:cNvSpPr/>
            <p:nvPr/>
          </p:nvSpPr>
          <p:spPr>
            <a:xfrm>
              <a:off x="476250" y="2809875"/>
              <a:ext cx="3952800" cy="1905000"/>
            </a:xfrm>
            <a:prstGeom prst="roundRect">
              <a:avLst>
                <a:gd fmla="val 6000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3"/>
            <p:cNvSpPr txBox="1"/>
            <p:nvPr/>
          </p:nvSpPr>
          <p:spPr>
            <a:xfrm>
              <a:off x="714375" y="3000375"/>
              <a:ext cx="34767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8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Контракт vs Реализация</a:t>
              </a:r>
              <a:endParaRPr b="1" sz="100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814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ЧТО делает (Контракт)</a:t>
              </a:r>
              <a:b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Публичный интерфейс объекта, сигнатуры методов и ожидаемое поведение.</a:t>
              </a:r>
              <a:endParaRPr b="0" sz="814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ru" sz="814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КАК делает (Внутреннее устройство)</a:t>
              </a:r>
              <a:b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Алгоритмы, переменные состояния и скрытые структуры данных, которые могут меняться без вреда для внешнего кода.</a:t>
              </a:r>
              <a:endParaRPr b="0" sz="814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3"/>
          <p:cNvGrpSpPr/>
          <p:nvPr/>
        </p:nvGrpSpPr>
        <p:grpSpPr>
          <a:xfrm>
            <a:off x="4714875" y="1190625"/>
            <a:ext cx="3952800" cy="3524400"/>
            <a:chOff x="4714875" y="1190625"/>
            <a:chExt cx="3952800" cy="3524400"/>
          </a:xfrm>
        </p:grpSpPr>
        <p:sp>
          <p:nvSpPr>
            <p:cNvPr id="230" name="Google Shape;230;p23"/>
            <p:cNvSpPr/>
            <p:nvPr/>
          </p:nvSpPr>
          <p:spPr>
            <a:xfrm>
              <a:off x="4714875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 txBox="1"/>
            <p:nvPr/>
          </p:nvSpPr>
          <p:spPr>
            <a:xfrm>
              <a:off x="4953000" y="1381125"/>
              <a:ext cx="3476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8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Пример из языка Си (где нет классов)</a:t>
              </a:r>
              <a:endParaRPr b="1" sz="100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Инкапсуляция шире, чем ООП. Системные вызовы ОС скрывают реализацию за единым интерфейсом.</a:t>
              </a:r>
              <a:endParaRPr b="0" sz="814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4953000" y="1952625"/>
              <a:ext cx="3476700" cy="400200"/>
            </a:xfrm>
            <a:prstGeom prst="roundRect">
              <a:avLst>
                <a:gd fmla="val 14285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3"/>
            <p:cNvSpPr txBox="1"/>
            <p:nvPr/>
          </p:nvSpPr>
          <p:spPr>
            <a:xfrm>
              <a:off x="5095875" y="2028825"/>
              <a:ext cx="3190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open(const char *pathname, int flags);</a:t>
              </a:r>
              <a:endParaRPr b="1" sz="7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34" name="Google Shape;23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81788" y="242887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43550" y="2581275"/>
              <a:ext cx="22956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38788" y="271462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81788" y="2590800"/>
              <a:ext cx="19200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24788" y="271462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14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57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00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2" name="Google Shape;242;p23"/>
            <p:cNvGrpSpPr/>
            <p:nvPr/>
          </p:nvGrpSpPr>
          <p:grpSpPr>
            <a:xfrm>
              <a:off x="5000625" y="2905125"/>
              <a:ext cx="1095300" cy="809700"/>
              <a:chOff x="5000625" y="2905125"/>
              <a:chExt cx="1095300" cy="809700"/>
            </a:xfrm>
          </p:grpSpPr>
          <p:sp>
            <p:nvSpPr>
              <p:cNvPr id="243" name="Google Shape;243;p23"/>
              <p:cNvSpPr/>
              <p:nvPr/>
            </p:nvSpPr>
            <p:spPr>
              <a:xfrm>
                <a:off x="5000625" y="2905125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9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3"/>
              <p:cNvSpPr txBox="1"/>
              <p:nvPr/>
            </p:nvSpPr>
            <p:spPr>
              <a:xfrm>
                <a:off x="5095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65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Linux</a:t>
                </a:r>
                <a:endParaRPr b="1" sz="665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FS: ext4 / tmpfs</a:t>
                </a:r>
                <a:b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Реализация ядра Linux</a:t>
                </a:r>
                <a:endParaRPr b="0" sz="7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45" name="Google Shape;245;p23"/>
            <p:cNvGrpSpPr/>
            <p:nvPr/>
          </p:nvGrpSpPr>
          <p:grpSpPr>
            <a:xfrm>
              <a:off x="6143625" y="2905125"/>
              <a:ext cx="1095300" cy="809700"/>
              <a:chOff x="6143625" y="2905125"/>
              <a:chExt cx="1095300" cy="809700"/>
            </a:xfrm>
          </p:grpSpPr>
          <p:sp>
            <p:nvSpPr>
              <p:cNvPr id="246" name="Google Shape;246;p23"/>
              <p:cNvSpPr/>
              <p:nvPr/>
            </p:nvSpPr>
            <p:spPr>
              <a:xfrm>
                <a:off x="6143625" y="2905125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9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3"/>
              <p:cNvSpPr txBox="1"/>
              <p:nvPr/>
            </p:nvSpPr>
            <p:spPr>
              <a:xfrm>
                <a:off x="6238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65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macOS</a:t>
                </a:r>
                <a:endParaRPr b="1" sz="665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FS: APFS</a:t>
                </a:r>
                <a:b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Реализация ядра Darwin</a:t>
                </a:r>
                <a:endParaRPr b="0" sz="7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48" name="Google Shape;248;p23"/>
            <p:cNvGrpSpPr/>
            <p:nvPr/>
          </p:nvGrpSpPr>
          <p:grpSpPr>
            <a:xfrm>
              <a:off x="7286625" y="2905125"/>
              <a:ext cx="1095300" cy="809700"/>
              <a:chOff x="7286625" y="2905125"/>
              <a:chExt cx="1095300" cy="809700"/>
            </a:xfrm>
          </p:grpSpPr>
          <p:sp>
            <p:nvSpPr>
              <p:cNvPr id="249" name="Google Shape;249;p23"/>
              <p:cNvSpPr/>
              <p:nvPr/>
            </p:nvSpPr>
            <p:spPr>
              <a:xfrm>
                <a:off x="7286625" y="2905125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9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3"/>
              <p:cNvSpPr txBox="1"/>
              <p:nvPr/>
            </p:nvSpPr>
            <p:spPr>
              <a:xfrm>
                <a:off x="7381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65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Windows</a:t>
                </a:r>
                <a:endParaRPr b="1" sz="665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FS: NTFS</a:t>
                </a:r>
                <a:b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Слой трансляции POSIX</a:t>
                </a:r>
                <a:endParaRPr b="0" sz="7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pic>
          <p:nvPicPr>
            <p:cNvPr id="251" name="Google Shape;251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43475" y="3895725"/>
              <a:ext cx="3495600" cy="6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3"/>
            <p:cNvSpPr txBox="1"/>
            <p:nvPr/>
          </p:nvSpPr>
          <p:spPr>
            <a:xfrm>
              <a:off x="5095875" y="4000500"/>
              <a:ext cx="3190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Работает одинаково на любой системе:</a:t>
              </a:r>
              <a:endParaRPr b="1" sz="7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fd = open("file.txt", O_RDONLY);</a:t>
              </a:r>
              <a:endParaRPr b="1" sz="11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4"/>
          <p:cNvGrpSpPr/>
          <p:nvPr/>
        </p:nvGrpSpPr>
        <p:grpSpPr>
          <a:xfrm>
            <a:off x="476250" y="381000"/>
            <a:ext cx="8191500" cy="666825"/>
            <a:chOff x="476250" y="381000"/>
            <a:chExt cx="8191500" cy="666825"/>
          </a:xfrm>
        </p:grpSpPr>
        <p:sp>
          <p:nvSpPr>
            <p:cNvPr id="259" name="Google Shape;259;p24"/>
            <p:cNvSpPr txBox="1"/>
            <p:nvPr/>
          </p:nvSpPr>
          <p:spPr>
            <a:xfrm>
              <a:off x="476250" y="38100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Почему это важнее, чем кажется</a:t>
              </a:r>
              <a:endPara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4"/>
            <p:cNvSpPr txBox="1"/>
            <p:nvPr/>
          </p:nvSpPr>
          <p:spPr>
            <a:xfrm>
              <a:off x="476250" y="809625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5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Хорошая инкапсуляция означает, что объект сам отвечает за корректность своего состояния</a:t>
              </a:r>
              <a:endParaRPr b="1" sz="125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476250" y="1190625"/>
            <a:ext cx="3952800" cy="3524400"/>
            <a:chOff x="476250" y="1190625"/>
            <a:chExt cx="3952800" cy="3524400"/>
          </a:xfrm>
        </p:grpSpPr>
        <p:sp>
          <p:nvSpPr>
            <p:cNvPr id="262" name="Google Shape;262;p24"/>
            <p:cNvSpPr/>
            <p:nvPr/>
          </p:nvSpPr>
          <p:spPr>
            <a:xfrm>
              <a:off x="476250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4"/>
            <p:cNvSpPr txBox="1"/>
            <p:nvPr/>
          </p:nvSpPr>
          <p:spPr>
            <a:xfrm>
              <a:off x="714375" y="1428750"/>
              <a:ext cx="3476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Защита инвариантов</a:t>
              </a:r>
              <a:endPara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Класс гарантирует, что </a:t>
              </a:r>
              <a:r>
                <a:rPr b="1" lang="ru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Stock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с пустым тикером просто не может существовать в системе.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Контроль 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конструирования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первый барьер защиты. Валидация выполняется непосредственно при создании объекта.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Это и есть </a:t>
              </a:r>
              <a:r>
                <a:rPr b="1" lang="ru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настоящая защита инвариантов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создание гарантированно валидных сущностей, а не формальное написание геттеров и сеттеров ко всем полям подряд.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24"/>
          <p:cNvGrpSpPr/>
          <p:nvPr/>
        </p:nvGrpSpPr>
        <p:grpSpPr>
          <a:xfrm>
            <a:off x="4714875" y="1190625"/>
            <a:ext cx="3952800" cy="3524400"/>
            <a:chOff x="4714875" y="1190625"/>
            <a:chExt cx="3952800" cy="3524400"/>
          </a:xfrm>
        </p:grpSpPr>
        <p:sp>
          <p:nvSpPr>
            <p:cNvPr id="265" name="Google Shape;265;p24"/>
            <p:cNvSpPr/>
            <p:nvPr/>
          </p:nvSpPr>
          <p:spPr>
            <a:xfrm>
              <a:off x="4714875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4953000" y="1476375"/>
              <a:ext cx="3476700" cy="2952900"/>
            </a:xfrm>
            <a:prstGeom prst="roundRect">
              <a:avLst>
                <a:gd fmla="val 1935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4"/>
            <p:cNvSpPr txBox="1"/>
            <p:nvPr/>
          </p:nvSpPr>
          <p:spPr>
            <a:xfrm>
              <a:off x="5095875" y="1619250"/>
              <a:ext cx="3190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85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Защита состояния в Java</a:t>
              </a:r>
              <a:endParaRPr sz="85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class Stock {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private final String ticker;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public Stock(String ticker) {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if (ticker == null || ticker.isBlank()) {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  throw new IllegalArgumentException(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    "Ticker required"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  );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}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this.ticker = ticker; // защищён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}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public String getTicker() {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return ticker; // только чтение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}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85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476250" y="381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Наследование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476250" y="80962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Наследование устанавливает отношение «является» (IS-A) и позволяет повторно использовать код</a:t>
            </a:r>
            <a:endParaRPr b="1" sz="1250">
              <a:solidFill>
                <a:srgbClr val="D32F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25"/>
          <p:cNvGrpSpPr/>
          <p:nvPr/>
        </p:nvGrpSpPr>
        <p:grpSpPr>
          <a:xfrm>
            <a:off x="476250" y="1190625"/>
            <a:ext cx="3952800" cy="3524400"/>
            <a:chOff x="476250" y="1190625"/>
            <a:chExt cx="3952800" cy="3524400"/>
          </a:xfrm>
        </p:grpSpPr>
        <p:sp>
          <p:nvSpPr>
            <p:cNvPr id="276" name="Google Shape;276;p25"/>
            <p:cNvSpPr/>
            <p:nvPr/>
          </p:nvSpPr>
          <p:spPr>
            <a:xfrm>
              <a:off x="476250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 txBox="1"/>
            <p:nvPr/>
          </p:nvSpPr>
          <p:spPr>
            <a:xfrm>
              <a:off x="714375" y="1428750"/>
              <a:ext cx="3476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В чём суть</a:t>
              </a:r>
              <a:endPara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Базовый класс описывает </a:t>
              </a:r>
              <a:r>
                <a:rPr b="1" lang="ru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общее состояние и поведение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, в то время как наследники реализуют </a:t>
              </a:r>
              <a:r>
                <a:rPr b="1" lang="ru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специфичную логику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Основные возможности:</a:t>
              </a:r>
              <a:endParaRPr b="1" sz="1100">
                <a:solidFill>
                  <a:srgbClr val="07169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Arial"/>
                <a:buChar char="●"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Переиспользование полей и методов базового класса без дублирования кода.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Arial"/>
                <a:buChar char="●"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Переопределение (override) поведения в подклассах под конкретные задачи.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100"/>
                <a:buFont typeface="Arial"/>
                <a:buChar char="●"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Построение понятных иерархий типов, отражающих предметную область.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25"/>
          <p:cNvGrpSpPr/>
          <p:nvPr/>
        </p:nvGrpSpPr>
        <p:grpSpPr>
          <a:xfrm>
            <a:off x="4714875" y="1190625"/>
            <a:ext cx="3952800" cy="3524400"/>
            <a:chOff x="4714875" y="1190625"/>
            <a:chExt cx="3952800" cy="3524400"/>
          </a:xfrm>
        </p:grpSpPr>
        <p:sp>
          <p:nvSpPr>
            <p:cNvPr id="279" name="Google Shape;279;p25"/>
            <p:cNvSpPr/>
            <p:nvPr/>
          </p:nvSpPr>
          <p:spPr>
            <a:xfrm>
              <a:off x="4714875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0" name="Google Shape;28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4025" y="1466850"/>
              <a:ext cx="2305200" cy="7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5"/>
            <p:cNvSpPr txBox="1"/>
            <p:nvPr/>
          </p:nvSpPr>
          <p:spPr>
            <a:xfrm>
              <a:off x="5638800" y="1571625"/>
              <a:ext cx="2095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Instrument</a:t>
              </a:r>
              <a:endParaRPr b="1" sz="11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ticker, name, getDescription()</a:t>
              </a:r>
              <a:endParaRPr b="0" sz="9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82" name="Google Shape;28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77025" y="2190750"/>
              <a:ext cx="192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95925" y="2657475"/>
              <a:ext cx="23718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86400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57825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77025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48450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67650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39075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25"/>
            <p:cNvSpPr/>
            <p:nvPr/>
          </p:nvSpPr>
          <p:spPr>
            <a:xfrm>
              <a:off x="4924425" y="2952750"/>
              <a:ext cx="1143000" cy="1476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5"/>
            <p:cNvSpPr txBox="1"/>
            <p:nvPr/>
          </p:nvSpPr>
          <p:spPr>
            <a:xfrm>
              <a:off x="4972050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Stock</a:t>
              </a:r>
              <a:endParaRPr b="1" sz="11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sector</a:t>
              </a:r>
              <a:endParaRPr b="0" sz="9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Наследует ticker, name и поведение</a:t>
              </a:r>
              <a:endParaRPr b="1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6115050" y="2952750"/>
              <a:ext cx="1143000" cy="1476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5"/>
            <p:cNvSpPr txBox="1"/>
            <p:nvPr/>
          </p:nvSpPr>
          <p:spPr>
            <a:xfrm>
              <a:off x="6162675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Bond</a:t>
              </a:r>
              <a:endParaRPr b="1" sz="11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coupon</a:t>
              </a:r>
              <a:endParaRPr b="0" sz="9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Наследует ticker, name и поведение</a:t>
              </a:r>
              <a:endParaRPr b="1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7305675" y="2952750"/>
              <a:ext cx="1143000" cy="1476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 txBox="1"/>
            <p:nvPr/>
          </p:nvSpPr>
          <p:spPr>
            <a:xfrm>
              <a:off x="7353300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Etf</a:t>
              </a:r>
              <a:endParaRPr b="1" sz="11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index</a:t>
              </a:r>
              <a:endParaRPr b="0" sz="9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Наследует ticker, name и поведение</a:t>
              </a:r>
              <a:endParaRPr b="1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476250" y="381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Но наследование может всё сломать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476250" y="80962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Наследование создаёт жёсткую связанность между родителем и потомками</a:t>
            </a:r>
            <a:endParaRPr b="1" sz="1250">
              <a:solidFill>
                <a:srgbClr val="D32F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26"/>
          <p:cNvGrpSpPr/>
          <p:nvPr/>
        </p:nvGrpSpPr>
        <p:grpSpPr>
          <a:xfrm>
            <a:off x="476250" y="1190625"/>
            <a:ext cx="3952800" cy="3524400"/>
            <a:chOff x="476250" y="1190625"/>
            <a:chExt cx="3952800" cy="3524400"/>
          </a:xfrm>
        </p:grpSpPr>
        <p:sp>
          <p:nvSpPr>
            <p:cNvPr id="304" name="Google Shape;304;p26"/>
            <p:cNvSpPr/>
            <p:nvPr/>
          </p:nvSpPr>
          <p:spPr>
            <a:xfrm>
              <a:off x="476250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714375" y="1428750"/>
              <a:ext cx="3476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Проблема жёсткой связанности</a:t>
              </a:r>
              <a:endPara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Чем сложнее иерархия, тем опаснее: любое изменение в базовом классе </a:t>
              </a:r>
              <a:r>
                <a:rPr b="1" lang="ru" sz="10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каскадно</a:t>
              </a:r>
              <a:r>
                <a:rPr b="0" lang="ru" sz="10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расходится вниз по всем потомкам.</a:t>
              </a:r>
              <a:endParaRPr b="0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ru" sz="10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Добавление поля или изменение логики метода наверху требует проверки </a:t>
              </a:r>
              <a:r>
                <a:rPr b="1" lang="ru" sz="10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всех</a:t>
              </a:r>
              <a:r>
                <a:rPr b="0" lang="ru" sz="10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потомков. В глубоких иерархиях это превращается в серьёзную проблему: всё начинает сыпаться от одного изменения.</a:t>
              </a:r>
              <a:endParaRPr b="0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26"/>
          <p:cNvGrpSpPr/>
          <p:nvPr/>
        </p:nvGrpSpPr>
        <p:grpSpPr>
          <a:xfrm>
            <a:off x="4714875" y="1190625"/>
            <a:ext cx="3952800" cy="3524400"/>
            <a:chOff x="4714875" y="1190625"/>
            <a:chExt cx="3952800" cy="3524400"/>
          </a:xfrm>
        </p:grpSpPr>
        <p:sp>
          <p:nvSpPr>
            <p:cNvPr id="307" name="Google Shape;307;p26"/>
            <p:cNvSpPr/>
            <p:nvPr/>
          </p:nvSpPr>
          <p:spPr>
            <a:xfrm>
              <a:off x="4714875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8" name="Google Shape;308;p26"/>
            <p:cNvGrpSpPr/>
            <p:nvPr/>
          </p:nvGrpSpPr>
          <p:grpSpPr>
            <a:xfrm>
              <a:off x="4905375" y="1428750"/>
              <a:ext cx="3571800" cy="1143000"/>
              <a:chOff x="4905375" y="1428750"/>
              <a:chExt cx="3571800" cy="1143000"/>
            </a:xfrm>
          </p:grpSpPr>
          <p:sp>
            <p:nvSpPr>
              <p:cNvPr id="309" name="Google Shape;309;p26"/>
              <p:cNvSpPr/>
              <p:nvPr/>
            </p:nvSpPr>
            <p:spPr>
              <a:xfrm>
                <a:off x="4953000" y="1428750"/>
                <a:ext cx="34767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10" name="Google Shape;310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015038" y="1619250"/>
                <a:ext cx="13527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" name="Google Shape;311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995988" y="216217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" name="Google Shape;312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662738" y="216217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" name="Google Shape;313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329488" y="216217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4" name="Google Shape;314;p26"/>
              <p:cNvSpPr txBox="1"/>
              <p:nvPr/>
            </p:nvSpPr>
            <p:spPr>
              <a:xfrm>
                <a:off x="6119813" y="1457325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000">
                    <a:solidFill>
                      <a:srgbClr val="0716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Instrument</a:t>
                </a:r>
                <a:endParaRPr b="1" sz="10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15" name="Google Shape;315;p26"/>
              <p:cNvSpPr txBox="1"/>
              <p:nvPr/>
            </p:nvSpPr>
            <p:spPr>
              <a:xfrm>
                <a:off x="6215063" y="1647825"/>
                <a:ext cx="952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50">
                    <a:solidFill>
                      <a:srgbClr val="D32F2F"/>
                    </a:solidFill>
                    <a:latin typeface="Arial"/>
                    <a:ea typeface="Arial"/>
                    <a:cs typeface="Arial"/>
                    <a:sym typeface="Arial"/>
                  </a:rPr>
                  <a:t>изменение в корне</a:t>
                </a:r>
                <a:endParaRPr b="1" sz="75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6"/>
              <p:cNvSpPr txBox="1"/>
              <p:nvPr/>
            </p:nvSpPr>
            <p:spPr>
              <a:xfrm>
                <a:off x="4905375" y="2238375"/>
                <a:ext cx="3571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50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протекает во все подклассы, конструкторы, equals/hashCode, toString</a:t>
                </a:r>
                <a:endParaRPr b="0" sz="7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7" name="Google Shape;317;p26"/>
            <p:cNvSpPr txBox="1"/>
            <p:nvPr/>
          </p:nvSpPr>
          <p:spPr>
            <a:xfrm>
              <a:off x="4953000" y="2714625"/>
              <a:ext cx="3476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Связь с SOLID: ISP</a:t>
              </a:r>
              <a:endParaRPr b="1" sz="1300">
                <a:solidFill>
                  <a:srgbClr val="07169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102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Interface Segregation Principle</a:t>
              </a:r>
              <a:r>
                <a:rPr b="0" lang="ru" sz="102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принцип разделения интерфейсов. Если подкласс вынужден наследовать методы, которые ему не нужны (или для которых он не может дать осмысленную реализацию), — это верный сигнал, что иерархия спроектирована неверно.</a:t>
              </a:r>
              <a:endParaRPr b="0" sz="102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ru" sz="9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Подробно SOLID разбирается на последующих семинарах, но эту связь полезно держать в голове уже сейчас.</a:t>
              </a:r>
              <a:endParaRPr b="0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27"/>
          <p:cNvGrpSpPr/>
          <p:nvPr/>
        </p:nvGrpSpPr>
        <p:grpSpPr>
          <a:xfrm>
            <a:off x="476250" y="381000"/>
            <a:ext cx="8191500" cy="666825"/>
            <a:chOff x="476250" y="381000"/>
            <a:chExt cx="8191500" cy="666825"/>
          </a:xfrm>
        </p:grpSpPr>
        <p:sp>
          <p:nvSpPr>
            <p:cNvPr id="324" name="Google Shape;324;p27"/>
            <p:cNvSpPr txBox="1"/>
            <p:nvPr/>
          </p:nvSpPr>
          <p:spPr>
            <a:xfrm>
              <a:off x="476250" y="38100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Альтернатива — ассоциация и композиция</a:t>
              </a:r>
              <a:endPara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476250" y="809625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56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Часто проблемы наследования снимаются простым объединением объектов, а не выстраиванием иерархии</a:t>
              </a:r>
              <a:endParaRPr b="1" sz="1156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27"/>
          <p:cNvGrpSpPr/>
          <p:nvPr/>
        </p:nvGrpSpPr>
        <p:grpSpPr>
          <a:xfrm>
            <a:off x="476250" y="1190625"/>
            <a:ext cx="3952800" cy="2476500"/>
            <a:chOff x="476250" y="1190625"/>
            <a:chExt cx="3952800" cy="2476500"/>
          </a:xfrm>
        </p:grpSpPr>
        <p:sp>
          <p:nvSpPr>
            <p:cNvPr id="327" name="Google Shape;327;p27"/>
            <p:cNvSpPr/>
            <p:nvPr/>
          </p:nvSpPr>
          <p:spPr>
            <a:xfrm>
              <a:off x="476250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714375" y="1381125"/>
              <a:ext cx="347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1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Агрегация</a:t>
              </a:r>
              <a:endParaRPr b="1" sz="91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Объект ссылается на другой, но тот живёт независимо. Один и тот же </a:t>
              </a:r>
              <a:r>
                <a:rPr b="1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Stock</a:t>
              </a:r>
              <a:r>
                <a:rPr b="0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может быть в десятках котировок. Удаление котировки не затрагивает инструмент.</a:t>
              </a:r>
              <a:endParaRPr b="0" sz="73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714375" y="2047875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 txBox="1"/>
            <p:nvPr/>
          </p:nvSpPr>
          <p:spPr>
            <a:xfrm>
              <a:off x="857250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Код агрегации в Java</a:t>
              </a:r>
              <a:endParaRPr b="1" sz="85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class Quote {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private final Instrument instrument;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private final BigDecimal price;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8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1" name="Google Shape;331;p27"/>
          <p:cNvGrpSpPr/>
          <p:nvPr/>
        </p:nvGrpSpPr>
        <p:grpSpPr>
          <a:xfrm>
            <a:off x="4714875" y="1190625"/>
            <a:ext cx="3952800" cy="2476500"/>
            <a:chOff x="4714875" y="1190625"/>
            <a:chExt cx="3952800" cy="2476500"/>
          </a:xfrm>
        </p:grpSpPr>
        <p:sp>
          <p:nvSpPr>
            <p:cNvPr id="332" name="Google Shape;332;p27"/>
            <p:cNvSpPr/>
            <p:nvPr/>
          </p:nvSpPr>
          <p:spPr>
            <a:xfrm>
              <a:off x="4714875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 txBox="1"/>
            <p:nvPr/>
          </p:nvSpPr>
          <p:spPr>
            <a:xfrm>
              <a:off x="4953000" y="1381125"/>
              <a:ext cx="347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1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Композиция</a:t>
              </a:r>
              <a:endParaRPr b="1" sz="91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Более сильная форма владения, «часть-целое». Позиция живёт только внутри портфеля. Удаление </a:t>
              </a:r>
              <a:r>
                <a:rPr b="1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r>
                <a:rPr b="0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удаляет и все его позиции.</a:t>
              </a:r>
              <a:endParaRPr b="0" sz="73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4953000" y="2047875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7"/>
            <p:cNvSpPr txBox="1"/>
            <p:nvPr/>
          </p:nvSpPr>
          <p:spPr>
            <a:xfrm>
              <a:off x="5095875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Код композиции в Java</a:t>
              </a:r>
              <a:endParaRPr b="1" sz="85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class Portfolio {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public static class Position { /* ... */ }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private final List&lt;Position&gt; positions = </a:t>
              </a: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8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6" name="Google Shape;336;p27"/>
          <p:cNvGrpSpPr/>
          <p:nvPr/>
        </p:nvGrpSpPr>
        <p:grpSpPr>
          <a:xfrm>
            <a:off x="466725" y="3848100"/>
            <a:ext cx="8210700" cy="876300"/>
            <a:chOff x="466725" y="3848100"/>
            <a:chExt cx="8210700" cy="876300"/>
          </a:xfrm>
        </p:grpSpPr>
        <p:pic>
          <p:nvPicPr>
            <p:cNvPr id="337" name="Google Shape;33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" y="3848100"/>
              <a:ext cx="8210700" cy="8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27"/>
            <p:cNvSpPr txBox="1"/>
            <p:nvPr/>
          </p:nvSpPr>
          <p:spPr>
            <a:xfrm>
              <a:off x="714375" y="4000500"/>
              <a:ext cx="771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Правило большого пальца:</a:t>
              </a:r>
              <a:endParaRPr b="1" sz="1100">
                <a:solidFill>
                  <a:srgbClr val="07169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10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Предпочитать композицию наследованию. Наследоваться стоит только тогда, когда отношение IS-A действительно есть, а иерархия остаётся простой.</a:t>
              </a:r>
              <a:endParaRPr b="0" i="1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476250" y="381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Полиморфизм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5" name="Google Shape;345;p28"/>
          <p:cNvSpPr txBox="1"/>
          <p:nvPr/>
        </p:nvSpPr>
        <p:spPr>
          <a:xfrm>
            <a:off x="476250" y="80962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78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Способность работать с объектами разных типов через единый общий интерфейс</a:t>
            </a:r>
            <a:endParaRPr b="1" sz="978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6" name="Google Shape;346;p28"/>
          <p:cNvGrpSpPr/>
          <p:nvPr/>
        </p:nvGrpSpPr>
        <p:grpSpPr>
          <a:xfrm>
            <a:off x="476250" y="1190625"/>
            <a:ext cx="3952800" cy="2476500"/>
            <a:chOff x="476250" y="1190625"/>
            <a:chExt cx="3952800" cy="2476500"/>
          </a:xfrm>
        </p:grpSpPr>
        <p:sp>
          <p:nvSpPr>
            <p:cNvPr id="347" name="Google Shape;347;p28"/>
            <p:cNvSpPr/>
            <p:nvPr/>
          </p:nvSpPr>
          <p:spPr>
            <a:xfrm>
              <a:off x="476250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 txBox="1"/>
            <p:nvPr/>
          </p:nvSpPr>
          <p:spPr>
            <a:xfrm>
              <a:off x="714375" y="1381125"/>
              <a:ext cx="347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7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Полиморфизм подтипов (subtype, runtime)</a:t>
              </a:r>
              <a:endParaRPr b="1" sz="97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Переопределение методов в подклассах. Код вызывает нужную реализацию в зависимости от конкретного типа объекта. Решение принимается </a:t>
              </a:r>
              <a:r>
                <a:rPr b="1" lang="ru" sz="72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 runtime</a:t>
              </a: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на основе фактического типа.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714375" y="2047875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8"/>
            <p:cNvSpPr txBox="1"/>
            <p:nvPr/>
          </p:nvSpPr>
          <p:spPr>
            <a:xfrm>
              <a:off x="857250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Вызов метода подкласса в Java</a:t>
              </a:r>
              <a:endParaRPr b="1" sz="750">
                <a:solidFill>
                  <a:srgbClr val="666666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void example()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List&lt;Instrument&gt; list = List.of(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new Stock(), 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new Bond(), 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new Etf()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);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for (Instrument instr : list)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instr.getDescription(); // конкретный подкласс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51" name="Google Shape;351;p28"/>
          <p:cNvGrpSpPr/>
          <p:nvPr/>
        </p:nvGrpSpPr>
        <p:grpSpPr>
          <a:xfrm>
            <a:off x="4714875" y="1190625"/>
            <a:ext cx="3952800" cy="2476500"/>
            <a:chOff x="4714875" y="1190625"/>
            <a:chExt cx="3952800" cy="2476500"/>
          </a:xfrm>
        </p:grpSpPr>
        <p:sp>
          <p:nvSpPr>
            <p:cNvPr id="352" name="Google Shape;352;p28"/>
            <p:cNvSpPr/>
            <p:nvPr/>
          </p:nvSpPr>
          <p:spPr>
            <a:xfrm>
              <a:off x="4714875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 txBox="1"/>
            <p:nvPr/>
          </p:nvSpPr>
          <p:spPr>
            <a:xfrm>
              <a:off x="4953000" y="1381125"/>
              <a:ext cx="347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7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Перегрузка (overloading, compile-time)</a:t>
              </a:r>
              <a:endParaRPr b="1" sz="97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Несколько методов с одним именем, но разными сигнатурами параметров. Конкретный метод для вызова определяется компилятором </a:t>
              </a:r>
              <a:r>
                <a:rPr b="1" lang="ru" sz="72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 compile-time</a:t>
              </a: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по типам аргументов.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4953000" y="2047875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8"/>
            <p:cNvSpPr txBox="1"/>
            <p:nvPr/>
          </p:nvSpPr>
          <p:spPr>
            <a:xfrm>
              <a:off x="5095875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Статический полиморфизм в Java</a:t>
              </a:r>
              <a:endParaRPr b="1" sz="750">
                <a:solidFill>
                  <a:srgbClr val="666666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int add(int a, int b)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return a + b;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double add(double a, double b)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return a + b;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String add(String a, String b)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return a + b;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56" name="Google Shape;356;p28"/>
          <p:cNvGrpSpPr/>
          <p:nvPr/>
        </p:nvGrpSpPr>
        <p:grpSpPr>
          <a:xfrm>
            <a:off x="466725" y="3838575"/>
            <a:ext cx="8210700" cy="895500"/>
            <a:chOff x="466725" y="3838575"/>
            <a:chExt cx="8210700" cy="895500"/>
          </a:xfrm>
        </p:grpSpPr>
        <p:pic>
          <p:nvPicPr>
            <p:cNvPr id="357" name="Google Shape;35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" y="3838575"/>
              <a:ext cx="8210700" cy="8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28"/>
            <p:cNvSpPr txBox="1"/>
            <p:nvPr/>
          </p:nvSpPr>
          <p:spPr>
            <a:xfrm>
              <a:off x="714375" y="4000500"/>
              <a:ext cx="771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ru" sz="110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rPr>
                <a:t>Шаблонный полиморфизм:</a:t>
              </a:r>
              <a:endParaRPr b="1" i="1" sz="1100">
                <a:solidFill>
                  <a:srgbClr val="0716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Существует также параметрический (шаблонный) полиморфизм — механизм generics в Java. Эта тема подробно разбирается в рамках последующих семинаров нашего курса.</a:t>
              </a:r>
              <a:endParaRPr b="0" i="1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476250" y="381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Полиморфизм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476250" y="80962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25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Способность работать с объектами разных типов через единый общий интерфейс</a:t>
            </a:r>
            <a:endParaRPr b="1" sz="925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66" name="Google Shape;366;p29"/>
          <p:cNvGrpSpPr/>
          <p:nvPr/>
        </p:nvGrpSpPr>
        <p:grpSpPr>
          <a:xfrm>
            <a:off x="476250" y="1190625"/>
            <a:ext cx="3952800" cy="2476500"/>
            <a:chOff x="476250" y="1190625"/>
            <a:chExt cx="3952800" cy="2476500"/>
          </a:xfrm>
        </p:grpSpPr>
        <p:sp>
          <p:nvSpPr>
            <p:cNvPr id="367" name="Google Shape;367;p29"/>
            <p:cNvSpPr/>
            <p:nvPr/>
          </p:nvSpPr>
          <p:spPr>
            <a:xfrm>
              <a:off x="476250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 txBox="1"/>
            <p:nvPr/>
          </p:nvSpPr>
          <p:spPr>
            <a:xfrm>
              <a:off x="666750" y="1381125"/>
              <a:ext cx="3571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Полиморфизм подтипов (subtype, runtime)</a:t>
              </a:r>
              <a:endParaRPr b="1" sz="9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694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Переопределение методов в подклассах. Код вызывает нужную реализацию в зависимости от конкретного типа объекта. Решение принимается </a:t>
              </a:r>
              <a:r>
                <a:rPr b="1" lang="ru" sz="69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 runtime</a:t>
              </a:r>
              <a:r>
                <a:rPr b="0" lang="ru" sz="694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на основе фактического типа.</a:t>
              </a:r>
              <a:endParaRPr b="0" sz="694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666750" y="2000250"/>
              <a:ext cx="3571800" cy="1476300"/>
            </a:xfrm>
            <a:prstGeom prst="roundRect">
              <a:avLst>
                <a:gd fmla="val 387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 txBox="1"/>
            <p:nvPr/>
          </p:nvSpPr>
          <p:spPr>
            <a:xfrm>
              <a:off x="666750" y="2000250"/>
              <a:ext cx="35718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114300" spcFirstLastPara="1" rIns="11430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0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Вызов метода подкласса в Java</a:t>
              </a:r>
              <a:endParaRPr b="1" sz="700">
                <a:solidFill>
                  <a:srgbClr val="666666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void example()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List&lt;Instrument&gt; list = List.of(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  new Stock(), new Bond(), new Etf()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);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for (Instrument instr : list)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  instr.getDescription(); </a:t>
              </a:r>
              <a:r>
                <a:rPr b="1" lang="ru" sz="70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конкретный подкласс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71" name="Google Shape;371;p29"/>
          <p:cNvGrpSpPr/>
          <p:nvPr/>
        </p:nvGrpSpPr>
        <p:grpSpPr>
          <a:xfrm>
            <a:off x="4714875" y="1190625"/>
            <a:ext cx="3952800" cy="2476500"/>
            <a:chOff x="4714875" y="1190625"/>
            <a:chExt cx="3952800" cy="2476500"/>
          </a:xfrm>
        </p:grpSpPr>
        <p:sp>
          <p:nvSpPr>
            <p:cNvPr id="372" name="Google Shape;372;p29"/>
            <p:cNvSpPr/>
            <p:nvPr/>
          </p:nvSpPr>
          <p:spPr>
            <a:xfrm>
              <a:off x="4714875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 txBox="1"/>
            <p:nvPr/>
          </p:nvSpPr>
          <p:spPr>
            <a:xfrm>
              <a:off x="4905375" y="1381125"/>
              <a:ext cx="3571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Перегрузка (overloading, compile-time)</a:t>
              </a:r>
              <a:endParaRPr b="1" sz="9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694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Несколько методов с одним именем, но разными сигнатурами параметров. Конкретный метод для вызова определяется компилятором </a:t>
              </a:r>
              <a:r>
                <a:rPr b="1" lang="ru" sz="69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 compile-time</a:t>
              </a:r>
              <a:r>
                <a:rPr b="0" lang="ru" sz="694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по типам аргументов.</a:t>
              </a:r>
              <a:endParaRPr b="0" sz="694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4905375" y="2000250"/>
              <a:ext cx="3571800" cy="1476300"/>
            </a:xfrm>
            <a:prstGeom prst="roundRect">
              <a:avLst>
                <a:gd fmla="val 387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 txBox="1"/>
            <p:nvPr/>
          </p:nvSpPr>
          <p:spPr>
            <a:xfrm>
              <a:off x="4905375" y="2000250"/>
              <a:ext cx="35718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114300" spcFirstLastPara="1" rIns="11430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0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Статический полиморфизм в Java</a:t>
              </a:r>
              <a:endParaRPr b="1" sz="700">
                <a:solidFill>
                  <a:srgbClr val="666666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int add(int a, int b)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return a + b;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double add(double a, double b)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return a + b;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String add(String a, String b)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return a + b;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76" name="Google Shape;376;p29"/>
          <p:cNvGrpSpPr/>
          <p:nvPr/>
        </p:nvGrpSpPr>
        <p:grpSpPr>
          <a:xfrm>
            <a:off x="466725" y="3838575"/>
            <a:ext cx="8210700" cy="895500"/>
            <a:chOff x="466725" y="3838575"/>
            <a:chExt cx="8210700" cy="895500"/>
          </a:xfrm>
        </p:grpSpPr>
        <p:pic>
          <p:nvPicPr>
            <p:cNvPr id="377" name="Google Shape;377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" y="3838575"/>
              <a:ext cx="8210700" cy="8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29"/>
            <p:cNvSpPr txBox="1"/>
            <p:nvPr/>
          </p:nvSpPr>
          <p:spPr>
            <a:xfrm>
              <a:off x="714375" y="4000500"/>
              <a:ext cx="771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rPr>
                <a:t>Шаблонный полиморфизм:</a:t>
              </a:r>
              <a:endParaRPr b="1" sz="1100">
                <a:solidFill>
                  <a:srgbClr val="0716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Существует также параметрический (шаблонный) полиморфизм — механизм generics в Java. Эта тема подробно разбирается в рамках последующих семинаров нашего курса.</a:t>
              </a:r>
              <a:endParaRPr b="0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30"/>
          <p:cNvGrpSpPr/>
          <p:nvPr/>
        </p:nvGrpSpPr>
        <p:grpSpPr>
          <a:xfrm>
            <a:off x="476250" y="333375"/>
            <a:ext cx="8191500" cy="628650"/>
            <a:chOff x="476250" y="333375"/>
            <a:chExt cx="8191500" cy="628650"/>
          </a:xfrm>
        </p:grpSpPr>
        <p:sp>
          <p:nvSpPr>
            <p:cNvPr id="385" name="Google Shape;385;p30"/>
            <p:cNvSpPr txBox="1"/>
            <p:nvPr/>
          </p:nvSpPr>
          <p:spPr>
            <a:xfrm>
              <a:off x="476250" y="333375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2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Как принципы работают вместе</a:t>
              </a:r>
              <a:endParaRPr b="0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86" name="Google Shape;386;p30"/>
            <p:cNvSpPr txBox="1"/>
            <p:nvPr/>
          </p:nvSpPr>
          <p:spPr>
            <a:xfrm>
              <a:off x="476250" y="733425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50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rPr>
                <a:t>Три принципа — это не независимый список, а взаимосвязанная система ООП</a:t>
              </a:r>
              <a:endParaRPr b="1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7" name="Google Shape;387;p30"/>
          <p:cNvGrpSpPr/>
          <p:nvPr/>
        </p:nvGrpSpPr>
        <p:grpSpPr>
          <a:xfrm>
            <a:off x="476250" y="1095375"/>
            <a:ext cx="3952800" cy="2476500"/>
            <a:chOff x="476250" y="1095375"/>
            <a:chExt cx="3952800" cy="2476500"/>
          </a:xfrm>
        </p:grpSpPr>
        <p:sp>
          <p:nvSpPr>
            <p:cNvPr id="388" name="Google Shape;388;p30"/>
            <p:cNvSpPr/>
            <p:nvPr/>
          </p:nvSpPr>
          <p:spPr>
            <a:xfrm>
              <a:off x="476250" y="109537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 txBox="1"/>
            <p:nvPr/>
          </p:nvSpPr>
          <p:spPr>
            <a:xfrm>
              <a:off x="666750" y="1285875"/>
              <a:ext cx="3571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Полиморфизм подтипов невозможен без наследования</a:t>
              </a:r>
              <a:endParaRPr b="1" sz="9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Полиморфизм подтипов построен на иерархии типов. Без наследования (или реализации общего интерфейса) нет общего типа, через который можно единообразно обращаться к разным объектам: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666750" y="2286000"/>
              <a:ext cx="3571800" cy="1095300"/>
            </a:xfrm>
            <a:prstGeom prst="roundRect">
              <a:avLst>
                <a:gd fmla="val 5217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 txBox="1"/>
            <p:nvPr/>
          </p:nvSpPr>
          <p:spPr>
            <a:xfrm>
              <a:off x="781050" y="2362200"/>
              <a:ext cx="3343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for (Instrument instr : instruments)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работает, т.к. Stock, Bond, Etf — это Instrument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System.out.println(instr.getDescription());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92" name="Google Shape;392;p30"/>
          <p:cNvGrpSpPr/>
          <p:nvPr/>
        </p:nvGrpSpPr>
        <p:grpSpPr>
          <a:xfrm>
            <a:off x="4714875" y="1095375"/>
            <a:ext cx="3952800" cy="1162200"/>
            <a:chOff x="4714875" y="1095375"/>
            <a:chExt cx="3952800" cy="1162200"/>
          </a:xfrm>
        </p:grpSpPr>
        <p:sp>
          <p:nvSpPr>
            <p:cNvPr id="393" name="Google Shape;393;p30"/>
            <p:cNvSpPr/>
            <p:nvPr/>
          </p:nvSpPr>
          <p:spPr>
            <a:xfrm>
              <a:off x="4714875" y="1095375"/>
              <a:ext cx="3952800" cy="1162200"/>
            </a:xfrm>
            <a:prstGeom prst="roundRect">
              <a:avLst>
                <a:gd fmla="val 983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0"/>
            <p:cNvSpPr txBox="1"/>
            <p:nvPr/>
          </p:nvSpPr>
          <p:spPr>
            <a:xfrm>
              <a:off x="4905375" y="1266825"/>
              <a:ext cx="3571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Наследование без полиморфизма почти бессмысленно</a:t>
              </a:r>
              <a:endParaRPr b="1" sz="9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Без полиморфизма наследование сводится к простому копированию полей и методов от родителя. Переиспользование кода полезно, но без возможности переопределять поведение наследование теряет силу.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5" name="Google Shape;395;p30"/>
          <p:cNvGrpSpPr/>
          <p:nvPr/>
        </p:nvGrpSpPr>
        <p:grpSpPr>
          <a:xfrm>
            <a:off x="4714875" y="2409825"/>
            <a:ext cx="3952800" cy="1162200"/>
            <a:chOff x="4714875" y="2409825"/>
            <a:chExt cx="3952800" cy="1162200"/>
          </a:xfrm>
        </p:grpSpPr>
        <p:sp>
          <p:nvSpPr>
            <p:cNvPr id="396" name="Google Shape;396;p30"/>
            <p:cNvSpPr/>
            <p:nvPr/>
          </p:nvSpPr>
          <p:spPr>
            <a:xfrm>
              <a:off x="4714875" y="2409825"/>
              <a:ext cx="3952800" cy="1162200"/>
            </a:xfrm>
            <a:prstGeom prst="roundRect">
              <a:avLst>
                <a:gd fmla="val 983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 txBox="1"/>
            <p:nvPr/>
          </p:nvSpPr>
          <p:spPr>
            <a:xfrm>
              <a:off x="4905375" y="2581275"/>
              <a:ext cx="3571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Инкапсуляция — фундамент, без которого всё "течёт"</a:t>
              </a:r>
              <a:endParaRPr b="1" sz="9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Без сокрытия реализации внутреннее состояние торчит наружу и любой может его испортить. Тогда ни наследование, ни полиморфизм не спасают — иерархия строится поверх объектов, которым нельзя доверять.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8" name="Google Shape;398;p30"/>
          <p:cNvGrpSpPr/>
          <p:nvPr/>
        </p:nvGrpSpPr>
        <p:grpSpPr>
          <a:xfrm>
            <a:off x="476250" y="3762375"/>
            <a:ext cx="8191500" cy="904800"/>
            <a:chOff x="476250" y="3762375"/>
            <a:chExt cx="8191500" cy="904800"/>
          </a:xfrm>
        </p:grpSpPr>
        <p:sp>
          <p:nvSpPr>
            <p:cNvPr id="399" name="Google Shape;399;p30"/>
            <p:cNvSpPr/>
            <p:nvPr/>
          </p:nvSpPr>
          <p:spPr>
            <a:xfrm>
              <a:off x="476250" y="3762375"/>
              <a:ext cx="8191500" cy="904800"/>
            </a:xfrm>
            <a:prstGeom prst="roundRect">
              <a:avLst>
                <a:gd fmla="val 12631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 txBox="1"/>
            <p:nvPr/>
          </p:nvSpPr>
          <p:spPr>
            <a:xfrm>
              <a:off x="666750" y="3905250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ИНКАПСУЛЯЦИЯ</a:t>
              </a:r>
              <a:endParaRPr b="0" sz="8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Защита состояния</a:t>
              </a:r>
              <a:endParaRPr b="1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Скрыли реализацию, защитили инварианты состояния</a:t>
              </a:r>
              <a:endParaRPr b="0"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01" name="Google Shape;40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3725" y="4152900"/>
              <a:ext cx="2571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30"/>
            <p:cNvSpPr txBox="1"/>
            <p:nvPr/>
          </p:nvSpPr>
          <p:spPr>
            <a:xfrm>
              <a:off x="3571875" y="3905250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НАСЛЕДОВАНИЕ</a:t>
              </a:r>
              <a:endParaRPr b="0" sz="8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Иерархия объектов</a:t>
              </a:r>
              <a:endParaRPr b="1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Строим иерархии поверх надёжных и стабильных объектов</a:t>
              </a:r>
              <a:endParaRPr b="0"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03" name="Google Shape;403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38850" y="4152900"/>
              <a:ext cx="2571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0"/>
            <p:cNvSpPr txBox="1"/>
            <p:nvPr/>
          </p:nvSpPr>
          <p:spPr>
            <a:xfrm>
              <a:off x="6477000" y="3905250"/>
              <a:ext cx="20001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ПОЛИМОРФИЗМ</a:t>
              </a:r>
              <a:endParaRPr b="0" sz="8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Единый интерфейс</a:t>
              </a:r>
              <a:endParaRPr b="1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Работаем со всей созданной иерархией через единый общий тип</a:t>
              </a:r>
              <a:endParaRPr b="0"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Объекты в памяти Java-процесса</a:t>
            </a:r>
            <a:endParaRPr b="1"/>
          </a:p>
        </p:txBody>
      </p:sp>
      <p:sp>
        <p:nvSpPr>
          <p:cNvPr id="410" name="Google Shape;410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476250" y="333375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Память процесса JVM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7" name="Google Shape;417;p32"/>
          <p:cNvSpPr txBox="1"/>
          <p:nvPr/>
        </p:nvSpPr>
        <p:spPr>
          <a:xfrm>
            <a:off x="476250" y="733425"/>
            <a:ext cx="819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Три области: Heap — данные приложения, Non-Heap — служебные данные и код, Stack — контекст исполнения потоков.</a:t>
            </a:r>
            <a:endParaRPr b="1" sz="950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18" name="Google Shape;418;p32"/>
          <p:cNvGrpSpPr/>
          <p:nvPr/>
        </p:nvGrpSpPr>
        <p:grpSpPr>
          <a:xfrm>
            <a:off x="476250" y="1095375"/>
            <a:ext cx="3952800" cy="1762200"/>
            <a:chOff x="476250" y="1095375"/>
            <a:chExt cx="3952800" cy="1762200"/>
          </a:xfrm>
        </p:grpSpPr>
        <p:sp>
          <p:nvSpPr>
            <p:cNvPr id="419" name="Google Shape;419;p32"/>
            <p:cNvSpPr/>
            <p:nvPr/>
          </p:nvSpPr>
          <p:spPr>
            <a:xfrm>
              <a:off x="476250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666750" y="1762125"/>
              <a:ext cx="3571800" cy="904800"/>
            </a:xfrm>
            <a:prstGeom prst="roundRect">
              <a:avLst>
                <a:gd fmla="val 6315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2"/>
            <p:cNvSpPr txBox="1"/>
            <p:nvPr/>
          </p:nvSpPr>
          <p:spPr>
            <a:xfrm>
              <a:off x="666750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HEAP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Область кучи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2" name="Google Shape;422;p32"/>
            <p:cNvSpPr txBox="1"/>
            <p:nvPr/>
          </p:nvSpPr>
          <p:spPr>
            <a:xfrm>
              <a:off x="781050" y="1857375"/>
              <a:ext cx="3343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rPr>
                <a:t>Объекты и массивы</a:t>
              </a:r>
              <a:endParaRPr b="1" sz="850">
                <a:solidFill>
                  <a:srgbClr val="0716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Динамически выделяемая память для всех объектов приложения. Полностью контролируется и автоматически очищается сборщиком мусора (Garbage Collector).</a:t>
              </a:r>
              <a:endParaRPr b="0" sz="85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3" name="Google Shape;423;p32"/>
          <p:cNvGrpSpPr/>
          <p:nvPr/>
        </p:nvGrpSpPr>
        <p:grpSpPr>
          <a:xfrm>
            <a:off x="4714875" y="1095375"/>
            <a:ext cx="3952800" cy="1762200"/>
            <a:chOff x="4714875" y="1095375"/>
            <a:chExt cx="3952800" cy="1762200"/>
          </a:xfrm>
        </p:grpSpPr>
        <p:sp>
          <p:nvSpPr>
            <p:cNvPr id="424" name="Google Shape;424;p32"/>
            <p:cNvSpPr/>
            <p:nvPr/>
          </p:nvSpPr>
          <p:spPr>
            <a:xfrm>
              <a:off x="4714875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2"/>
            <p:cNvSpPr/>
            <p:nvPr/>
          </p:nvSpPr>
          <p:spPr>
            <a:xfrm>
              <a:off x="4905375" y="1762125"/>
              <a:ext cx="3571800" cy="904800"/>
            </a:xfrm>
            <a:prstGeom prst="roundRect">
              <a:avLst>
                <a:gd fmla="val 6315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2"/>
            <p:cNvSpPr txBox="1"/>
            <p:nvPr/>
          </p:nvSpPr>
          <p:spPr>
            <a:xfrm>
              <a:off x="4905375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NON-HEAP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Внекучевая память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7" name="Google Shape;427;p32"/>
            <p:cNvSpPr txBox="1"/>
            <p:nvPr/>
          </p:nvSpPr>
          <p:spPr>
            <a:xfrm>
              <a:off x="5019675" y="1857375"/>
              <a:ext cx="3343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rPr>
                <a:t>Служебные данные, код и метаданные</a:t>
              </a:r>
              <a:endParaRPr b="1" sz="850">
                <a:solidFill>
                  <a:srgbClr val="0716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Хранит метаданные классов (Metaspace), пул строк, скомпилированный JIT-компилятором код, внутренние структуры JVM и буферы памяти.</a:t>
              </a:r>
              <a:endParaRPr b="0" sz="85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8" name="Google Shape;428;p32"/>
          <p:cNvGrpSpPr/>
          <p:nvPr/>
        </p:nvGrpSpPr>
        <p:grpSpPr>
          <a:xfrm>
            <a:off x="476250" y="3048000"/>
            <a:ext cx="8191500" cy="1666800"/>
            <a:chOff x="476250" y="3048000"/>
            <a:chExt cx="8191500" cy="1666800"/>
          </a:xfrm>
        </p:grpSpPr>
        <p:sp>
          <p:nvSpPr>
            <p:cNvPr id="429" name="Google Shape;429;p32"/>
            <p:cNvSpPr/>
            <p:nvPr/>
          </p:nvSpPr>
          <p:spPr>
            <a:xfrm>
              <a:off x="476250" y="3048000"/>
              <a:ext cx="81915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666750" y="3619500"/>
              <a:ext cx="7810500" cy="904800"/>
            </a:xfrm>
            <a:prstGeom prst="roundRect">
              <a:avLst>
                <a:gd fmla="val 6315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2"/>
            <p:cNvSpPr txBox="1"/>
            <p:nvPr/>
          </p:nvSpPr>
          <p:spPr>
            <a:xfrm>
              <a:off x="666750" y="3190875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STACK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Стек вызовов (по одному на каждый поток)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2" name="Google Shape;432;p32"/>
            <p:cNvSpPr txBox="1"/>
            <p:nvPr/>
          </p:nvSpPr>
          <p:spPr>
            <a:xfrm>
              <a:off x="781050" y="3714750"/>
              <a:ext cx="7581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rPr>
                <a:t>Кадры вызовов, локальные переменные, ссылки</a:t>
              </a:r>
              <a:endParaRPr b="1" sz="850">
                <a:solidFill>
                  <a:srgbClr val="0716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Каждый поток имеет свой стек. При вызове метода создается кадр (frame) для хранения локальных переменных, промежуточных результатов вычислений и ссылок на объекты в Heap.</a:t>
              </a:r>
              <a:endParaRPr b="0" sz="85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3"/>
          <p:cNvSpPr txBox="1"/>
          <p:nvPr/>
        </p:nvSpPr>
        <p:spPr>
          <a:xfrm>
            <a:off x="476250" y="333375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Heap — где живут объекты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9" name="Google Shape;439;p33"/>
          <p:cNvSpPr txBox="1"/>
          <p:nvPr/>
        </p:nvSpPr>
        <p:spPr>
          <a:xfrm>
            <a:off x="476250" y="733425"/>
            <a:ext cx="819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Динамическая память JVM: структура поколений, параметры размеров и управление Garbage Collector</a:t>
            </a:r>
            <a:endParaRPr b="1" sz="1050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0" name="Google Shape;440;p33"/>
          <p:cNvGrpSpPr/>
          <p:nvPr/>
        </p:nvGrpSpPr>
        <p:grpSpPr>
          <a:xfrm>
            <a:off x="476250" y="1095375"/>
            <a:ext cx="3952800" cy="1809600"/>
            <a:chOff x="476250" y="1095375"/>
            <a:chExt cx="3952800" cy="1809600"/>
          </a:xfrm>
        </p:grpSpPr>
        <p:sp>
          <p:nvSpPr>
            <p:cNvPr id="441" name="Google Shape;441;p33"/>
            <p:cNvSpPr/>
            <p:nvPr/>
          </p:nvSpPr>
          <p:spPr>
            <a:xfrm>
              <a:off x="476250" y="1095375"/>
              <a:ext cx="39528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3"/>
            <p:cNvSpPr txBox="1"/>
            <p:nvPr/>
          </p:nvSpPr>
          <p:spPr>
            <a:xfrm>
              <a:off x="666750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ОБЗОР ОБЛАСТИ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Особенности кучи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3" name="Google Shape;443;p33"/>
            <p:cNvSpPr/>
            <p:nvPr/>
          </p:nvSpPr>
          <p:spPr>
            <a:xfrm>
              <a:off x="666750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3"/>
            <p:cNvSpPr txBox="1"/>
            <p:nvPr/>
          </p:nvSpPr>
          <p:spPr>
            <a:xfrm>
              <a:off x="781050" y="1857375"/>
              <a:ext cx="3343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69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Все объекты и массивы</a:t>
              </a:r>
              <a:r>
                <a:rPr b="0" lang="ru" sz="69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приложения создаются и размещаются исключительно в этой области памяти.</a:t>
              </a:r>
              <a:endParaRPr b="0" sz="698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69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Единственная область</a:t>
              </a:r>
              <a:r>
                <a:rPr b="0" lang="ru" sz="69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под прямым управлением GC, традиционно занимающая наибольший объем.</a:t>
              </a:r>
              <a:endParaRPr b="0" sz="698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69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Тюнинг размера:</a:t>
              </a:r>
              <a:r>
                <a:rPr b="0" lang="ru" sz="69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задается через флаги </a:t>
              </a:r>
              <a:r>
                <a:rPr b="1" lang="ru" sz="698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-Xms</a:t>
              </a:r>
              <a:r>
                <a:rPr b="0" lang="ru" sz="69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(начальный) и </a:t>
              </a:r>
              <a:r>
                <a:rPr b="1" lang="ru" sz="698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-Xmx</a:t>
              </a:r>
              <a:r>
                <a:rPr b="0" lang="ru" sz="69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(максимальный).</a:t>
              </a:r>
              <a:endParaRPr b="0" sz="698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5" name="Google Shape;445;p33"/>
          <p:cNvGrpSpPr/>
          <p:nvPr/>
        </p:nvGrpSpPr>
        <p:grpSpPr>
          <a:xfrm>
            <a:off x="4714875" y="1095375"/>
            <a:ext cx="3952800" cy="1809600"/>
            <a:chOff x="4714875" y="1095375"/>
            <a:chExt cx="3952800" cy="1809600"/>
          </a:xfrm>
        </p:grpSpPr>
        <p:sp>
          <p:nvSpPr>
            <p:cNvPr id="446" name="Google Shape;446;p33"/>
            <p:cNvSpPr/>
            <p:nvPr/>
          </p:nvSpPr>
          <p:spPr>
            <a:xfrm>
              <a:off x="4714875" y="1095375"/>
              <a:ext cx="39528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3"/>
            <p:cNvSpPr txBox="1"/>
            <p:nvPr/>
          </p:nvSpPr>
          <p:spPr>
            <a:xfrm>
              <a:off x="4905375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ЖИЗНЕННЫЙ ЦИКЛ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Гипотеза о слабой связи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8" name="Google Shape;448;p33"/>
            <p:cNvSpPr/>
            <p:nvPr/>
          </p:nvSpPr>
          <p:spPr>
            <a:xfrm>
              <a:off x="4905375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3"/>
            <p:cNvSpPr txBox="1"/>
            <p:nvPr/>
          </p:nvSpPr>
          <p:spPr>
            <a:xfrm>
              <a:off x="5019675" y="1857375"/>
              <a:ext cx="3343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69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Большинство объектов живут недолго</a:t>
              </a:r>
              <a:r>
                <a:rPr b="0" lang="ru" sz="69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и гарантированно удаляются в рамках Young Generation во время быстрых сборщиков мусора.</a:t>
              </a:r>
              <a:endParaRPr b="0" sz="698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69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Пережившие несколько сборок</a:t>
              </a:r>
              <a:r>
                <a:rPr b="0" lang="ru" sz="69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(достигшие порога возраста/tenuring threshold) объекты постепенно переходят в долгоживущую область </a:t>
              </a:r>
              <a:r>
                <a:rPr b="1" lang="ru" sz="69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Old Generation</a:t>
              </a:r>
              <a:r>
                <a:rPr b="0" lang="ru" sz="69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698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0" name="Google Shape;450;p33"/>
          <p:cNvGrpSpPr/>
          <p:nvPr/>
        </p:nvGrpSpPr>
        <p:grpSpPr>
          <a:xfrm>
            <a:off x="476250" y="3048000"/>
            <a:ext cx="8191500" cy="1762200"/>
            <a:chOff x="476250" y="3048000"/>
            <a:chExt cx="8191500" cy="1762200"/>
          </a:xfrm>
        </p:grpSpPr>
        <p:sp>
          <p:nvSpPr>
            <p:cNvPr id="451" name="Google Shape;451;p33"/>
            <p:cNvSpPr/>
            <p:nvPr/>
          </p:nvSpPr>
          <p:spPr>
            <a:xfrm>
              <a:off x="476250" y="3048000"/>
              <a:ext cx="81915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3"/>
            <p:cNvSpPr txBox="1"/>
            <p:nvPr/>
          </p:nvSpPr>
          <p:spPr>
            <a:xfrm>
              <a:off x="666750" y="32385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СТРУКТУРА ПОКОЛЕНИЙ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Анатомия Heap в памяти процесса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53" name="Google Shape;453;p33"/>
            <p:cNvGrpSpPr/>
            <p:nvPr/>
          </p:nvGrpSpPr>
          <p:grpSpPr>
            <a:xfrm>
              <a:off x="666750" y="3667125"/>
              <a:ext cx="3762300" cy="952500"/>
              <a:chOff x="666750" y="3667125"/>
              <a:chExt cx="3762300" cy="952500"/>
            </a:xfrm>
          </p:grpSpPr>
          <p:sp>
            <p:nvSpPr>
              <p:cNvPr id="454" name="Google Shape;454;p33"/>
              <p:cNvSpPr/>
              <p:nvPr/>
            </p:nvSpPr>
            <p:spPr>
              <a:xfrm>
                <a:off x="666750" y="3667125"/>
                <a:ext cx="37623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33"/>
              <p:cNvSpPr/>
              <p:nvPr/>
            </p:nvSpPr>
            <p:spPr>
              <a:xfrm>
                <a:off x="781050" y="3762375"/>
                <a:ext cx="1285800" cy="171600"/>
              </a:xfrm>
              <a:prstGeom prst="roundRect">
                <a:avLst>
                  <a:gd fmla="val 22222" name="adj"/>
                </a:avLst>
              </a:prstGeom>
              <a:solidFill>
                <a:srgbClr val="E5E4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33"/>
              <p:cNvSpPr txBox="1"/>
              <p:nvPr/>
            </p:nvSpPr>
            <p:spPr>
              <a:xfrm>
                <a:off x="781050" y="3762375"/>
                <a:ext cx="1285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80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Young Generation</a:t>
                </a:r>
                <a:endParaRPr b="1" sz="80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7" name="Google Shape;457;p33"/>
              <p:cNvSpPr txBox="1"/>
              <p:nvPr/>
            </p:nvSpPr>
            <p:spPr>
              <a:xfrm>
                <a:off x="781050" y="4000500"/>
                <a:ext cx="35337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85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├─ Eden (здесь возникают новые объекты)</a:t>
                </a:r>
                <a:endParaRPr b="1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ru" sz="85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├─ Survivor 0 (выжившие при сборках)</a:t>
                </a:r>
                <a:endParaRPr b="1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ru" sz="85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└─ Survivor 1 (резервный буфер копирования)</a:t>
                </a:r>
                <a:endParaRPr b="1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</p:txBody>
          </p:sp>
        </p:grpSp>
        <p:grpSp>
          <p:nvGrpSpPr>
            <p:cNvPr id="458" name="Google Shape;458;p33"/>
            <p:cNvGrpSpPr/>
            <p:nvPr/>
          </p:nvGrpSpPr>
          <p:grpSpPr>
            <a:xfrm>
              <a:off x="4572000" y="3667125"/>
              <a:ext cx="3905400" cy="952500"/>
              <a:chOff x="4572000" y="3667125"/>
              <a:chExt cx="3905400" cy="952500"/>
            </a:xfrm>
          </p:grpSpPr>
          <p:sp>
            <p:nvSpPr>
              <p:cNvPr id="459" name="Google Shape;459;p33"/>
              <p:cNvSpPr/>
              <p:nvPr/>
            </p:nvSpPr>
            <p:spPr>
              <a:xfrm>
                <a:off x="4572000" y="3667125"/>
                <a:ext cx="39054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33"/>
              <p:cNvSpPr/>
              <p:nvPr/>
            </p:nvSpPr>
            <p:spPr>
              <a:xfrm>
                <a:off x="4686300" y="3762375"/>
                <a:ext cx="1143000" cy="171600"/>
              </a:xfrm>
              <a:prstGeom prst="roundRect">
                <a:avLst>
                  <a:gd fmla="val 22222" name="adj"/>
                </a:avLst>
              </a:prstGeom>
              <a:solidFill>
                <a:srgbClr val="E5E4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33"/>
              <p:cNvSpPr txBox="1"/>
              <p:nvPr/>
            </p:nvSpPr>
            <p:spPr>
              <a:xfrm>
                <a:off x="4686300" y="3762375"/>
                <a:ext cx="1143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80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Old Generation</a:t>
                </a:r>
                <a:endParaRPr b="1" sz="80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2" name="Google Shape;462;p33"/>
              <p:cNvSpPr txBox="1"/>
              <p:nvPr/>
            </p:nvSpPr>
            <p:spPr>
              <a:xfrm>
                <a:off x="4686300" y="4000500"/>
                <a:ext cx="3676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85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└─ Долгоживущие объекты</a:t>
                </a:r>
                <a:endParaRPr b="1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85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Сюда продвигаются объекты, которые пережили заданное количество циклов сборки мусора в Young Generation.</a:t>
                </a:r>
                <a:endParaRPr b="0" sz="8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476250" y="333375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Сборка мусора в JVM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9" name="Google Shape;469;p34"/>
          <p:cNvSpPr txBox="1"/>
          <p:nvPr/>
        </p:nvSpPr>
        <p:spPr>
          <a:xfrm>
            <a:off x="476250" y="733425"/>
            <a:ext cx="819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Автоматическое управление памятью: жизненный цикл, базовый алгоритм и обзор сборщиков HotSpot</a:t>
            </a:r>
            <a:endParaRPr b="1" sz="1050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70" name="Google Shape;470;p34"/>
          <p:cNvGrpSpPr/>
          <p:nvPr/>
        </p:nvGrpSpPr>
        <p:grpSpPr>
          <a:xfrm>
            <a:off x="476250" y="1095375"/>
            <a:ext cx="3952800" cy="1762200"/>
            <a:chOff x="476250" y="1095375"/>
            <a:chExt cx="3952800" cy="1762200"/>
          </a:xfrm>
        </p:grpSpPr>
        <p:sp>
          <p:nvSpPr>
            <p:cNvPr id="471" name="Google Shape;471;p34"/>
            <p:cNvSpPr/>
            <p:nvPr/>
          </p:nvSpPr>
          <p:spPr>
            <a:xfrm>
              <a:off x="476250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4"/>
            <p:cNvSpPr txBox="1"/>
            <p:nvPr/>
          </p:nvSpPr>
          <p:spPr>
            <a:xfrm>
              <a:off x="666750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КЛАССИЧЕСКИЙ АЛГОРИТМ</a:t>
              </a:r>
              <a:endParaRPr b="0" sz="85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Три фазы очистки памяти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666750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4"/>
            <p:cNvSpPr txBox="1"/>
            <p:nvPr/>
          </p:nvSpPr>
          <p:spPr>
            <a:xfrm>
              <a:off x="781050" y="1857375"/>
              <a:ext cx="3343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Mark → Sweep → Compact</a:t>
              </a:r>
              <a:endParaRPr b="1" sz="8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68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Mark (Пометка):</a:t>
              </a:r>
              <a:r>
                <a:rPr b="0" lang="ru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сканирование от корней (стеки потоков, статические поля) для определения живых объектов. Группы взаимно ссылающихся, но недостижимых объектов — это мусор.</a:t>
              </a:r>
              <a:endParaRPr b="0" sz="68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68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Sweep &amp; Compact:</a:t>
              </a:r>
              <a:r>
                <a:rPr b="0" lang="ru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удаление мертвых объектов и уплотнение оставшихся для устранения фрагментации кучи.</a:t>
              </a:r>
              <a:endParaRPr b="0" sz="68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5" name="Google Shape;475;p34"/>
          <p:cNvGrpSpPr/>
          <p:nvPr/>
        </p:nvGrpSpPr>
        <p:grpSpPr>
          <a:xfrm>
            <a:off x="4714875" y="1095375"/>
            <a:ext cx="3952800" cy="1762200"/>
            <a:chOff x="4714875" y="1095375"/>
            <a:chExt cx="3952800" cy="1762200"/>
          </a:xfrm>
        </p:grpSpPr>
        <p:sp>
          <p:nvSpPr>
            <p:cNvPr id="476" name="Google Shape;476;p34"/>
            <p:cNvSpPr/>
            <p:nvPr/>
          </p:nvSpPr>
          <p:spPr>
            <a:xfrm>
              <a:off x="4714875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4"/>
            <p:cNvSpPr txBox="1"/>
            <p:nvPr/>
          </p:nvSpPr>
          <p:spPr>
            <a:xfrm>
              <a:off x="4905375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СТОИМОСТЬ И КОМПРОМИССЫ</a:t>
              </a:r>
              <a:endParaRPr b="0" sz="85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Проблема Stop-The-World (STW)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4905375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4"/>
            <p:cNvSpPr txBox="1"/>
            <p:nvPr/>
          </p:nvSpPr>
          <p:spPr>
            <a:xfrm>
              <a:off x="5019675" y="1857375"/>
              <a:ext cx="3343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68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Сборка мусора неизбежно расходует ресурсы CPU</a:t>
              </a:r>
              <a:r>
                <a:rPr b="0" lang="ru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и требует периодических пауз для безопасного изменения адресов объектов в памяти.</a:t>
              </a:r>
              <a:endParaRPr b="0" sz="68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68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Баланс GC:</a:t>
              </a:r>
              <a:r>
                <a:rPr b="0" lang="ru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невозможно одновременно оптимизировать минимальное время пауз (latency), максимальную пропускную способность (throughput) и потребление памяти. Разработчик всегда выбирает компромисс.</a:t>
              </a:r>
              <a:endParaRPr b="0" sz="68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0" name="Google Shape;480;p34"/>
          <p:cNvGrpSpPr/>
          <p:nvPr/>
        </p:nvGrpSpPr>
        <p:grpSpPr>
          <a:xfrm>
            <a:off x="476250" y="3000375"/>
            <a:ext cx="8191500" cy="1809600"/>
            <a:chOff x="476250" y="3000375"/>
            <a:chExt cx="8191500" cy="1809600"/>
          </a:xfrm>
        </p:grpSpPr>
        <p:sp>
          <p:nvSpPr>
            <p:cNvPr id="481" name="Google Shape;481;p34"/>
            <p:cNvSpPr/>
            <p:nvPr/>
          </p:nvSpPr>
          <p:spPr>
            <a:xfrm>
              <a:off x="476250" y="3000375"/>
              <a:ext cx="81915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4"/>
            <p:cNvSpPr txBox="1"/>
            <p:nvPr/>
          </p:nvSpPr>
          <p:spPr>
            <a:xfrm>
              <a:off x="666750" y="3143250"/>
              <a:ext cx="781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СБОРЩИКИ HOTSPOT JVM</a:t>
              </a:r>
              <a:endParaRPr b="0" sz="85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Ключевые реализации под разные сценарии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83" name="Google Shape;483;p34"/>
            <p:cNvGrpSpPr/>
            <p:nvPr/>
          </p:nvGrpSpPr>
          <p:grpSpPr>
            <a:xfrm>
              <a:off x="666750" y="3571875"/>
              <a:ext cx="1409700" cy="1047900"/>
              <a:chOff x="666750" y="3571875"/>
              <a:chExt cx="1409700" cy="1047900"/>
            </a:xfrm>
          </p:grpSpPr>
          <p:sp>
            <p:nvSpPr>
              <p:cNvPr id="484" name="Google Shape;484;p34"/>
              <p:cNvSpPr/>
              <p:nvPr/>
            </p:nvSpPr>
            <p:spPr>
              <a:xfrm>
                <a:off x="666750" y="3571875"/>
                <a:ext cx="14097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85" name="Google Shape;485;p3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1050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6" name="Google Shape;486;p34"/>
              <p:cNvSpPr txBox="1"/>
              <p:nvPr/>
            </p:nvSpPr>
            <p:spPr>
              <a:xfrm>
                <a:off x="781050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Serial GC</a:t>
                </a:r>
                <a:endParaRPr b="1" sz="68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34"/>
              <p:cNvSpPr txBox="1"/>
              <p:nvPr/>
            </p:nvSpPr>
            <p:spPr>
              <a:xfrm>
                <a:off x="781050" y="3905250"/>
                <a:ext cx="11811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Однопоточный.</a:t>
                </a:r>
                <a:r>
                  <a:rPr b="0" lang="ru" sz="680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Для малых приложений и сред с жестко ограниченными ресурсами CPU.</a:t>
                </a:r>
                <a:endParaRPr b="0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8" name="Google Shape;488;p34"/>
            <p:cNvGrpSpPr/>
            <p:nvPr/>
          </p:nvGrpSpPr>
          <p:grpSpPr>
            <a:xfrm>
              <a:off x="2219325" y="3571875"/>
              <a:ext cx="1409700" cy="1047900"/>
              <a:chOff x="2219325" y="3571875"/>
              <a:chExt cx="1409700" cy="1047900"/>
            </a:xfrm>
          </p:grpSpPr>
          <p:sp>
            <p:nvSpPr>
              <p:cNvPr id="489" name="Google Shape;489;p34"/>
              <p:cNvSpPr/>
              <p:nvPr/>
            </p:nvSpPr>
            <p:spPr>
              <a:xfrm>
                <a:off x="2219325" y="3571875"/>
                <a:ext cx="14097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90" name="Google Shape;490;p3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33625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1" name="Google Shape;491;p34"/>
              <p:cNvSpPr txBox="1"/>
              <p:nvPr/>
            </p:nvSpPr>
            <p:spPr>
              <a:xfrm>
                <a:off x="2333625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Parallel GC</a:t>
                </a:r>
                <a:endParaRPr b="1" sz="68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2" name="Google Shape;492;p34"/>
              <p:cNvSpPr txBox="1"/>
              <p:nvPr/>
            </p:nvSpPr>
            <p:spPr>
              <a:xfrm>
                <a:off x="2333625" y="3905250"/>
                <a:ext cx="11811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Максимальный throughput.</a:t>
                </a:r>
                <a:r>
                  <a:rPr b="0" lang="ru" sz="680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Многопоточная сборка для фоновой пакетной обработки данных.</a:t>
                </a:r>
                <a:endParaRPr b="0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3" name="Google Shape;493;p34"/>
            <p:cNvGrpSpPr/>
            <p:nvPr/>
          </p:nvGrpSpPr>
          <p:grpSpPr>
            <a:xfrm>
              <a:off x="3771900" y="3571875"/>
              <a:ext cx="1409700" cy="1047900"/>
              <a:chOff x="3771900" y="3571875"/>
              <a:chExt cx="1409700" cy="1047900"/>
            </a:xfrm>
          </p:grpSpPr>
          <p:sp>
            <p:nvSpPr>
              <p:cNvPr id="494" name="Google Shape;494;p34"/>
              <p:cNvSpPr/>
              <p:nvPr/>
            </p:nvSpPr>
            <p:spPr>
              <a:xfrm>
                <a:off x="3771900" y="3571875"/>
                <a:ext cx="14097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95" name="Google Shape;495;p3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886200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6" name="Google Shape;496;p34"/>
              <p:cNvSpPr txBox="1"/>
              <p:nvPr/>
            </p:nvSpPr>
            <p:spPr>
              <a:xfrm>
                <a:off x="3886200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G1 GC</a:t>
                </a:r>
                <a:endParaRPr b="1" sz="68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34"/>
              <p:cNvSpPr txBox="1"/>
              <p:nvPr/>
            </p:nvSpPr>
            <p:spPr>
              <a:xfrm>
                <a:off x="3886200" y="3905250"/>
                <a:ext cx="11811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Баланс по умолчанию.</a:t>
                </a:r>
                <a:r>
                  <a:rPr b="0" lang="ru" sz="680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Компромисс между паузами и пропускной способностью на больших кучах.</a:t>
                </a:r>
                <a:endParaRPr b="0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8" name="Google Shape;498;p34"/>
            <p:cNvGrpSpPr/>
            <p:nvPr/>
          </p:nvGrpSpPr>
          <p:grpSpPr>
            <a:xfrm>
              <a:off x="5324475" y="3571875"/>
              <a:ext cx="1409700" cy="1047900"/>
              <a:chOff x="5324475" y="3571875"/>
              <a:chExt cx="1409700" cy="1047900"/>
            </a:xfrm>
          </p:grpSpPr>
          <p:sp>
            <p:nvSpPr>
              <p:cNvPr id="499" name="Google Shape;499;p34"/>
              <p:cNvSpPr/>
              <p:nvPr/>
            </p:nvSpPr>
            <p:spPr>
              <a:xfrm>
                <a:off x="5324475" y="3571875"/>
                <a:ext cx="14097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00" name="Google Shape;500;p3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38775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1" name="Google Shape;501;p34"/>
              <p:cNvSpPr txBox="1"/>
              <p:nvPr/>
            </p:nvSpPr>
            <p:spPr>
              <a:xfrm>
                <a:off x="5438775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ZGC / Shenandoah</a:t>
                </a:r>
                <a:endParaRPr b="1" sz="68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34"/>
              <p:cNvSpPr txBox="1"/>
              <p:nvPr/>
            </p:nvSpPr>
            <p:spPr>
              <a:xfrm>
                <a:off x="5438775" y="3905250"/>
                <a:ext cx="11811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Ультранизкие паузы.</a:t>
                </a:r>
                <a:r>
                  <a:rPr b="0" lang="ru" sz="680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Субмиллисекундный STW независимо от объема памяти.</a:t>
                </a:r>
                <a:endParaRPr b="0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03" name="Google Shape;503;p34"/>
            <p:cNvGrpSpPr/>
            <p:nvPr/>
          </p:nvGrpSpPr>
          <p:grpSpPr>
            <a:xfrm>
              <a:off x="6877050" y="3571875"/>
              <a:ext cx="1409700" cy="1047900"/>
              <a:chOff x="6877050" y="3571875"/>
              <a:chExt cx="1409700" cy="1047900"/>
            </a:xfrm>
          </p:grpSpPr>
          <p:sp>
            <p:nvSpPr>
              <p:cNvPr id="504" name="Google Shape;504;p34"/>
              <p:cNvSpPr/>
              <p:nvPr/>
            </p:nvSpPr>
            <p:spPr>
              <a:xfrm>
                <a:off x="6877050" y="3571875"/>
                <a:ext cx="14097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05" name="Google Shape;505;p3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991350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6" name="Google Shape;506;p34"/>
              <p:cNvSpPr txBox="1"/>
              <p:nvPr/>
            </p:nvSpPr>
            <p:spPr>
              <a:xfrm>
                <a:off x="6991350" y="3667125"/>
                <a:ext cx="1181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Epsilon GC</a:t>
                </a:r>
                <a:endParaRPr b="1" sz="68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p34"/>
              <p:cNvSpPr txBox="1"/>
              <p:nvPr/>
            </p:nvSpPr>
            <p:spPr>
              <a:xfrm>
                <a:off x="6991350" y="3905250"/>
                <a:ext cx="11811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8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No-Op сборщик.</a:t>
                </a:r>
                <a:r>
                  <a:rPr b="0" lang="ru" sz="680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Вообще не освобождает память. Для тестов производительности.</a:t>
                </a:r>
                <a:endParaRPr b="0" sz="68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3" name="Google Shape;513;p35"/>
          <p:cNvGrpSpPr/>
          <p:nvPr/>
        </p:nvGrpSpPr>
        <p:grpSpPr>
          <a:xfrm>
            <a:off x="476250" y="333375"/>
            <a:ext cx="8191500" cy="628650"/>
            <a:chOff x="476250" y="333375"/>
            <a:chExt cx="8191500" cy="628650"/>
          </a:xfrm>
        </p:grpSpPr>
        <p:sp>
          <p:nvSpPr>
            <p:cNvPr id="514" name="Google Shape;514;p35"/>
            <p:cNvSpPr txBox="1"/>
            <p:nvPr/>
          </p:nvSpPr>
          <p:spPr>
            <a:xfrm>
              <a:off x="476250" y="333375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2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Non-Heap — служебные данные и код</a:t>
              </a:r>
              <a:endParaRPr b="0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15" name="Google Shape;515;p35"/>
            <p:cNvSpPr txBox="1"/>
            <p:nvPr/>
          </p:nvSpPr>
          <p:spPr>
            <a:xfrm>
              <a:off x="476250" y="733425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50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rPr>
                <a:t>Внутренняя память JVM: выполнение кода, структуры метаданных и работа вне кучи</a:t>
              </a:r>
              <a:endParaRPr b="1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6" name="Google Shape;516;p35"/>
          <p:cNvGrpSpPr/>
          <p:nvPr/>
        </p:nvGrpSpPr>
        <p:grpSpPr>
          <a:xfrm>
            <a:off x="476250" y="1095375"/>
            <a:ext cx="3952800" cy="1762200"/>
            <a:chOff x="476250" y="1095375"/>
            <a:chExt cx="3952800" cy="1762200"/>
          </a:xfrm>
        </p:grpSpPr>
        <p:sp>
          <p:nvSpPr>
            <p:cNvPr id="517" name="Google Shape;517;p35"/>
            <p:cNvSpPr/>
            <p:nvPr/>
          </p:nvSpPr>
          <p:spPr>
            <a:xfrm>
              <a:off x="476250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5"/>
            <p:cNvSpPr txBox="1"/>
            <p:nvPr/>
          </p:nvSpPr>
          <p:spPr>
            <a:xfrm>
              <a:off x="666750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МЕТАДАННЫЕ И КОД</a:t>
              </a:r>
              <a:endParaRPr b="0" sz="85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Metaspace и Code Cache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666750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5"/>
            <p:cNvSpPr txBox="1"/>
            <p:nvPr/>
          </p:nvSpPr>
          <p:spPr>
            <a:xfrm>
              <a:off x="781050" y="1857375"/>
              <a:ext cx="3343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52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Metaspace:</a:t>
              </a:r>
              <a:r>
                <a:rPr lang="ru" sz="1085"/>
                <a:t> </a:t>
              </a:r>
              <a:r>
                <a:rPr b="0" lang="ru" sz="52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метаданные классов, байт-код, статические поля, пул строк. Хранится в нативной памяти, растёт по мере загрузки новых классов.</a:t>
              </a:r>
              <a:endParaRPr sz="1085"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52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Code Cache:</a:t>
              </a:r>
              <a:r>
                <a:rPr lang="ru" sz="1085"/>
                <a:t> </a:t>
              </a:r>
              <a:r>
                <a:rPr b="0" lang="ru" sz="52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область для хранения машинного кода, скомпилированного JIT. Именно поэтому «горячий» код со временем выполняется быстрее.</a:t>
              </a:r>
              <a:endParaRPr sz="1085"/>
            </a:p>
          </p:txBody>
        </p:sp>
      </p:grpSp>
      <p:grpSp>
        <p:nvGrpSpPr>
          <p:cNvPr id="521" name="Google Shape;521;p35"/>
          <p:cNvGrpSpPr/>
          <p:nvPr/>
        </p:nvGrpSpPr>
        <p:grpSpPr>
          <a:xfrm>
            <a:off x="4714875" y="1095375"/>
            <a:ext cx="3952800" cy="1762200"/>
            <a:chOff x="4714875" y="1095375"/>
            <a:chExt cx="3952800" cy="1762200"/>
          </a:xfrm>
        </p:grpSpPr>
        <p:sp>
          <p:nvSpPr>
            <p:cNvPr id="522" name="Google Shape;522;p35"/>
            <p:cNvSpPr/>
            <p:nvPr/>
          </p:nvSpPr>
          <p:spPr>
            <a:xfrm>
              <a:off x="4714875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5"/>
            <p:cNvSpPr txBox="1"/>
            <p:nvPr/>
          </p:nvSpPr>
          <p:spPr>
            <a:xfrm>
              <a:off x="4905375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СИСТЕМНЫЕ СТРУКТУРЫ</a:t>
              </a:r>
              <a:endParaRPr b="0" sz="85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Служебные области JVM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4905375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5"/>
            <p:cNvSpPr txBox="1"/>
            <p:nvPr/>
          </p:nvSpPr>
          <p:spPr>
            <a:xfrm>
              <a:off x="5019675" y="1857375"/>
              <a:ext cx="3343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52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Стек потоков (Thread stacks):</a:t>
              </a:r>
              <a:r>
                <a:rPr lang="ru" sz="1085"/>
                <a:t> </a:t>
              </a:r>
              <a:r>
                <a:rPr b="0" lang="ru" sz="52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каждый поток имеет собственный стек для кадров вызовов и локальных переменных, выделяемый за пределами кучи.</a:t>
              </a:r>
              <a:endParaRPr sz="1085"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52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Служебные таблицы:</a:t>
              </a:r>
              <a:r>
                <a:rPr lang="ru" sz="1085"/>
                <a:t> </a:t>
              </a:r>
              <a:r>
                <a:rPr b="0" lang="ru" sz="52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таблицы системных имён, внутренние метаданные и внутренние структуры самого сборщика мусора (GC), не требующие ручной настройки.</a:t>
              </a:r>
              <a:endParaRPr sz="1085"/>
            </a:p>
          </p:txBody>
        </p:sp>
      </p:grpSp>
      <p:grpSp>
        <p:nvGrpSpPr>
          <p:cNvPr id="526" name="Google Shape;526;p35"/>
          <p:cNvGrpSpPr/>
          <p:nvPr/>
        </p:nvGrpSpPr>
        <p:grpSpPr>
          <a:xfrm>
            <a:off x="476250" y="3000375"/>
            <a:ext cx="8191500" cy="1809600"/>
            <a:chOff x="476250" y="3000375"/>
            <a:chExt cx="8191500" cy="1809600"/>
          </a:xfrm>
        </p:grpSpPr>
        <p:sp>
          <p:nvSpPr>
            <p:cNvPr id="527" name="Google Shape;527;p35"/>
            <p:cNvSpPr/>
            <p:nvPr/>
          </p:nvSpPr>
          <p:spPr>
            <a:xfrm>
              <a:off x="476250" y="3000375"/>
              <a:ext cx="8191500" cy="1809600"/>
            </a:xfrm>
            <a:prstGeom prst="roundRect">
              <a:avLst>
                <a:gd fmla="val 631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5"/>
            <p:cNvSpPr txBox="1"/>
            <p:nvPr/>
          </p:nvSpPr>
          <p:spPr>
            <a:xfrm>
              <a:off x="666750" y="3143250"/>
              <a:ext cx="781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5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ВНЕКУЧЕВАЯ ПАМЯТЬ</a:t>
              </a:r>
              <a:endParaRPr b="0" sz="85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Off-heap и Direct I/O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666750" y="3571875"/>
              <a:ext cx="7810500" cy="1047900"/>
            </a:xfrm>
            <a:prstGeom prst="roundRect">
              <a:avLst>
                <a:gd fmla="val 5453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5"/>
            <p:cNvSpPr txBox="1"/>
            <p:nvPr/>
          </p:nvSpPr>
          <p:spPr>
            <a:xfrm>
              <a:off x="781050" y="3667125"/>
              <a:ext cx="7581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62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ByteBuffer.allocateDirect()</a:t>
              </a:r>
              <a:endParaRPr b="1" sz="62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52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Выделение памяти мимо JVM:</a:t>
              </a:r>
              <a:r>
                <a:rPr lang="ru" sz="1085"/>
                <a:t> </a:t>
              </a:r>
              <a:r>
                <a:rPr b="0" lang="ru" sz="52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данный механизм позволяет аллоцировать физическую память напрямую у операционной системы. Эта область не управляется Garbage Collector и её размер не лимитируется стандартным флагом</a:t>
              </a:r>
              <a:r>
                <a:rPr lang="ru" sz="1085"/>
                <a:t> </a:t>
              </a:r>
              <a:r>
                <a:rPr b="1" lang="ru" sz="62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-Xmx</a:t>
              </a:r>
              <a:r>
                <a:rPr b="0" lang="ru" sz="52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85"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52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Область применения:</a:t>
              </a:r>
              <a:r>
                <a:rPr lang="ru" sz="1085"/>
                <a:t> </a:t>
              </a:r>
              <a:r>
                <a:rPr b="0" lang="ru" sz="527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используется для кратного повышения эффективности операций ввода-вывода (I/O) за счёт исключения лишнего копирования данных между буферами. Подробный разбор — на профильных семинарах по I/O.</a:t>
              </a:r>
              <a:endParaRPr sz="1085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36"/>
          <p:cNvGrpSpPr/>
          <p:nvPr/>
        </p:nvGrpSpPr>
        <p:grpSpPr>
          <a:xfrm>
            <a:off x="476250" y="333375"/>
            <a:ext cx="8191500" cy="628650"/>
            <a:chOff x="476250" y="333375"/>
            <a:chExt cx="8191500" cy="628650"/>
          </a:xfrm>
        </p:grpSpPr>
        <p:sp>
          <p:nvSpPr>
            <p:cNvPr id="537" name="Google Shape;537;p36"/>
            <p:cNvSpPr txBox="1"/>
            <p:nvPr/>
          </p:nvSpPr>
          <p:spPr>
            <a:xfrm>
              <a:off x="476250" y="333375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ru" sz="2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Stack — контекст исполнения потоков</a:t>
              </a:r>
              <a:endParaRPr b="0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38" name="Google Shape;538;p36"/>
            <p:cNvSpPr txBox="1"/>
            <p:nvPr/>
          </p:nvSpPr>
          <p:spPr>
            <a:xfrm>
              <a:off x="476250" y="733425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ru" sz="1050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rPr>
                <a:t>Устройство стека вызовов JVM, структура кадра и ограничения размера памяти</a:t>
              </a:r>
              <a:endParaRPr b="1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9" name="Google Shape;539;p36"/>
          <p:cNvGrpSpPr/>
          <p:nvPr/>
        </p:nvGrpSpPr>
        <p:grpSpPr>
          <a:xfrm>
            <a:off x="476250" y="1095375"/>
            <a:ext cx="3952800" cy="1762200"/>
            <a:chOff x="476250" y="1095375"/>
            <a:chExt cx="3952800" cy="1762200"/>
          </a:xfrm>
        </p:grpSpPr>
        <p:sp>
          <p:nvSpPr>
            <p:cNvPr id="540" name="Google Shape;540;p36"/>
            <p:cNvSpPr/>
            <p:nvPr/>
          </p:nvSpPr>
          <p:spPr>
            <a:xfrm>
              <a:off x="476250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6"/>
            <p:cNvSpPr txBox="1"/>
            <p:nvPr/>
          </p:nvSpPr>
          <p:spPr>
            <a:xfrm>
              <a:off x="666750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86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АНАТОМИЯ СТЕКА</a:t>
              </a:r>
              <a:endParaRPr b="0" sz="786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ru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Потоки и кадры вызовов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666750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6"/>
            <p:cNvSpPr txBox="1"/>
            <p:nvPr/>
          </p:nvSpPr>
          <p:spPr>
            <a:xfrm>
              <a:off x="781050" y="1857375"/>
              <a:ext cx="3343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6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Отдельный для каждого потока:</a:t>
              </a:r>
              <a:r>
                <a:rPr b="0" lang="ru" sz="76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область памяти выделяется индивидуально под каждый поток выполнения за пределами кучи (Heap).</a:t>
              </a:r>
              <a:endParaRPr b="0" sz="76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ru" sz="76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Кадры вызовов (Frames):</a:t>
              </a:r>
              <a:r>
                <a:rPr b="0" lang="ru" sz="76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содержат локальные переменные, промежуточные результаты вычислений и адрес возврата для текущего метода.</a:t>
              </a:r>
              <a:endParaRPr b="0" sz="76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4" name="Google Shape;544;p36"/>
          <p:cNvGrpSpPr/>
          <p:nvPr/>
        </p:nvGrpSpPr>
        <p:grpSpPr>
          <a:xfrm>
            <a:off x="4714875" y="1095375"/>
            <a:ext cx="3952800" cy="1762200"/>
            <a:chOff x="4714875" y="1095375"/>
            <a:chExt cx="3952800" cy="1762200"/>
          </a:xfrm>
        </p:grpSpPr>
        <p:sp>
          <p:nvSpPr>
            <p:cNvPr id="545" name="Google Shape;545;p36"/>
            <p:cNvSpPr/>
            <p:nvPr/>
          </p:nvSpPr>
          <p:spPr>
            <a:xfrm>
              <a:off x="4714875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6"/>
            <p:cNvSpPr txBox="1"/>
            <p:nvPr/>
          </p:nvSpPr>
          <p:spPr>
            <a:xfrm>
              <a:off x="4905375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86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ЖИЗНЕННЫЙ ЦИКЛ КАДРА</a:t>
              </a:r>
              <a:endParaRPr b="0" sz="786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ru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Динамика при вызовах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4905375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6"/>
            <p:cNvSpPr txBox="1"/>
            <p:nvPr/>
          </p:nvSpPr>
          <p:spPr>
            <a:xfrm>
              <a:off x="5019675" y="1857375"/>
              <a:ext cx="3343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6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Добавление (Push):</a:t>
              </a:r>
              <a:r>
                <a:rPr b="0" lang="ru" sz="76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новый кадр автоматически создается и помещается на вершину стека при каждом вызове метода.</a:t>
              </a:r>
              <a:endParaRPr b="0" sz="76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ru" sz="76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Удаление (Pop):</a:t>
              </a:r>
              <a:r>
                <a:rPr b="0" lang="ru" sz="76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кадр уничтожается и память освобождается сразу при завершении работы метода (обычный возврат или исключение).</a:t>
              </a:r>
              <a:endParaRPr b="0" sz="76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9" name="Google Shape;549;p36"/>
          <p:cNvGrpSpPr/>
          <p:nvPr/>
        </p:nvGrpSpPr>
        <p:grpSpPr>
          <a:xfrm>
            <a:off x="476250" y="3000375"/>
            <a:ext cx="8191500" cy="1809600"/>
            <a:chOff x="476250" y="3000375"/>
            <a:chExt cx="8191500" cy="1809600"/>
          </a:xfrm>
        </p:grpSpPr>
        <p:sp>
          <p:nvSpPr>
            <p:cNvPr id="550" name="Google Shape;550;p36"/>
            <p:cNvSpPr/>
            <p:nvPr/>
          </p:nvSpPr>
          <p:spPr>
            <a:xfrm>
              <a:off x="476250" y="3000375"/>
              <a:ext cx="81915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6"/>
            <p:cNvSpPr txBox="1"/>
            <p:nvPr/>
          </p:nvSpPr>
          <p:spPr>
            <a:xfrm>
              <a:off x="666750" y="3143250"/>
              <a:ext cx="781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86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СОДЕРЖИМОЕ И ЛИМИТЫ</a:t>
              </a:r>
              <a:endParaRPr b="0" sz="786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ru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Данные в стеке и переполнение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666750" y="3571875"/>
              <a:ext cx="7810500" cy="1047900"/>
            </a:xfrm>
            <a:prstGeom prst="roundRect">
              <a:avLst>
                <a:gd fmla="val 5454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6"/>
            <p:cNvSpPr txBox="1"/>
            <p:nvPr/>
          </p:nvSpPr>
          <p:spPr>
            <a:xfrm>
              <a:off x="781050" y="3667125"/>
              <a:ext cx="7581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7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В стеке лежат: значения примитивов + ссылки на объекты</a:t>
              </a:r>
              <a:br>
                <a:rPr b="1" lang="ru" sz="97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</a:br>
              <a:r>
                <a:rPr b="1" lang="ru" sz="97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В стеке НЕ лежат: сами объекты — они всегда в Heap</a:t>
              </a:r>
              <a:endParaRPr b="1" sz="975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rPr b="1" lang="ru" sz="76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Размер ограничен:</a:t>
              </a:r>
              <a:r>
                <a:rPr b="0" lang="ru" sz="76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лимит памяти для каждого стека задается флагом </a:t>
              </a:r>
              <a:r>
                <a:rPr b="1" lang="ru" sz="763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-Xss</a:t>
              </a:r>
              <a:r>
                <a:rPr b="0" lang="ru" sz="76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. Слишком глубокая рекурсия или бесконечные вызовы приводят к заполнению всей выделенной области и генерации фатальной ошибки </a:t>
              </a:r>
              <a:r>
                <a:rPr b="1" lang="ru" sz="763">
                  <a:solidFill>
                    <a:srgbClr val="D32F2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StackOverflowError</a:t>
              </a:r>
              <a:r>
                <a:rPr b="0" lang="ru" sz="76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6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9" name="Google Shape;559;p37"/>
          <p:cNvGrpSpPr/>
          <p:nvPr/>
        </p:nvGrpSpPr>
        <p:grpSpPr>
          <a:xfrm>
            <a:off x="476250" y="333375"/>
            <a:ext cx="8191500" cy="628650"/>
            <a:chOff x="476250" y="333375"/>
            <a:chExt cx="8191500" cy="628650"/>
          </a:xfrm>
        </p:grpSpPr>
        <p:sp>
          <p:nvSpPr>
            <p:cNvPr id="560" name="Google Shape;560;p37"/>
            <p:cNvSpPr txBox="1"/>
            <p:nvPr/>
          </p:nvSpPr>
          <p:spPr>
            <a:xfrm>
              <a:off x="476250" y="333375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2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Из чего складывается вес объекта в JVM</a:t>
              </a:r>
              <a:endParaRPr b="0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61" name="Google Shape;561;p37"/>
            <p:cNvSpPr txBox="1"/>
            <p:nvPr/>
          </p:nvSpPr>
          <p:spPr>
            <a:xfrm>
              <a:off x="476250" y="733425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50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rPr>
                <a:t>Внутренняя анатомия Java-объекта: структура заголовка, полезная нагрузка и накладные расходы</a:t>
              </a:r>
              <a:endParaRPr b="1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2" name="Google Shape;562;p37"/>
          <p:cNvGrpSpPr/>
          <p:nvPr/>
        </p:nvGrpSpPr>
        <p:grpSpPr>
          <a:xfrm>
            <a:off x="476250" y="1095375"/>
            <a:ext cx="3952800" cy="1762200"/>
            <a:chOff x="476250" y="1095375"/>
            <a:chExt cx="3952800" cy="1762200"/>
          </a:xfrm>
        </p:grpSpPr>
        <p:sp>
          <p:nvSpPr>
            <p:cNvPr id="563" name="Google Shape;563;p37"/>
            <p:cNvSpPr/>
            <p:nvPr/>
          </p:nvSpPr>
          <p:spPr>
            <a:xfrm>
              <a:off x="476250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7"/>
            <p:cNvSpPr txBox="1"/>
            <p:nvPr/>
          </p:nvSpPr>
          <p:spPr>
            <a:xfrm>
              <a:off x="666750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АНАТОМИЯ СТРУКТУРЫ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Компоненты памяти объекта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666750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7"/>
            <p:cNvSpPr txBox="1"/>
            <p:nvPr/>
          </p:nvSpPr>
          <p:spPr>
            <a:xfrm>
              <a:off x="781050" y="1838325"/>
              <a:ext cx="3343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2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Заголовок объекта:</a:t>
              </a:r>
              <a:r>
                <a:rPr b="0" lang="ru" sz="72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состоит из Mark Word (8 байт) для GC и синхронизации, а также Class Pointer (4 или 8 байт) — ссылки на класс.</a:t>
              </a:r>
              <a:endParaRPr b="0" sz="72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ru" sz="72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Поля объекта:</a:t>
              </a:r>
              <a:r>
                <a:rPr b="0" lang="ru" sz="72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собственно полезные данные (примитивы и ссылки на другие объекты).</a:t>
              </a:r>
              <a:endParaRPr b="0" sz="72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ru" sz="72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Выравнивание (Padding):</a:t>
              </a:r>
              <a:r>
                <a:rPr b="0" lang="ru" sz="72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дополнение общего размера объекта до кратности 8 байтам, требуемое JVM для быстрого доступа.</a:t>
              </a:r>
              <a:endParaRPr b="0" sz="72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7" name="Google Shape;567;p37"/>
          <p:cNvGrpSpPr/>
          <p:nvPr/>
        </p:nvGrpSpPr>
        <p:grpSpPr>
          <a:xfrm>
            <a:off x="4714875" y="1095375"/>
            <a:ext cx="3952800" cy="1762200"/>
            <a:chOff x="4714875" y="1095375"/>
            <a:chExt cx="3952800" cy="1762200"/>
          </a:xfrm>
        </p:grpSpPr>
        <p:sp>
          <p:nvSpPr>
            <p:cNvPr id="568" name="Google Shape;568;p37"/>
            <p:cNvSpPr/>
            <p:nvPr/>
          </p:nvSpPr>
          <p:spPr>
            <a:xfrm>
              <a:off x="4714875" y="1095375"/>
              <a:ext cx="39528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7"/>
            <p:cNvSpPr txBox="1"/>
            <p:nvPr/>
          </p:nvSpPr>
          <p:spPr>
            <a:xfrm>
              <a:off x="4905375" y="1285875"/>
              <a:ext cx="3571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ПРАВИЛА И ОПТИМИЗАЦИИ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Compressed Oops &amp; Лимиты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4905375" y="1762125"/>
              <a:ext cx="3571800" cy="952500"/>
            </a:xfrm>
            <a:prstGeom prst="roundRect">
              <a:avLst>
                <a:gd fmla="val 6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7"/>
            <p:cNvSpPr txBox="1"/>
            <p:nvPr/>
          </p:nvSpPr>
          <p:spPr>
            <a:xfrm>
              <a:off x="5019675" y="1838325"/>
              <a:ext cx="3343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2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Class Pointer</a:t>
              </a:r>
              <a:r>
                <a:rPr b="0" lang="ru" sz="72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занимает ровно 4 байта при включенном режиме Compressed Oops (работает по умолчанию для кучи объемом до 32 ГБ), иначе увеличивается до 8 байт.</a:t>
              </a:r>
              <a:endParaRPr b="0" sz="72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72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Минимальный порог:</a:t>
              </a:r>
              <a:r>
                <a:rPr b="0" lang="ru" sz="72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даже пустой объект абсолютно без полей занимает в памяти не менее 16 байт (12 байт уходит на заголовок + 4 байта на выравнивание).</a:t>
              </a:r>
              <a:endParaRPr b="0" sz="72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2" name="Google Shape;572;p37"/>
          <p:cNvGrpSpPr/>
          <p:nvPr/>
        </p:nvGrpSpPr>
        <p:grpSpPr>
          <a:xfrm>
            <a:off x="476250" y="3048000"/>
            <a:ext cx="8191500" cy="1762200"/>
            <a:chOff x="476250" y="3048000"/>
            <a:chExt cx="8191500" cy="1762200"/>
          </a:xfrm>
        </p:grpSpPr>
        <p:sp>
          <p:nvSpPr>
            <p:cNvPr id="573" name="Google Shape;573;p37"/>
            <p:cNvSpPr/>
            <p:nvPr/>
          </p:nvSpPr>
          <p:spPr>
            <a:xfrm>
              <a:off x="476250" y="3048000"/>
              <a:ext cx="81915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7"/>
            <p:cNvSpPr txBox="1"/>
            <p:nvPr/>
          </p:nvSpPr>
          <p:spPr>
            <a:xfrm>
              <a:off x="666750" y="32385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ВИЗУАЛЬНАЯ СХЕМА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Разделение памяти и накладные расходы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75" name="Google Shape;575;p37"/>
            <p:cNvGrpSpPr/>
            <p:nvPr/>
          </p:nvGrpSpPr>
          <p:grpSpPr>
            <a:xfrm>
              <a:off x="666750" y="3667125"/>
              <a:ext cx="3762300" cy="952500"/>
              <a:chOff x="666750" y="3667125"/>
              <a:chExt cx="3762300" cy="952500"/>
            </a:xfrm>
          </p:grpSpPr>
          <p:sp>
            <p:nvSpPr>
              <p:cNvPr id="576" name="Google Shape;576;p37"/>
              <p:cNvSpPr/>
              <p:nvPr/>
            </p:nvSpPr>
            <p:spPr>
              <a:xfrm>
                <a:off x="666750" y="3667125"/>
                <a:ext cx="37623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37"/>
              <p:cNvSpPr/>
              <p:nvPr/>
            </p:nvSpPr>
            <p:spPr>
              <a:xfrm>
                <a:off x="781050" y="3762375"/>
                <a:ext cx="1285800" cy="171600"/>
              </a:xfrm>
              <a:prstGeom prst="roundRect">
                <a:avLst>
                  <a:gd fmla="val 22222" name="adj"/>
                </a:avLst>
              </a:prstGeom>
              <a:solidFill>
                <a:srgbClr val="E5E4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37"/>
              <p:cNvSpPr txBox="1"/>
              <p:nvPr/>
            </p:nvSpPr>
            <p:spPr>
              <a:xfrm>
                <a:off x="781050" y="3762375"/>
                <a:ext cx="1285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80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Layout памяти</a:t>
                </a:r>
                <a:endParaRPr b="1" sz="80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9" name="Google Shape;579;p37"/>
              <p:cNvSpPr txBox="1"/>
              <p:nvPr/>
            </p:nvSpPr>
            <p:spPr>
              <a:xfrm>
                <a:off x="781050" y="4000500"/>
                <a:ext cx="35337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85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├─ Заголовок (Mark Word: 8B + Class Pointer: 4/8B)</a:t>
                </a:r>
                <a:endParaRPr b="1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ru" sz="85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├─ Поля объекта (Собственно данные приложения)</a:t>
                </a:r>
                <a:endParaRPr b="1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ru" sz="85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└─ Padding (Выравнивание размера до кратности 8B)</a:t>
                </a:r>
                <a:endParaRPr b="1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</p:txBody>
          </p:sp>
        </p:grpSp>
        <p:grpSp>
          <p:nvGrpSpPr>
            <p:cNvPr id="580" name="Google Shape;580;p37"/>
            <p:cNvGrpSpPr/>
            <p:nvPr/>
          </p:nvGrpSpPr>
          <p:grpSpPr>
            <a:xfrm>
              <a:off x="4572000" y="3667125"/>
              <a:ext cx="3905400" cy="952500"/>
              <a:chOff x="4572000" y="3667125"/>
              <a:chExt cx="3905400" cy="952500"/>
            </a:xfrm>
          </p:grpSpPr>
          <p:sp>
            <p:nvSpPr>
              <p:cNvPr id="581" name="Google Shape;581;p37"/>
              <p:cNvSpPr/>
              <p:nvPr/>
            </p:nvSpPr>
            <p:spPr>
              <a:xfrm>
                <a:off x="4572000" y="3667125"/>
                <a:ext cx="39054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37"/>
              <p:cNvSpPr/>
              <p:nvPr/>
            </p:nvSpPr>
            <p:spPr>
              <a:xfrm>
                <a:off x="4686300" y="3762375"/>
                <a:ext cx="1285800" cy="171600"/>
              </a:xfrm>
              <a:prstGeom prst="roundRect">
                <a:avLst>
                  <a:gd fmla="val 22222" name="adj"/>
                </a:avLst>
              </a:prstGeom>
              <a:solidFill>
                <a:srgbClr val="E5E4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37"/>
              <p:cNvSpPr txBox="1"/>
              <p:nvPr/>
            </p:nvSpPr>
            <p:spPr>
              <a:xfrm>
                <a:off x="4686300" y="3762375"/>
                <a:ext cx="1285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800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Накладные расходы</a:t>
                </a:r>
                <a:endParaRPr b="1" sz="80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4" name="Google Shape;584;p37"/>
              <p:cNvSpPr txBox="1"/>
              <p:nvPr/>
            </p:nvSpPr>
            <p:spPr>
              <a:xfrm>
                <a:off x="4686300" y="4000500"/>
                <a:ext cx="3676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85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└─ Множество мелких объектов = Overpay</a:t>
                </a:r>
                <a:endParaRPr b="1" sz="8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750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Каждый экземпляр платит цену заголовочной части. Обилие мелких объектов генерирует огромный оверхед на метаданные в куче.</a:t>
                </a:r>
                <a:endParaRPr b="0" sz="75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8"/>
          <p:cNvSpPr txBox="1"/>
          <p:nvPr/>
        </p:nvSpPr>
        <p:spPr>
          <a:xfrm>
            <a:off x="476250" y="333375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Подведем итог: где и что хранится?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91" name="Google Shape;591;p38"/>
          <p:cNvSpPr txBox="1"/>
          <p:nvPr/>
        </p:nvSpPr>
        <p:spPr>
          <a:xfrm>
            <a:off x="476250" y="733425"/>
            <a:ext cx="819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Локализация данных в JVM и влияние типов на потребление памяти</a:t>
            </a:r>
            <a:endParaRPr b="1" sz="1050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92" name="Google Shape;592;p38"/>
          <p:cNvGrpSpPr/>
          <p:nvPr/>
        </p:nvGrpSpPr>
        <p:grpSpPr>
          <a:xfrm>
            <a:off x="476250" y="1095375"/>
            <a:ext cx="3952800" cy="3714900"/>
            <a:chOff x="476250" y="1095375"/>
            <a:chExt cx="3952800" cy="3714900"/>
          </a:xfrm>
        </p:grpSpPr>
        <p:sp>
          <p:nvSpPr>
            <p:cNvPr id="593" name="Google Shape;593;p38"/>
            <p:cNvSpPr/>
            <p:nvPr/>
          </p:nvSpPr>
          <p:spPr>
            <a:xfrm>
              <a:off x="476250" y="1095375"/>
              <a:ext cx="39528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8"/>
            <p:cNvSpPr txBox="1"/>
            <p:nvPr/>
          </p:nvSpPr>
          <p:spPr>
            <a:xfrm>
              <a:off x="666750" y="128587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Карта памяти JVM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72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Распределение структур по областям</a:t>
              </a:r>
              <a:endParaRPr b="1" sz="723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95" name="Google Shape;595;p38"/>
            <p:cNvGrpSpPr/>
            <p:nvPr/>
          </p:nvGrpSpPr>
          <p:grpSpPr>
            <a:xfrm>
              <a:off x="666750" y="1762125"/>
              <a:ext cx="3571800" cy="400200"/>
              <a:chOff x="666750" y="1762125"/>
              <a:chExt cx="3571800" cy="400200"/>
            </a:xfrm>
          </p:grpSpPr>
          <p:sp>
            <p:nvSpPr>
              <p:cNvPr id="596" name="Google Shape;596;p38"/>
              <p:cNvSpPr/>
              <p:nvPr/>
            </p:nvSpPr>
            <p:spPr>
              <a:xfrm>
                <a:off x="666750" y="1762125"/>
                <a:ext cx="35718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8"/>
              <p:cNvSpPr txBox="1"/>
              <p:nvPr/>
            </p:nvSpPr>
            <p:spPr>
              <a:xfrm>
                <a:off x="781050" y="1819275"/>
                <a:ext cx="3343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Stack (Стек потока)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Быстрая память для контекста выполнения и локальных примитивов.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666750" y="2238375"/>
              <a:ext cx="3571800" cy="400200"/>
              <a:chOff x="666750" y="2238375"/>
              <a:chExt cx="3571800" cy="4002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666750" y="2238375"/>
                <a:ext cx="35718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8"/>
              <p:cNvSpPr txBox="1"/>
              <p:nvPr/>
            </p:nvSpPr>
            <p:spPr>
              <a:xfrm>
                <a:off x="781050" y="2295525"/>
                <a:ext cx="3343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Heap (Куча)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Динамическая область для всех объектов и массивов приложения.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01" name="Google Shape;601;p38"/>
            <p:cNvGrpSpPr/>
            <p:nvPr/>
          </p:nvGrpSpPr>
          <p:grpSpPr>
            <a:xfrm>
              <a:off x="666750" y="2714625"/>
              <a:ext cx="3571800" cy="971700"/>
              <a:chOff x="666750" y="2714625"/>
              <a:chExt cx="3571800" cy="971700"/>
            </a:xfrm>
          </p:grpSpPr>
          <p:sp>
            <p:nvSpPr>
              <p:cNvPr id="602" name="Google Shape;602;p38"/>
              <p:cNvSpPr/>
              <p:nvPr/>
            </p:nvSpPr>
            <p:spPr>
              <a:xfrm>
                <a:off x="666750" y="2714625"/>
                <a:ext cx="3571800" cy="971700"/>
              </a:xfrm>
              <a:prstGeom prst="roundRect">
                <a:avLst>
                  <a:gd fmla="val 5882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38"/>
              <p:cNvSpPr txBox="1"/>
              <p:nvPr/>
            </p:nvSpPr>
            <p:spPr>
              <a:xfrm>
                <a:off x="781050" y="2790825"/>
                <a:ext cx="3343200" cy="8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23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Ключевое правило распределения:</a:t>
                </a:r>
                <a:endParaRPr b="1" sz="72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• Локация </a:t>
                </a:r>
                <a:r>
                  <a:rPr b="1" lang="ru" sz="723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int x</a:t>
                </a: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полностью зависит от контекста (переменная или поле).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• Любые объекты (включая массивы </a:t>
                </a:r>
                <a:r>
                  <a:rPr b="1" lang="ru" sz="723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int[]</a:t>
                </a: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) физически создаются только в куче.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• Ссылка на объект лежит в стеке (локально) или в куче (как поле).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04" name="Google Shape;604;p38"/>
            <p:cNvGrpSpPr/>
            <p:nvPr/>
          </p:nvGrpSpPr>
          <p:grpSpPr>
            <a:xfrm>
              <a:off x="666750" y="3762375"/>
              <a:ext cx="3571800" cy="857400"/>
              <a:chOff x="666750" y="3762375"/>
              <a:chExt cx="3571800" cy="857400"/>
            </a:xfrm>
          </p:grpSpPr>
          <p:sp>
            <p:nvSpPr>
              <p:cNvPr id="605" name="Google Shape;605;p38"/>
              <p:cNvSpPr/>
              <p:nvPr/>
            </p:nvSpPr>
            <p:spPr>
              <a:xfrm>
                <a:off x="666750" y="3762375"/>
                <a:ext cx="3571800" cy="857400"/>
              </a:xfrm>
              <a:prstGeom prst="roundRect">
                <a:avLst>
                  <a:gd fmla="val 6666" name="adj"/>
                </a:avLst>
              </a:prstGeom>
              <a:solidFill>
                <a:srgbClr val="FAF0F0"/>
              </a:solidFill>
              <a:ln cap="flat" cmpd="sng" w="9525">
                <a:solidFill>
                  <a:srgbClr val="F7E4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8"/>
              <p:cNvSpPr txBox="1"/>
              <p:nvPr/>
            </p:nvSpPr>
            <p:spPr>
              <a:xfrm>
                <a:off x="781050" y="3838575"/>
                <a:ext cx="33432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23">
                    <a:solidFill>
                      <a:srgbClr val="D32F2F"/>
                    </a:solidFill>
                    <a:latin typeface="Inter"/>
                    <a:ea typeface="Inter"/>
                    <a:cs typeface="Inter"/>
                    <a:sym typeface="Inter"/>
                  </a:rPr>
                  <a:t>Внимание на Integer</a:t>
                </a:r>
                <a:endParaRPr b="1" sz="723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553333"/>
                    </a:solidFill>
                    <a:latin typeface="Inter"/>
                    <a:ea typeface="Inter"/>
                    <a:cs typeface="Inter"/>
                    <a:sym typeface="Inter"/>
                  </a:rPr>
                  <a:t>Использование обертки </a:t>
                </a:r>
                <a:r>
                  <a:rPr b="1" lang="ru" sz="723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Integer</a:t>
                </a:r>
                <a:r>
                  <a:rPr b="0" lang="ru" sz="723">
                    <a:solidFill>
                      <a:srgbClr val="553333"/>
                    </a:solidFill>
                    <a:latin typeface="Inter"/>
                    <a:ea typeface="Inter"/>
                    <a:cs typeface="Inter"/>
                    <a:sym typeface="Inter"/>
                  </a:rPr>
                  <a:t> вместо примитива </a:t>
                </a:r>
                <a:r>
                  <a:rPr b="1" lang="ru" sz="723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int</a:t>
                </a:r>
                <a:r>
                  <a:rPr b="0" lang="ru" sz="723">
                    <a:solidFill>
                      <a:srgbClr val="553333"/>
                    </a:solidFill>
                    <a:latin typeface="Inter"/>
                    <a:ea typeface="Inter"/>
                    <a:cs typeface="Inter"/>
                    <a:sym typeface="Inter"/>
                  </a:rPr>
                  <a:t> многократно увеличивает нагрузку на память (16 байт на заголовок/выравнивание + 4/8 байт на саму ссылку в месте хранения).</a:t>
                </a:r>
                <a:endParaRPr b="0" sz="723">
                  <a:solidFill>
                    <a:srgbClr val="55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07" name="Google Shape;607;p38"/>
          <p:cNvGrpSpPr/>
          <p:nvPr/>
        </p:nvGrpSpPr>
        <p:grpSpPr>
          <a:xfrm>
            <a:off x="4714875" y="1095375"/>
            <a:ext cx="3952800" cy="3714900"/>
            <a:chOff x="4714875" y="1095375"/>
            <a:chExt cx="3952800" cy="3714900"/>
          </a:xfrm>
        </p:grpSpPr>
        <p:sp>
          <p:nvSpPr>
            <p:cNvPr id="608" name="Google Shape;608;p38"/>
            <p:cNvSpPr/>
            <p:nvPr/>
          </p:nvSpPr>
          <p:spPr>
            <a:xfrm>
              <a:off x="4714875" y="1095375"/>
              <a:ext cx="39528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8"/>
            <p:cNvSpPr txBox="1"/>
            <p:nvPr/>
          </p:nvSpPr>
          <p:spPr>
            <a:xfrm>
              <a:off x="4905375" y="128587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Сравнительная таблица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72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Что и где хранится в памяти</a:t>
              </a:r>
              <a:endParaRPr b="1" sz="723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10" name="Google Shape;610;p38"/>
            <p:cNvGrpSpPr/>
            <p:nvPr/>
          </p:nvGrpSpPr>
          <p:grpSpPr>
            <a:xfrm>
              <a:off x="4905375" y="1762125"/>
              <a:ext cx="1714500" cy="228600"/>
              <a:chOff x="4905375" y="1762125"/>
              <a:chExt cx="1714500" cy="228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4905375" y="1762125"/>
                <a:ext cx="1714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E5E4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8"/>
              <p:cNvSpPr txBox="1"/>
              <p:nvPr/>
            </p:nvSpPr>
            <p:spPr>
              <a:xfrm>
                <a:off x="5000625" y="1800225"/>
                <a:ext cx="1524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800">
                    <a:solidFill>
                      <a:srgbClr val="071699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Что (Данные)</a:t>
                </a:r>
                <a:endParaRPr b="0" sz="8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grpSp>
          <p:nvGrpSpPr>
            <p:cNvPr id="613" name="Google Shape;613;p38"/>
            <p:cNvGrpSpPr/>
            <p:nvPr/>
          </p:nvGrpSpPr>
          <p:grpSpPr>
            <a:xfrm>
              <a:off x="6762750" y="1762125"/>
              <a:ext cx="1714500" cy="228600"/>
              <a:chOff x="6762750" y="1762125"/>
              <a:chExt cx="1714500" cy="228600"/>
            </a:xfrm>
          </p:grpSpPr>
          <p:sp>
            <p:nvSpPr>
              <p:cNvPr id="614" name="Google Shape;614;p38"/>
              <p:cNvSpPr/>
              <p:nvPr/>
            </p:nvSpPr>
            <p:spPr>
              <a:xfrm>
                <a:off x="6762750" y="1762125"/>
                <a:ext cx="1714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E5E4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8"/>
              <p:cNvSpPr txBox="1"/>
              <p:nvPr/>
            </p:nvSpPr>
            <p:spPr>
              <a:xfrm>
                <a:off x="6858000" y="1800225"/>
                <a:ext cx="1524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800">
                    <a:solidFill>
                      <a:srgbClr val="071699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Где (Область памяти)</a:t>
                </a:r>
                <a:endParaRPr b="0" sz="8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grpSp>
          <p:nvGrpSpPr>
            <p:cNvPr id="616" name="Google Shape;616;p38"/>
            <p:cNvGrpSpPr/>
            <p:nvPr/>
          </p:nvGrpSpPr>
          <p:grpSpPr>
            <a:xfrm>
              <a:off x="4905375" y="2066925"/>
              <a:ext cx="1714500" cy="400200"/>
              <a:chOff x="4905375" y="2066925"/>
              <a:chExt cx="1714500" cy="400200"/>
            </a:xfrm>
          </p:grpSpPr>
          <p:sp>
            <p:nvSpPr>
              <p:cNvPr id="617" name="Google Shape;617;p38"/>
              <p:cNvSpPr/>
              <p:nvPr/>
            </p:nvSpPr>
            <p:spPr>
              <a:xfrm>
                <a:off x="4905375" y="20669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8"/>
              <p:cNvSpPr txBox="1"/>
              <p:nvPr/>
            </p:nvSpPr>
            <p:spPr>
              <a:xfrm>
                <a:off x="5000625" y="21145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int x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локальная переменная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19" name="Google Shape;619;p38"/>
            <p:cNvGrpSpPr/>
            <p:nvPr/>
          </p:nvGrpSpPr>
          <p:grpSpPr>
            <a:xfrm>
              <a:off x="6762750" y="2066925"/>
              <a:ext cx="1714500" cy="400200"/>
              <a:chOff x="6762750" y="2066925"/>
              <a:chExt cx="1714500" cy="400200"/>
            </a:xfrm>
          </p:grpSpPr>
          <p:sp>
            <p:nvSpPr>
              <p:cNvPr id="620" name="Google Shape;620;p38"/>
              <p:cNvSpPr/>
              <p:nvPr/>
            </p:nvSpPr>
            <p:spPr>
              <a:xfrm>
                <a:off x="6762750" y="20669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8"/>
              <p:cNvSpPr txBox="1"/>
              <p:nvPr/>
            </p:nvSpPr>
            <p:spPr>
              <a:xfrm>
                <a:off x="6858000" y="21145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Stack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быстрый фрейм потока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905375" y="2524125"/>
              <a:ext cx="1714500" cy="400200"/>
              <a:chOff x="4905375" y="2524125"/>
              <a:chExt cx="1714500" cy="4002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4905375" y="25241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38"/>
              <p:cNvSpPr txBox="1"/>
              <p:nvPr/>
            </p:nvSpPr>
            <p:spPr>
              <a:xfrm>
                <a:off x="5000625" y="25717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int x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поле объекта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25" name="Google Shape;625;p38"/>
            <p:cNvGrpSpPr/>
            <p:nvPr/>
          </p:nvGrpSpPr>
          <p:grpSpPr>
            <a:xfrm>
              <a:off x="6762750" y="2524125"/>
              <a:ext cx="1714500" cy="400200"/>
              <a:chOff x="6762750" y="2524125"/>
              <a:chExt cx="1714500" cy="400200"/>
            </a:xfrm>
          </p:grpSpPr>
          <p:sp>
            <p:nvSpPr>
              <p:cNvPr id="626" name="Google Shape;626;p38"/>
              <p:cNvSpPr/>
              <p:nvPr/>
            </p:nvSpPr>
            <p:spPr>
              <a:xfrm>
                <a:off x="6762750" y="25241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38"/>
              <p:cNvSpPr txBox="1"/>
              <p:nvPr/>
            </p:nvSpPr>
            <p:spPr>
              <a:xfrm>
                <a:off x="6858000" y="25717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Heap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внутри тела объекта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28" name="Google Shape;628;p38"/>
            <p:cNvGrpSpPr/>
            <p:nvPr/>
          </p:nvGrpSpPr>
          <p:grpSpPr>
            <a:xfrm>
              <a:off x="4905375" y="2981325"/>
              <a:ext cx="1714500" cy="400200"/>
              <a:chOff x="4905375" y="2981325"/>
              <a:chExt cx="1714500" cy="400200"/>
            </a:xfrm>
          </p:grpSpPr>
          <p:sp>
            <p:nvSpPr>
              <p:cNvPr id="629" name="Google Shape;629;p38"/>
              <p:cNvSpPr/>
              <p:nvPr/>
            </p:nvSpPr>
            <p:spPr>
              <a:xfrm>
                <a:off x="4905375" y="29813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38"/>
              <p:cNvSpPr txBox="1"/>
              <p:nvPr/>
            </p:nvSpPr>
            <p:spPr>
              <a:xfrm>
                <a:off x="5000625" y="30289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Integer x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ссылочный тип-обёртка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1" name="Google Shape;631;p38"/>
            <p:cNvGrpSpPr/>
            <p:nvPr/>
          </p:nvGrpSpPr>
          <p:grpSpPr>
            <a:xfrm>
              <a:off x="6762750" y="2981325"/>
              <a:ext cx="1714500" cy="400200"/>
              <a:chOff x="6762750" y="2981325"/>
              <a:chExt cx="1714500" cy="400200"/>
            </a:xfrm>
          </p:grpSpPr>
          <p:sp>
            <p:nvSpPr>
              <p:cNvPr id="632" name="Google Shape;632;p38"/>
              <p:cNvSpPr/>
              <p:nvPr/>
            </p:nvSpPr>
            <p:spPr>
              <a:xfrm>
                <a:off x="6762750" y="29813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8"/>
              <p:cNvSpPr txBox="1"/>
              <p:nvPr/>
            </p:nvSpPr>
            <p:spPr>
              <a:xfrm>
                <a:off x="6858000" y="30289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Heap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объект 16B + ссылка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905375" y="3438525"/>
              <a:ext cx="1714500" cy="400200"/>
              <a:chOff x="4905375" y="3438525"/>
              <a:chExt cx="1714500" cy="4002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4905375" y="34385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8"/>
              <p:cNvSpPr txBox="1"/>
              <p:nvPr/>
            </p:nvSpPr>
            <p:spPr>
              <a:xfrm>
                <a:off x="5000625" y="34861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Ссылка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на любой JVM объект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7" name="Google Shape;637;p38"/>
            <p:cNvGrpSpPr/>
            <p:nvPr/>
          </p:nvGrpSpPr>
          <p:grpSpPr>
            <a:xfrm>
              <a:off x="6762750" y="3438525"/>
              <a:ext cx="1714500" cy="400200"/>
              <a:chOff x="6762750" y="3438525"/>
              <a:chExt cx="1714500" cy="400200"/>
            </a:xfrm>
          </p:grpSpPr>
          <p:sp>
            <p:nvSpPr>
              <p:cNvPr id="638" name="Google Shape;638;p38"/>
              <p:cNvSpPr/>
              <p:nvPr/>
            </p:nvSpPr>
            <p:spPr>
              <a:xfrm>
                <a:off x="6762750" y="34385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8"/>
              <p:cNvSpPr txBox="1"/>
              <p:nvPr/>
            </p:nvSpPr>
            <p:spPr>
              <a:xfrm>
                <a:off x="6858000" y="34861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Stack / Heap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зависит от контекста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40" name="Google Shape;640;p38"/>
            <p:cNvGrpSpPr/>
            <p:nvPr/>
          </p:nvGrpSpPr>
          <p:grpSpPr>
            <a:xfrm>
              <a:off x="4905375" y="3895725"/>
              <a:ext cx="1714500" cy="400200"/>
              <a:chOff x="4905375" y="3895725"/>
              <a:chExt cx="1714500" cy="400200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4905375" y="38957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38"/>
              <p:cNvSpPr txBox="1"/>
              <p:nvPr/>
            </p:nvSpPr>
            <p:spPr>
              <a:xfrm>
                <a:off x="5000625" y="39433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Сам объект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экземпляр любого класса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43" name="Google Shape;643;p38"/>
            <p:cNvGrpSpPr/>
            <p:nvPr/>
          </p:nvGrpSpPr>
          <p:grpSpPr>
            <a:xfrm>
              <a:off x="6762750" y="3895725"/>
              <a:ext cx="1714500" cy="400200"/>
              <a:chOff x="6762750" y="3895725"/>
              <a:chExt cx="1714500" cy="400200"/>
            </a:xfrm>
          </p:grpSpPr>
          <p:sp>
            <p:nvSpPr>
              <p:cNvPr id="644" name="Google Shape;644;p38"/>
              <p:cNvSpPr/>
              <p:nvPr/>
            </p:nvSpPr>
            <p:spPr>
              <a:xfrm>
                <a:off x="6762750" y="38957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38"/>
              <p:cNvSpPr txBox="1"/>
              <p:nvPr/>
            </p:nvSpPr>
            <p:spPr>
              <a:xfrm>
                <a:off x="6858000" y="39433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Heap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23">
                    <a:solidFill>
                      <a:srgbClr val="071699"/>
                    </a:solidFill>
                    <a:latin typeface="Inter"/>
                    <a:ea typeface="Inter"/>
                    <a:cs typeface="Inter"/>
                    <a:sym typeface="Inter"/>
                  </a:rPr>
                  <a:t>всегда в куче</a:t>
                </a:r>
                <a:endParaRPr b="1" sz="723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905375" y="4352925"/>
              <a:ext cx="1714500" cy="400200"/>
              <a:chOff x="4905375" y="4352925"/>
              <a:chExt cx="1714500" cy="4002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4905375" y="43529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38"/>
              <p:cNvSpPr txBox="1"/>
              <p:nvPr/>
            </p:nvSpPr>
            <p:spPr>
              <a:xfrm>
                <a:off x="5000625" y="44005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int[]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массив примитивов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49" name="Google Shape;649;p38"/>
            <p:cNvGrpSpPr/>
            <p:nvPr/>
          </p:nvGrpSpPr>
          <p:grpSpPr>
            <a:xfrm>
              <a:off x="6762750" y="4352925"/>
              <a:ext cx="1714500" cy="400200"/>
              <a:chOff x="6762750" y="4352925"/>
              <a:chExt cx="1714500" cy="400200"/>
            </a:xfrm>
          </p:grpSpPr>
          <p:sp>
            <p:nvSpPr>
              <p:cNvPr id="650" name="Google Shape;650;p38"/>
              <p:cNvSpPr/>
              <p:nvPr/>
            </p:nvSpPr>
            <p:spPr>
              <a:xfrm>
                <a:off x="6762750" y="4352925"/>
                <a:ext cx="17145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8"/>
              <p:cNvSpPr txBox="1"/>
              <p:nvPr/>
            </p:nvSpPr>
            <p:spPr>
              <a:xfrm>
                <a:off x="6858000" y="4400550"/>
                <a:ext cx="1524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65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Heap</a:t>
                </a:r>
                <a:endParaRPr b="1" sz="765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23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заголовок+length+данные</a:t>
                </a:r>
                <a:endParaRPr b="0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9"/>
          <p:cNvSpPr txBox="1"/>
          <p:nvPr/>
        </p:nvSpPr>
        <p:spPr>
          <a:xfrm>
            <a:off x="476250" y="333375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Задача: два массива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8" name="Google Shape;658;p39"/>
          <p:cNvSpPr txBox="1"/>
          <p:nvPr/>
        </p:nvSpPr>
        <p:spPr>
          <a:xfrm>
            <a:off x="476250" y="733425"/>
            <a:ext cx="819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1" lang="ru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Что занимает больше памяти и весят ли они одинаково?</a:t>
            </a:r>
            <a:endParaRPr b="1" sz="1050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59" name="Google Shape;659;p39"/>
          <p:cNvGrpSpPr/>
          <p:nvPr/>
        </p:nvGrpSpPr>
        <p:grpSpPr>
          <a:xfrm>
            <a:off x="476250" y="1095375"/>
            <a:ext cx="3952800" cy="3714900"/>
            <a:chOff x="476250" y="1095375"/>
            <a:chExt cx="3952800" cy="3714900"/>
          </a:xfrm>
        </p:grpSpPr>
        <p:sp>
          <p:nvSpPr>
            <p:cNvPr id="660" name="Google Shape;660;p39"/>
            <p:cNvSpPr/>
            <p:nvPr/>
          </p:nvSpPr>
          <p:spPr>
            <a:xfrm>
              <a:off x="476250" y="1095375"/>
              <a:ext cx="39528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9"/>
            <p:cNvSpPr txBox="1"/>
            <p:nvPr/>
          </p:nvSpPr>
          <p:spPr>
            <a:xfrm>
              <a:off x="666750" y="128587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ПОСТАНОВКА ВОПРОСА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ru" sz="6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Сравнение двух структур данных в JVM</a:t>
              </a:r>
              <a:endParaRPr b="1" sz="614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62" name="Google Shape;662;p39"/>
            <p:cNvGrpSpPr/>
            <p:nvPr/>
          </p:nvGrpSpPr>
          <p:grpSpPr>
            <a:xfrm>
              <a:off x="666750" y="1762125"/>
              <a:ext cx="3571800" cy="762000"/>
              <a:chOff x="666750" y="1762125"/>
              <a:chExt cx="3571800" cy="762000"/>
            </a:xfrm>
          </p:grpSpPr>
          <p:sp>
            <p:nvSpPr>
              <p:cNvPr id="663" name="Google Shape;663;p39"/>
              <p:cNvSpPr/>
              <p:nvPr/>
            </p:nvSpPr>
            <p:spPr>
              <a:xfrm>
                <a:off x="666750" y="1762125"/>
                <a:ext cx="3571800" cy="762000"/>
              </a:xfrm>
              <a:prstGeom prst="roundRect">
                <a:avLst>
                  <a:gd fmla="val 7500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9"/>
              <p:cNvSpPr txBox="1"/>
              <p:nvPr/>
            </p:nvSpPr>
            <p:spPr>
              <a:xfrm>
                <a:off x="781050" y="1857375"/>
                <a:ext cx="3343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19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int[10][1000]</a:t>
                </a:r>
                <a:endParaRPr b="1" sz="119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ru" sz="614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vs</a:t>
                </a:r>
                <a:endParaRPr b="1" sz="6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1" lang="ru" sz="1190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int[1000][10]</a:t>
                </a:r>
                <a:endParaRPr b="1" sz="119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</p:txBody>
          </p:sp>
        </p:grpSp>
        <p:sp>
          <p:nvSpPr>
            <p:cNvPr id="665" name="Google Shape;665;p39"/>
            <p:cNvSpPr txBox="1"/>
            <p:nvPr/>
          </p:nvSpPr>
          <p:spPr>
            <a:xfrm>
              <a:off x="666750" y="2714625"/>
              <a:ext cx="3571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Оба варианта содержат по 10 000 элементов типа </a:t>
              </a:r>
              <a:r>
                <a:rPr b="1" lang="ru" sz="12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int</a:t>
              </a:r>
              <a:r>
                <a:rPr b="1" lang="ru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rPr>
                <a:t>Весят ли они одинаково?</a:t>
              </a:r>
              <a:endParaRPr b="1" sz="120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450"/>
                </a:spcAft>
                <a:buNone/>
              </a:pPr>
              <a:r>
                <a:rPr b="0" lang="ru" sz="1018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Исходя из внутренней анатомии Java-объектов, двумерные массивы представляют собой массивы массивов. Каждый отдельный массив в JVM — это самостоятельный объект, который несёт накладные расходы на заголовок, выравнивание и ссылки.</a:t>
              </a:r>
              <a:endParaRPr b="0" sz="1018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6" name="Google Shape;666;p39"/>
          <p:cNvGrpSpPr/>
          <p:nvPr/>
        </p:nvGrpSpPr>
        <p:grpSpPr>
          <a:xfrm>
            <a:off x="4714875" y="1095375"/>
            <a:ext cx="3952800" cy="3714900"/>
            <a:chOff x="4714875" y="1095375"/>
            <a:chExt cx="3952800" cy="3714900"/>
          </a:xfrm>
        </p:grpSpPr>
        <p:sp>
          <p:nvSpPr>
            <p:cNvPr id="667" name="Google Shape;667;p39"/>
            <p:cNvSpPr/>
            <p:nvPr/>
          </p:nvSpPr>
          <p:spPr>
            <a:xfrm>
              <a:off x="4714875" y="1095375"/>
              <a:ext cx="39528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9"/>
            <p:cNvSpPr txBox="1"/>
            <p:nvPr/>
          </p:nvSpPr>
          <p:spPr>
            <a:xfrm>
              <a:off x="4905375" y="128587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АНАЛИЗ ПАМЯТИ</a:t>
              </a:r>
              <a:endParaRPr b="0" sz="10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ru" sz="6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Влияние структуры накладных расходов</a:t>
              </a:r>
              <a:endParaRPr b="1" sz="614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69" name="Google Shape;669;p39"/>
            <p:cNvGrpSpPr/>
            <p:nvPr/>
          </p:nvGrpSpPr>
          <p:grpSpPr>
            <a:xfrm>
              <a:off x="4905375" y="1762125"/>
              <a:ext cx="1714500" cy="1047900"/>
              <a:chOff x="4905375" y="1762125"/>
              <a:chExt cx="1714500" cy="1047900"/>
            </a:xfrm>
          </p:grpSpPr>
          <p:sp>
            <p:nvSpPr>
              <p:cNvPr id="670" name="Google Shape;670;p39"/>
              <p:cNvSpPr/>
              <p:nvPr/>
            </p:nvSpPr>
            <p:spPr>
              <a:xfrm>
                <a:off x="4905375" y="1762125"/>
                <a:ext cx="1714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39"/>
              <p:cNvSpPr txBox="1"/>
              <p:nvPr/>
            </p:nvSpPr>
            <p:spPr>
              <a:xfrm>
                <a:off x="5000625" y="1857375"/>
                <a:ext cx="1524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018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int[10][1000]</a:t>
                </a:r>
                <a:endParaRPr b="1" sz="1018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ru" sz="786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• 1</a:t>
                </a:r>
                <a:r>
                  <a:rPr b="0" lang="ru" sz="786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внешний массив-контейнер на 10 элементов.</a:t>
                </a:r>
                <a:endParaRPr b="0" sz="786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1" lang="ru" sz="786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• 10</a:t>
                </a:r>
                <a:r>
                  <a:rPr b="0" lang="ru" sz="786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внутренних массивов по 1000 элементов.</a:t>
                </a:r>
                <a:endParaRPr b="0" sz="786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72" name="Google Shape;672;p39"/>
            <p:cNvGrpSpPr/>
            <p:nvPr/>
          </p:nvGrpSpPr>
          <p:grpSpPr>
            <a:xfrm>
              <a:off x="6762750" y="1762125"/>
              <a:ext cx="1714500" cy="1047900"/>
              <a:chOff x="6762750" y="1762125"/>
              <a:chExt cx="1714500" cy="1047900"/>
            </a:xfrm>
          </p:grpSpPr>
          <p:sp>
            <p:nvSpPr>
              <p:cNvPr id="673" name="Google Shape;673;p39"/>
              <p:cNvSpPr/>
              <p:nvPr/>
            </p:nvSpPr>
            <p:spPr>
              <a:xfrm>
                <a:off x="6762750" y="1762125"/>
                <a:ext cx="1714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39"/>
              <p:cNvSpPr txBox="1"/>
              <p:nvPr/>
            </p:nvSpPr>
            <p:spPr>
              <a:xfrm>
                <a:off x="6858000" y="1857375"/>
                <a:ext cx="1524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018">
                    <a:solidFill>
                      <a:srgbClr val="071699"/>
                    </a:solidFill>
                    <a:latin typeface="Courier Prime"/>
                    <a:ea typeface="Courier Prime"/>
                    <a:cs typeface="Courier Prime"/>
                    <a:sym typeface="Courier Prime"/>
                  </a:rPr>
                  <a:t>int[1000][10]</a:t>
                </a:r>
                <a:endParaRPr b="1" sz="1018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ru" sz="786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• 1</a:t>
                </a:r>
                <a:r>
                  <a:rPr b="0" lang="ru" sz="786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внешний массив-контейнер на 1000 элементов.</a:t>
                </a:r>
                <a:endParaRPr b="0" sz="786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1" lang="ru" sz="786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• 1000</a:t>
                </a:r>
                <a:r>
                  <a:rPr b="0" lang="ru" sz="786">
                    <a:solidFill>
                      <a:srgbClr val="444444"/>
                    </a:solidFill>
                    <a:latin typeface="Inter"/>
                    <a:ea typeface="Inter"/>
                    <a:cs typeface="Inter"/>
                    <a:sym typeface="Inter"/>
                  </a:rPr>
                  <a:t> внутренних массивов по 10 элементов.</a:t>
                </a:r>
                <a:endParaRPr b="0" sz="786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75" name="Google Shape;675;p39"/>
            <p:cNvGrpSpPr/>
            <p:nvPr/>
          </p:nvGrpSpPr>
          <p:grpSpPr>
            <a:xfrm>
              <a:off x="4905375" y="2905125"/>
              <a:ext cx="3571800" cy="1714500"/>
              <a:chOff x="4905375" y="2905125"/>
              <a:chExt cx="3571800" cy="1714500"/>
            </a:xfrm>
          </p:grpSpPr>
          <p:sp>
            <p:nvSpPr>
              <p:cNvPr id="676" name="Google Shape;676;p39"/>
              <p:cNvSpPr/>
              <p:nvPr/>
            </p:nvSpPr>
            <p:spPr>
              <a:xfrm>
                <a:off x="4905375" y="2905125"/>
                <a:ext cx="3571800" cy="1714500"/>
              </a:xfrm>
              <a:prstGeom prst="roundRect">
                <a:avLst>
                  <a:gd fmla="val 3333" name="adj"/>
                </a:avLst>
              </a:prstGeom>
              <a:solidFill>
                <a:srgbClr val="FAF0F0"/>
              </a:solidFill>
              <a:ln cap="flat" cmpd="sng" w="9525">
                <a:solidFill>
                  <a:srgbClr val="F7E4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39"/>
              <p:cNvSpPr txBox="1"/>
              <p:nvPr/>
            </p:nvSpPr>
            <p:spPr>
              <a:xfrm>
                <a:off x="5019675" y="3000375"/>
                <a:ext cx="33432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1000">
                    <a:solidFill>
                      <a:srgbClr val="D32F2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Что занимает больше памяти?</a:t>
                </a:r>
                <a:endParaRPr b="0" sz="1000">
                  <a:solidFill>
                    <a:srgbClr val="D32F2F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ru" sz="950">
                    <a:solidFill>
                      <a:srgbClr val="D32F2F"/>
                    </a:solidFill>
                    <a:latin typeface="Inter"/>
                    <a:ea typeface="Inter"/>
                    <a:cs typeface="Inter"/>
                    <a:sym typeface="Inter"/>
                  </a:rPr>
                  <a:t>Массив int[1000][10] занимает значительно больше памяти.</a:t>
                </a:r>
                <a:endParaRPr b="0" sz="950">
                  <a:solidFill>
                    <a:srgbClr val="55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lang="ru" sz="900">
                    <a:solidFill>
                      <a:srgbClr val="553333"/>
                    </a:solidFill>
                    <a:latin typeface="Inter"/>
                    <a:ea typeface="Inter"/>
                    <a:cs typeface="Inter"/>
                    <a:sym typeface="Inter"/>
                  </a:rPr>
                  <a:t>Каждый из 1000 внутренних массивов является отдельным JVM-объектом и требует собственного заголовка (12-16 байт) и выравнивания. Обилие мелких объектов в </a:t>
                </a:r>
                <a:r>
                  <a:rPr b="1" lang="ru" sz="9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int[1000][10]</a:t>
                </a:r>
                <a:r>
                  <a:rPr b="0" lang="ru" sz="900">
                    <a:solidFill>
                      <a:srgbClr val="553333"/>
                    </a:solidFill>
                    <a:latin typeface="Inter"/>
                    <a:ea typeface="Inter"/>
                    <a:cs typeface="Inter"/>
                    <a:sym typeface="Inter"/>
                  </a:rPr>
                  <a:t> создает огромный оверхед на метаданные в куче по сравнению с всего 10 внутренними массивами в </a:t>
                </a:r>
                <a:r>
                  <a:rPr b="1" lang="ru" sz="9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int[10][1000]</a:t>
                </a:r>
                <a:r>
                  <a:rPr b="0" lang="ru" sz="900">
                    <a:solidFill>
                      <a:srgbClr val="553333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900">
                  <a:solidFill>
                    <a:srgbClr val="55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 b="1"/>
          </a:p>
        </p:txBody>
      </p:sp>
      <p:sp>
        <p:nvSpPr>
          <p:cNvPr id="683" name="Google Shape;683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тут ссылка на ОС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